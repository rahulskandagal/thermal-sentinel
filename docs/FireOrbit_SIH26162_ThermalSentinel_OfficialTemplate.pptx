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github.com/rahulskandagal/thermal-sentine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ahulskandagal.github.io/thermal-sentinel/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ciencedirect.com/journal/remote-sensing-of-environment" TargetMode="External"/><Relationship Id="rId13" Type="http://schemas.openxmlformats.org/officeDocument/2006/relationships/hyperlink" Target="https://rahulskandagal.github.io/thermal-sentinel/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doi.org/10.3390/rs5094423" TargetMode="External"/><Relationship Id="rId12" Type="http://schemas.openxmlformats.org/officeDocument/2006/relationships/hyperlink" Target="https://scikit-learn.org" TargetMode="External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016/j.rse.2013.12.008" TargetMode="External"/><Relationship Id="rId11" Type="http://schemas.openxmlformats.org/officeDocument/2006/relationships/hyperlink" Target="https://creams.iari.res.in" TargetMode="External"/><Relationship Id="rId5" Type="http://schemas.openxmlformats.org/officeDocument/2006/relationships/hyperlink" Target="https://firms.modaps.eosdis.nasa.gov/api/area/" TargetMode="External"/><Relationship Id="rId15" Type="http://schemas.openxmlformats.org/officeDocument/2006/relationships/image" Target="../media/image3.png"/><Relationship Id="rId10" Type="http://schemas.openxmlformats.org/officeDocument/2006/relationships/hyperlink" Target="https://dataspace.copernicus.eu" TargetMode="External"/><Relationship Id="rId4" Type="http://schemas.openxmlformats.org/officeDocument/2006/relationships/hyperlink" Target="https://sih.gov.in" TargetMode="External"/><Relationship Id="rId9" Type="http://schemas.openxmlformats.org/officeDocument/2006/relationships/hyperlink" Target="https://wiki.openstreetmap.org/wiki/Overpass_API" TargetMode="External"/><Relationship Id="rId14" Type="http://schemas.openxmlformats.org/officeDocument/2006/relationships/hyperlink" Target="https://github.com/rahulskandagal/thermal-sentine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>
              <a:spcAft>
                <a:spcPts val="1000"/>
              </a:spcAft>
            </a:pPr>
            <a:r>
              <a:rPr sz="1700" b="1" i="0" u="none">
                <a:solidFill>
                  <a:srgbClr val="000000"/>
                </a:solidFill>
                <a:latin typeface="Arial"/>
              </a:rPr>
              <a:t>Problem Statement ID - </a:t>
            </a:r>
            <a:r>
              <a:rPr sz="1700" b="0" i="0" u="none">
                <a:solidFill>
                  <a:srgbClr val="000000"/>
                </a:solidFill>
                <a:latin typeface="Arial"/>
              </a:rPr>
              <a:t>SIH26162</a:t>
            </a:r>
          </a:p>
          <a:p>
            <a:pPr>
              <a:spcAft>
                <a:spcPts val="1000"/>
              </a:spcAft>
            </a:pPr>
            <a:r>
              <a:rPr sz="1700" b="1" i="0" u="none">
                <a:solidFill>
                  <a:srgbClr val="000000"/>
                </a:solidFill>
                <a:latin typeface="Arial"/>
              </a:rPr>
              <a:t>Problem Statement Title- </a:t>
            </a:r>
            <a:r>
              <a:rPr sz="1700" b="0" i="0" u="none">
                <a:solidFill>
                  <a:srgbClr val="000000"/>
                </a:solidFill>
                <a:latin typeface="Arial"/>
              </a:rPr>
              <a:t>AI-Based Detection and Classification of Industrial Fires and Persistent Thermal Sources Using NASA FIRMS, OSM &amp; Satellite Data</a:t>
            </a:r>
          </a:p>
          <a:p>
            <a:pPr>
              <a:spcAft>
                <a:spcPts val="1000"/>
              </a:spcAft>
            </a:pPr>
            <a:r>
              <a:rPr sz="1700" b="1" i="0" u="none">
                <a:solidFill>
                  <a:srgbClr val="000000"/>
                </a:solidFill>
                <a:latin typeface="Arial"/>
              </a:rPr>
              <a:t>Theme- </a:t>
            </a:r>
            <a:r>
              <a:rPr sz="1700" b="0" i="0" u="none">
                <a:solidFill>
                  <a:srgbClr val="000000"/>
                </a:solidFill>
                <a:latin typeface="Arial"/>
              </a:rPr>
              <a:t>Disaster Management</a:t>
            </a:r>
          </a:p>
          <a:p>
            <a:pPr>
              <a:spcAft>
                <a:spcPts val="1000"/>
              </a:spcAft>
            </a:pPr>
            <a:r>
              <a:rPr sz="1700" b="1" i="0" u="none">
                <a:solidFill>
                  <a:srgbClr val="000000"/>
                </a:solidFill>
                <a:latin typeface="Arial"/>
              </a:rPr>
              <a:t>PS Category- </a:t>
            </a:r>
            <a:r>
              <a:rPr sz="1700" b="0" i="0" u="none">
                <a:solidFill>
                  <a:srgbClr val="000000"/>
                </a:solidFill>
                <a:latin typeface="Arial"/>
              </a:rPr>
              <a:t>Software</a:t>
            </a:r>
          </a:p>
          <a:p>
            <a:pPr>
              <a:spcAft>
                <a:spcPts val="1000"/>
              </a:spcAft>
            </a:pPr>
            <a:r>
              <a:rPr sz="1700" b="1" i="0" u="none">
                <a:solidFill>
                  <a:srgbClr val="000000"/>
                </a:solidFill>
                <a:latin typeface="Arial"/>
              </a:rPr>
              <a:t>Team ID- </a:t>
            </a:r>
          </a:p>
          <a:p>
            <a:pPr>
              <a:spcAft>
                <a:spcPts val="1000"/>
              </a:spcAft>
            </a:pPr>
            <a:r>
              <a:rPr sz="1700" b="1" i="0" u="none">
                <a:solidFill>
                  <a:srgbClr val="000000"/>
                </a:solidFill>
                <a:latin typeface="Arial"/>
              </a:rPr>
              <a:t>Team Name (Registered on portal) - </a:t>
            </a:r>
            <a:r>
              <a:rPr sz="1700" b="0" i="0" u="none">
                <a:solidFill>
                  <a:srgbClr val="000000"/>
                </a:solidFill>
                <a:latin typeface="Arial"/>
              </a:rPr>
              <a:t>Fire Orbit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329184" y="5806440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 u="none">
                <a:solidFill>
                  <a:srgbClr val="6B7280"/>
                </a:solidFill>
                <a:latin typeface="Arial"/>
              </a:rPr>
              <a:t>Organisation: National Technical Research Organisation (NTRO)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109728"/>
            <a:ext cx="10972800" cy="868680"/>
          </a:xfrm>
        </p:spPr>
        <p:txBody>
          <a:bodyPr wrap="square"/>
          <a:lstStyle/>
          <a:p>
            <a:pPr algn="ctr"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sz="3000" b="1" i="0" u="none">
                <a:solidFill>
                  <a:srgbClr val="000000"/>
                </a:solidFill>
                <a:latin typeface="Arial"/>
              </a:rPr>
              <a:t>IDEA TITLE: ThermalSentinel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329184" y="1097280"/>
            <a:ext cx="11521440" cy="384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Fire Orbit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Rounded Rectangle 15362"/>
          <p:cNvSpPr/>
          <p:nvPr/>
        </p:nvSpPr>
        <p:spPr>
          <a:xfrm>
            <a:off x="329184" y="1600200"/>
            <a:ext cx="3657600" cy="233172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C8D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364" name="Rounded Rectangle 15363"/>
          <p:cNvSpPr/>
          <p:nvPr/>
        </p:nvSpPr>
        <p:spPr>
          <a:xfrm>
            <a:off x="329184" y="1600200"/>
            <a:ext cx="64008" cy="2331720"/>
          </a:xfrm>
          <a:prstGeom prst="roundRect">
            <a:avLst>
              <a:gd name="adj" fmla="val 4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365" name="TextBox 15364"/>
          <p:cNvSpPr txBox="1"/>
          <p:nvPr/>
        </p:nvSpPr>
        <p:spPr>
          <a:xfrm>
            <a:off x="512064" y="1700784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u="none">
                <a:solidFill>
                  <a:srgbClr val="1D4ED8"/>
                </a:solidFill>
                <a:latin typeface="Arial"/>
              </a:rPr>
              <a:t>Detailed explanation of the proposed solution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512064" y="2029967"/>
            <a:ext cx="3310128" cy="17830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 u="none">
                <a:solidFill>
                  <a:srgbClr val="1F2937"/>
                </a:solidFill>
                <a:latin typeface="Arial"/>
              </a:rPr>
              <a:t>•  NASA FIRMS publishes every VIIRS and MODIS thermal anomaly within about three hours, but only as a hot pixel with no meaning.</a:t>
            </a:r>
          </a:p>
          <a:p>
            <a:pPr>
              <a:spcAft>
                <a:spcPts val="400"/>
              </a:spcAft>
            </a:pPr>
            <a:r>
              <a:rPr sz="1000" b="0" i="0" u="none">
                <a:solidFill>
                  <a:srgbClr val="1F2937"/>
                </a:solidFill>
                <a:latin typeface="Arial"/>
              </a:rPr>
              <a:t>•  ThermalSentinel groups detections into thermal sources, tracks each source for 90 days, and adds context from OpenStreetMap.</a:t>
            </a:r>
          </a:p>
          <a:p>
            <a:pPr>
              <a:spcAft>
                <a:spcPts val="400"/>
              </a:spcAft>
            </a:pPr>
            <a:r>
              <a:rPr sz="1000" b="0" i="0" u="none">
                <a:solidFill>
                  <a:srgbClr val="1F2937"/>
                </a:solidFill>
                <a:latin typeface="Arial"/>
              </a:rPr>
              <a:t>•  A hybrid classifier labels every detection as industrial fire, gas flare, mining or coal-seam fire, agricultural burn, wildfire or other.</a:t>
            </a:r>
          </a:p>
          <a:p>
            <a:pPr>
              <a:spcAft>
                <a:spcPts val="400"/>
              </a:spcAft>
            </a:pPr>
            <a:r>
              <a:rPr sz="1000" b="0" i="0" u="none">
                <a:solidFill>
                  <a:srgbClr val="1F2937"/>
                </a:solidFill>
                <a:latin typeface="Arial"/>
              </a:rPr>
              <a:t>•  An alert is raised only when a known source burns far above its own baseline.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4169663" y="1600200"/>
            <a:ext cx="3657600" cy="233172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C8D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368" name="Rounded Rectangle 15367"/>
          <p:cNvSpPr/>
          <p:nvPr/>
        </p:nvSpPr>
        <p:spPr>
          <a:xfrm>
            <a:off x="4169663" y="1600200"/>
            <a:ext cx="64008" cy="2331720"/>
          </a:xfrm>
          <a:prstGeom prst="roundRect">
            <a:avLst>
              <a:gd name="adj" fmla="val 4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369" name="TextBox 15368"/>
          <p:cNvSpPr txBox="1"/>
          <p:nvPr/>
        </p:nvSpPr>
        <p:spPr>
          <a:xfrm>
            <a:off x="4352544" y="1700784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u="none">
                <a:solidFill>
                  <a:srgbClr val="15803D"/>
                </a:solidFill>
                <a:latin typeface="Arial"/>
              </a:rPr>
              <a:t>How it addresses the problem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4352544" y="2029967"/>
            <a:ext cx="3310128" cy="17830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 u="none">
                <a:solidFill>
                  <a:srgbClr val="1F2937"/>
                </a:solidFill>
                <a:latin typeface="Arial"/>
              </a:rPr>
              <a:t>•  Industrial fires are segregated from forest fires and other natural fires, which is the core ask of the problem statement.</a:t>
            </a:r>
          </a:p>
          <a:p>
            <a:pPr>
              <a:spcAft>
                <a:spcPts val="400"/>
              </a:spcAft>
            </a:pPr>
            <a:r>
              <a:rPr sz="1000" b="0" i="0" u="none">
                <a:solidFill>
                  <a:srgbClr val="1F2937"/>
                </a:solidFill>
                <a:latin typeface="Arial"/>
              </a:rPr>
              <a:t>•  Results are stored in a spatial database and shown as a map overlay, with GeoJSON export for QGIS and ArcGIS.</a:t>
            </a:r>
          </a:p>
          <a:p>
            <a:pPr>
              <a:spcAft>
                <a:spcPts val="400"/>
              </a:spcAft>
            </a:pPr>
            <a:r>
              <a:rPr sz="1000" b="0" i="0" u="none">
                <a:solidFill>
                  <a:srgbClr val="1F2937"/>
                </a:solidFill>
                <a:latin typeface="Arial"/>
              </a:rPr>
              <a:t>•  Only 138 of 22,179 detections reach an operator, so a control room reviews the events that matter.</a:t>
            </a:r>
          </a:p>
          <a:p>
            <a:pPr>
              <a:spcAft>
                <a:spcPts val="400"/>
              </a:spcAft>
            </a:pPr>
            <a:r>
              <a:rPr sz="1000" b="0" i="0" u="none">
                <a:solidFill>
                  <a:srgbClr val="1F2937"/>
                </a:solidFill>
                <a:latin typeface="Arial"/>
              </a:rPr>
              <a:t>•  Every label carries plain reasons, so an analyst can confirm or override it.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8010144" y="1600200"/>
            <a:ext cx="3840480" cy="233172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C8D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372" name="Rounded Rectangle 15371"/>
          <p:cNvSpPr/>
          <p:nvPr/>
        </p:nvSpPr>
        <p:spPr>
          <a:xfrm>
            <a:off x="8010144" y="1600200"/>
            <a:ext cx="64008" cy="2331720"/>
          </a:xfrm>
          <a:prstGeom prst="roundRect">
            <a:avLst>
              <a:gd name="adj" fmla="val 4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373" name="TextBox 15372"/>
          <p:cNvSpPr txBox="1"/>
          <p:nvPr/>
        </p:nvSpPr>
        <p:spPr>
          <a:xfrm>
            <a:off x="8193023" y="1700784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u="none">
                <a:solidFill>
                  <a:srgbClr val="6D28D9"/>
                </a:solidFill>
                <a:latin typeface="Arial"/>
              </a:rPr>
              <a:t>Innovation and uniqueness of the solution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8193023" y="2029967"/>
            <a:ext cx="3493008" cy="17830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 u="none">
                <a:solidFill>
                  <a:srgbClr val="1F2937"/>
                </a:solidFill>
                <a:latin typeface="Arial"/>
              </a:rPr>
              <a:t>•  Classification of the source over 90 days instead of a single pixel.</a:t>
            </a:r>
          </a:p>
          <a:p>
            <a:pPr>
              <a:spcAft>
                <a:spcPts val="400"/>
              </a:spcAft>
            </a:pPr>
            <a:r>
              <a:rPr sz="1000" b="0" i="0" u="none">
                <a:solidFill>
                  <a:srgbClr val="1F2937"/>
                </a:solidFill>
                <a:latin typeface="Arial"/>
              </a:rPr>
              <a:t>•  Alerts measured against each site's own normal level, not a fixed threshold.</a:t>
            </a:r>
          </a:p>
          <a:p>
            <a:pPr>
              <a:spcAft>
                <a:spcPts val="400"/>
              </a:spcAft>
            </a:pPr>
            <a:r>
              <a:rPr sz="1000" b="0" i="0" u="none">
                <a:solidFill>
                  <a:srgbClr val="1F2937"/>
                </a:solidFill>
                <a:latin typeface="Arial"/>
              </a:rPr>
              <a:t>•  Fusion of OpenStreetMap infrastructure and land cover with the thermal signal.</a:t>
            </a:r>
          </a:p>
          <a:p>
            <a:pPr>
              <a:spcAft>
                <a:spcPts val="400"/>
              </a:spcAft>
            </a:pPr>
            <a:r>
              <a:rPr sz="1000" b="0" i="0" u="none">
                <a:solidFill>
                  <a:srgbClr val="1F2937"/>
                </a:solidFill>
                <a:latin typeface="Arial"/>
              </a:rPr>
              <a:t>•  Persistent heat with no mapped facility is itself reported as a finding.</a:t>
            </a:r>
          </a:p>
          <a:p>
            <a:pPr>
              <a:spcAft>
                <a:spcPts val="400"/>
              </a:spcAft>
            </a:pPr>
            <a:r>
              <a:rPr sz="1000" b="0" i="0" u="none">
                <a:solidFill>
                  <a:srgbClr val="1F2937"/>
                </a:solidFill>
                <a:latin typeface="Arial"/>
              </a:rPr>
              <a:t>•  Built only on free and open data, and already running as a public prototype.</a:t>
            </a:r>
          </a:p>
        </p:txBody>
      </p:sp>
      <p:sp>
        <p:nvSpPr>
          <p:cNvPr id="15375" name="Rounded Rectangle 15374"/>
          <p:cNvSpPr/>
          <p:nvPr/>
        </p:nvSpPr>
        <p:spPr>
          <a:xfrm>
            <a:off x="329184" y="4114800"/>
            <a:ext cx="1417320" cy="749808"/>
          </a:xfrm>
          <a:prstGeom prst="roundRect">
            <a:avLst>
              <a:gd name="adj" fmla="val 12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376" name="TextBox 15375"/>
          <p:cNvSpPr txBox="1"/>
          <p:nvPr/>
        </p:nvSpPr>
        <p:spPr>
          <a:xfrm>
            <a:off x="402336" y="4169663"/>
            <a:ext cx="127101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 u="none">
                <a:solidFill>
                  <a:srgbClr val="FFFFFF"/>
                </a:solidFill>
                <a:latin typeface="Arial"/>
              </a:rPr>
              <a:t>22,179</a:t>
            </a:r>
          </a:p>
        </p:txBody>
      </p:sp>
      <p:sp>
        <p:nvSpPr>
          <p:cNvPr id="15377" name="TextBox 15376"/>
          <p:cNvSpPr txBox="1"/>
          <p:nvPr/>
        </p:nvSpPr>
        <p:spPr>
          <a:xfrm>
            <a:off x="402336" y="4498848"/>
            <a:ext cx="127101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 u="none">
                <a:solidFill>
                  <a:srgbClr val="FFFFFF"/>
                </a:solidFill>
                <a:latin typeface="Arial"/>
              </a:rPr>
              <a:t>detections classified</a:t>
            </a:r>
          </a:p>
        </p:txBody>
      </p:sp>
      <p:sp>
        <p:nvSpPr>
          <p:cNvPr id="15378" name="Rounded Rectangle 15377"/>
          <p:cNvSpPr/>
          <p:nvPr/>
        </p:nvSpPr>
        <p:spPr>
          <a:xfrm>
            <a:off x="1901952" y="4114800"/>
            <a:ext cx="1417320" cy="749808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379" name="TextBox 15378"/>
          <p:cNvSpPr txBox="1"/>
          <p:nvPr/>
        </p:nvSpPr>
        <p:spPr>
          <a:xfrm>
            <a:off x="1975104" y="4169663"/>
            <a:ext cx="127101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 u="none">
                <a:solidFill>
                  <a:srgbClr val="FFFFFF"/>
                </a:solidFill>
                <a:latin typeface="Arial"/>
              </a:rPr>
              <a:t>114</a:t>
            </a:r>
          </a:p>
        </p:txBody>
      </p:sp>
      <p:sp>
        <p:nvSpPr>
          <p:cNvPr id="15380" name="TextBox 15379"/>
          <p:cNvSpPr txBox="1"/>
          <p:nvPr/>
        </p:nvSpPr>
        <p:spPr>
          <a:xfrm>
            <a:off x="1975104" y="4498848"/>
            <a:ext cx="127101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 u="none">
                <a:solidFill>
                  <a:srgbClr val="FFFFFF"/>
                </a:solidFill>
                <a:latin typeface="Arial"/>
              </a:rPr>
              <a:t>persistent sources</a:t>
            </a:r>
          </a:p>
        </p:txBody>
      </p:sp>
      <p:sp>
        <p:nvSpPr>
          <p:cNvPr id="15381" name="Rounded Rectangle 15380"/>
          <p:cNvSpPr/>
          <p:nvPr/>
        </p:nvSpPr>
        <p:spPr>
          <a:xfrm>
            <a:off x="3474720" y="4114800"/>
            <a:ext cx="1417320" cy="749808"/>
          </a:xfrm>
          <a:prstGeom prst="roundRect">
            <a:avLst>
              <a:gd name="adj" fmla="val 12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382" name="TextBox 15381"/>
          <p:cNvSpPr txBox="1"/>
          <p:nvPr/>
        </p:nvSpPr>
        <p:spPr>
          <a:xfrm>
            <a:off x="3547872" y="4169663"/>
            <a:ext cx="127101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 u="none">
                <a:solidFill>
                  <a:srgbClr val="FFFFFF"/>
                </a:solidFill>
                <a:latin typeface="Arial"/>
              </a:rPr>
              <a:t>138</a:t>
            </a:r>
          </a:p>
        </p:txBody>
      </p:sp>
      <p:sp>
        <p:nvSpPr>
          <p:cNvPr id="15383" name="TextBox 15382"/>
          <p:cNvSpPr txBox="1"/>
          <p:nvPr/>
        </p:nvSpPr>
        <p:spPr>
          <a:xfrm>
            <a:off x="3547872" y="4498848"/>
            <a:ext cx="127101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 u="none">
                <a:solidFill>
                  <a:srgbClr val="FFFFFF"/>
                </a:solidFill>
                <a:latin typeface="Arial"/>
              </a:rPr>
              <a:t>incident alerts</a:t>
            </a:r>
          </a:p>
        </p:txBody>
      </p:sp>
      <p:sp>
        <p:nvSpPr>
          <p:cNvPr id="15384" name="Rounded Rectangle 15383"/>
          <p:cNvSpPr/>
          <p:nvPr/>
        </p:nvSpPr>
        <p:spPr>
          <a:xfrm>
            <a:off x="5047488" y="4114800"/>
            <a:ext cx="1417320" cy="749808"/>
          </a:xfrm>
          <a:prstGeom prst="roundRect">
            <a:avLst>
              <a:gd name="adj" fmla="val 12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385" name="TextBox 15384"/>
          <p:cNvSpPr txBox="1"/>
          <p:nvPr/>
        </p:nvSpPr>
        <p:spPr>
          <a:xfrm>
            <a:off x="5120640" y="4169663"/>
            <a:ext cx="127101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 u="none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5386" name="TextBox 15385"/>
          <p:cNvSpPr txBox="1"/>
          <p:nvPr/>
        </p:nvSpPr>
        <p:spPr>
          <a:xfrm>
            <a:off x="5120640" y="4498848"/>
            <a:ext cx="127101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 u="none">
                <a:solidFill>
                  <a:srgbClr val="FFFFFF"/>
                </a:solidFill>
                <a:latin typeface="Arial"/>
              </a:rPr>
              <a:t>thermal classes</a:t>
            </a:r>
          </a:p>
        </p:txBody>
      </p:sp>
      <p:sp>
        <p:nvSpPr>
          <p:cNvPr id="15387" name="Rounded Rectangle 15386"/>
          <p:cNvSpPr/>
          <p:nvPr/>
        </p:nvSpPr>
        <p:spPr>
          <a:xfrm>
            <a:off x="6620256" y="4114800"/>
            <a:ext cx="1417320" cy="749808"/>
          </a:xfrm>
          <a:prstGeom prst="roundRect">
            <a:avLst>
              <a:gd name="adj" fmla="val 12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388" name="TextBox 15387"/>
          <p:cNvSpPr txBox="1"/>
          <p:nvPr/>
        </p:nvSpPr>
        <p:spPr>
          <a:xfrm>
            <a:off x="6693408" y="4169663"/>
            <a:ext cx="127101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 u="none">
                <a:solidFill>
                  <a:srgbClr val="FFFFFF"/>
                </a:solidFill>
                <a:latin typeface="Arial"/>
              </a:rPr>
              <a:t>99.9 %</a:t>
            </a:r>
          </a:p>
        </p:txBody>
      </p:sp>
      <p:sp>
        <p:nvSpPr>
          <p:cNvPr id="15389" name="TextBox 15388"/>
          <p:cNvSpPr txBox="1"/>
          <p:nvPr/>
        </p:nvSpPr>
        <p:spPr>
          <a:xfrm>
            <a:off x="6693408" y="4498848"/>
            <a:ext cx="127101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 u="none">
                <a:solidFill>
                  <a:srgbClr val="FFFFFF"/>
                </a:solidFill>
                <a:latin typeface="Arial"/>
              </a:rPr>
              <a:t>accuracy on the labelled archive</a:t>
            </a:r>
          </a:p>
        </p:txBody>
      </p:sp>
      <p:pic>
        <p:nvPicPr>
          <p:cNvPr id="15390" name="Picture 15389" descr="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4069080"/>
            <a:ext cx="3438144" cy="1933956"/>
          </a:xfrm>
          <a:prstGeom prst="rect">
            <a:avLst/>
          </a:prstGeom>
        </p:spPr>
      </p:pic>
      <p:sp>
        <p:nvSpPr>
          <p:cNvPr id="15391" name="TextBox 15390"/>
          <p:cNvSpPr txBox="1"/>
          <p:nvPr/>
        </p:nvSpPr>
        <p:spPr>
          <a:xfrm>
            <a:off x="8412480" y="5989320"/>
            <a:ext cx="34381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1" u="none">
                <a:solidFill>
                  <a:srgbClr val="6B7280"/>
                </a:solidFill>
                <a:latin typeface="Arial"/>
              </a:rPr>
              <a:t>Prototype GIS dashboard, live at rahulskandagal.github.io/thermal-sentinel/</a:t>
            </a:r>
          </a:p>
        </p:txBody>
      </p:sp>
      <p:sp>
        <p:nvSpPr>
          <p:cNvPr id="15392" name="TextBox 15391"/>
          <p:cNvSpPr txBox="1"/>
          <p:nvPr/>
        </p:nvSpPr>
        <p:spPr>
          <a:xfrm>
            <a:off x="329184" y="5029200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 u="none">
                <a:solidFill>
                  <a:srgbClr val="1F2937"/>
                </a:solidFill>
                <a:latin typeface="Arial"/>
              </a:rPr>
              <a:t>Working prototype: the whole 90-day archive is classified in about seven seconds on a laptop, and the dashboard, the GeoJSON API and the QGIS export are already public. One environment variable switches the same pipeline to live NASA FIRMS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29184" y="1078992"/>
            <a:ext cx="594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Fire Orbit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329184" y="1627632"/>
            <a:ext cx="1188720" cy="292608"/>
          </a:xfrm>
          <a:prstGeom prst="roundRect">
            <a:avLst>
              <a:gd name="adj" fmla="val 18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12" name="TextBox 17411"/>
          <p:cNvSpPr txBox="1"/>
          <p:nvPr/>
        </p:nvSpPr>
        <p:spPr>
          <a:xfrm>
            <a:off x="329184" y="1655064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 u="none">
                <a:solidFill>
                  <a:srgbClr val="FFFFFF"/>
                </a:solidFill>
                <a:latin typeface="Arial"/>
              </a:rPr>
              <a:t>Data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1609344" y="1655064"/>
            <a:ext cx="4663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 u="none">
                <a:solidFill>
                  <a:srgbClr val="1F2937"/>
                </a:solidFill>
                <a:latin typeface="Arial"/>
              </a:rPr>
              <a:t>NASA FIRMS Area API (VIIRS 375 m, MODIS 1 km), OpenStreetMap Overpass, Copernicus Sentinel-2, NASA Worldview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329184" y="2011680"/>
            <a:ext cx="1188720" cy="292608"/>
          </a:xfrm>
          <a:prstGeom prst="roundRect">
            <a:avLst>
              <a:gd name="adj" fmla="val 1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15" name="TextBox 17414"/>
          <p:cNvSpPr txBox="1"/>
          <p:nvPr/>
        </p:nvSpPr>
        <p:spPr>
          <a:xfrm>
            <a:off x="329184" y="2039112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 u="none">
                <a:solidFill>
                  <a:srgbClr val="FFFFFF"/>
                </a:solidFill>
                <a:latin typeface="Arial"/>
              </a:rPr>
              <a:t>AI and ML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1609344" y="2039112"/>
            <a:ext cx="4663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 u="none">
                <a:solidFill>
                  <a:srgbClr val="1F2937"/>
                </a:solidFill>
                <a:latin typeface="Arial"/>
              </a:rPr>
              <a:t>Python, scikit-learn (haversine DBSCAN, HistGradientBoosting), rule engine, shapely STRtree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329184" y="2395728"/>
            <a:ext cx="1188720" cy="292608"/>
          </a:xfrm>
          <a:prstGeom prst="roundRect">
            <a:avLst>
              <a:gd name="adj" fmla="val 1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18" name="TextBox 17417"/>
          <p:cNvSpPr txBox="1"/>
          <p:nvPr/>
        </p:nvSpPr>
        <p:spPr>
          <a:xfrm>
            <a:off x="329184" y="2423160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 u="none">
                <a:solidFill>
                  <a:srgbClr val="FFFFFF"/>
                </a:solidFill>
                <a:latin typeface="Arial"/>
              </a:rPr>
              <a:t>Backend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1609344" y="2423160"/>
            <a:ext cx="4663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 u="none">
                <a:solidFill>
                  <a:srgbClr val="1F2937"/>
                </a:solidFill>
                <a:latin typeface="Arial"/>
              </a:rPr>
              <a:t>FastAPI REST serving GeoJSON, SQLite with a PostGIS-ready schema, OGC-standard exports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329184" y="2779776"/>
            <a:ext cx="1188720" cy="292608"/>
          </a:xfrm>
          <a:prstGeom prst="roundRect">
            <a:avLst>
              <a:gd name="adj" fmla="val 18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21" name="TextBox 17420"/>
          <p:cNvSpPr txBox="1"/>
          <p:nvPr/>
        </p:nvSpPr>
        <p:spPr>
          <a:xfrm>
            <a:off x="329184" y="2807208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 u="none">
                <a:solidFill>
                  <a:srgbClr val="FFFFFF"/>
                </a:solidFill>
                <a:latin typeface="Arial"/>
              </a:rPr>
              <a:t>Frontend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1609344" y="2807208"/>
            <a:ext cx="4663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 u="none">
                <a:solidFill>
                  <a:srgbClr val="1F2937"/>
                </a:solidFill>
                <a:latin typeface="Arial"/>
              </a:rPr>
              <a:t>React 18 with Vite, Leaflet canvas renderer for 40,000 points, QGIS and ArcGIS export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329184" y="3163824"/>
            <a:ext cx="1188720" cy="292608"/>
          </a:xfrm>
          <a:prstGeom prst="roundRect">
            <a:avLst>
              <a:gd name="adj" fmla="val 18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24" name="TextBox 17423"/>
          <p:cNvSpPr txBox="1"/>
          <p:nvPr/>
        </p:nvSpPr>
        <p:spPr>
          <a:xfrm>
            <a:off x="329184" y="319125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 u="none">
                <a:solidFill>
                  <a:srgbClr val="FFFFFF"/>
                </a:solidFill>
                <a:latin typeface="Arial"/>
              </a:rPr>
              <a:t>Hardware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1609344" y="3191256"/>
            <a:ext cx="4663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 u="none">
                <a:solidFill>
                  <a:srgbClr val="1F2937"/>
                </a:solidFill>
                <a:latin typeface="Arial"/>
              </a:rPr>
              <a:t>None. Software only: a laptop for the demo, a single Linux VM, NIC cloud or an air-gapped server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6492240" y="1078992"/>
            <a:ext cx="5349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 u="none">
                <a:solidFill>
                  <a:srgbClr val="1F3864"/>
                </a:solidFill>
                <a:latin typeface="Arial"/>
              </a:rPr>
              <a:t>Methodology and process for implementation (Flow Charts/Images/ working prototype)</a:t>
            </a:r>
          </a:p>
        </p:txBody>
      </p:sp>
      <p:sp>
        <p:nvSpPr>
          <p:cNvPr id="17427" name="Oval 17426"/>
          <p:cNvSpPr/>
          <p:nvPr/>
        </p:nvSpPr>
        <p:spPr>
          <a:xfrm>
            <a:off x="6492240" y="1627632"/>
            <a:ext cx="292608" cy="29260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 u="none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6894576" y="1627632"/>
            <a:ext cx="4937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u="none">
                <a:solidFill>
                  <a:srgbClr val="1D4ED8"/>
                </a:solidFill>
                <a:latin typeface="Arial"/>
              </a:rPr>
              <a:t>Ingest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6894576" y="1819656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 u="none">
                <a:solidFill>
                  <a:srgbClr val="1F2937"/>
                </a:solidFill>
                <a:latin typeface="Arial"/>
              </a:rPr>
              <a:t>FIRMS VIIRS and MODIS pulled in 10-day chunks, both sensors normalised, overlapping passes removed</a:t>
            </a:r>
          </a:p>
        </p:txBody>
      </p:sp>
      <p:sp>
        <p:nvSpPr>
          <p:cNvPr id="17430" name="Oval 17429"/>
          <p:cNvSpPr/>
          <p:nvPr/>
        </p:nvSpPr>
        <p:spPr>
          <a:xfrm>
            <a:off x="6492240" y="2157984"/>
            <a:ext cx="292608" cy="29260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 u="none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6894576" y="2157984"/>
            <a:ext cx="4937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u="none">
                <a:solidFill>
                  <a:srgbClr val="6D28D9"/>
                </a:solidFill>
                <a:latin typeface="Arial"/>
              </a:rPr>
              <a:t>Cluster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6894576" y="2350008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 u="none">
                <a:solidFill>
                  <a:srgbClr val="1F2937"/>
                </a:solidFill>
                <a:latin typeface="Arial"/>
              </a:rPr>
              <a:t>Haversine DBSCAN at 750 m turns pixel-jittered detections into thermal sources (22,179 into 4,419)</a:t>
            </a:r>
          </a:p>
        </p:txBody>
      </p:sp>
      <p:sp>
        <p:nvSpPr>
          <p:cNvPr id="17433" name="Oval 17432"/>
          <p:cNvSpPr/>
          <p:nvPr/>
        </p:nvSpPr>
        <p:spPr>
          <a:xfrm>
            <a:off x="6492240" y="2688336"/>
            <a:ext cx="292608" cy="29260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 u="none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6894576" y="2688336"/>
            <a:ext cx="4937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u="none">
                <a:solidFill>
                  <a:srgbClr val="0F766E"/>
                </a:solidFill>
                <a:latin typeface="Arial"/>
              </a:rPr>
              <a:t>Track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6894576" y="2880360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 u="none">
                <a:solidFill>
                  <a:srgbClr val="1F2937"/>
                </a:solidFill>
                <a:latin typeface="Arial"/>
              </a:rPr>
              <a:t>90-day history per source: active days, span, night fraction, FRP mean, variation and z-score</a:t>
            </a:r>
          </a:p>
        </p:txBody>
      </p:sp>
      <p:sp>
        <p:nvSpPr>
          <p:cNvPr id="17436" name="Oval 17435"/>
          <p:cNvSpPr/>
          <p:nvPr/>
        </p:nvSpPr>
        <p:spPr>
          <a:xfrm>
            <a:off x="6492240" y="3218687"/>
            <a:ext cx="292608" cy="292608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 u="none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6894576" y="3218687"/>
            <a:ext cx="4937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u="none">
                <a:solidFill>
                  <a:srgbClr val="E8590C"/>
                </a:solidFill>
                <a:latin typeface="Arial"/>
              </a:rPr>
              <a:t>Contextualise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6894576" y="3410711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 u="none">
                <a:solidFill>
                  <a:srgbClr val="1F2937"/>
                </a:solidFill>
                <a:latin typeface="Arial"/>
              </a:rPr>
              <a:t>OpenStreetMap facility type and distance, plus land cover by point-in-polygon lookup</a:t>
            </a:r>
          </a:p>
        </p:txBody>
      </p:sp>
      <p:sp>
        <p:nvSpPr>
          <p:cNvPr id="17439" name="Oval 17438"/>
          <p:cNvSpPr/>
          <p:nvPr/>
        </p:nvSpPr>
        <p:spPr>
          <a:xfrm>
            <a:off x="6492240" y="3749039"/>
            <a:ext cx="292608" cy="292608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 u="none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6894576" y="3749039"/>
            <a:ext cx="4937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u="none">
                <a:solidFill>
                  <a:srgbClr val="B91C1C"/>
                </a:solidFill>
                <a:latin typeface="Arial"/>
              </a:rPr>
              <a:t>Classify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6894576" y="3941063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 u="none">
                <a:solidFill>
                  <a:srgbClr val="1F2937"/>
                </a:solidFill>
                <a:latin typeface="Arial"/>
              </a:rPr>
              <a:t>Explainable rules and gradient-boosted trees vote over 34 features and return reasons</a:t>
            </a:r>
          </a:p>
        </p:txBody>
      </p:sp>
      <p:sp>
        <p:nvSpPr>
          <p:cNvPr id="17442" name="Oval 17441"/>
          <p:cNvSpPr/>
          <p:nvPr/>
        </p:nvSpPr>
        <p:spPr>
          <a:xfrm>
            <a:off x="6492240" y="4279392"/>
            <a:ext cx="292608" cy="292608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 u="none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6894576" y="4279392"/>
            <a:ext cx="4937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u="none">
                <a:solidFill>
                  <a:srgbClr val="15803D"/>
                </a:solidFill>
                <a:latin typeface="Arial"/>
              </a:rPr>
              <a:t>Alert and serve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6894576" y="4471416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 u="none">
                <a:solidFill>
                  <a:srgbClr val="1F2937"/>
                </a:solidFill>
                <a:latin typeface="Arial"/>
              </a:rPr>
              <a:t>FRP at 2.5 times the source mean raises an incident; results served as GeoJSON to the GIS dashboard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329184" y="3611880"/>
            <a:ext cx="5943600" cy="786384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C8D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46" name="TextBox 17445"/>
          <p:cNvSpPr txBox="1"/>
          <p:nvPr/>
        </p:nvSpPr>
        <p:spPr>
          <a:xfrm>
            <a:off x="457200" y="3685032"/>
            <a:ext cx="5705856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50" b="1" i="0" u="none">
                <a:solidFill>
                  <a:srgbClr val="1F3864"/>
                </a:solidFill>
                <a:latin typeface="Arial"/>
              </a:rPr>
              <a:t>Core of the model: </a:t>
            </a:r>
            <a:r>
              <a:rPr sz="950" b="0" i="0" u="none">
                <a:solidFill>
                  <a:srgbClr val="1F2937"/>
                </a:solidFill>
                <a:latin typeface="Arial"/>
              </a:rPr>
              <a:t>34 features covering radiometry, persistence, OpenStreetMap context, land cover and Indian burn-season priors. Rules give auditable priors, the gradient-boosted model resolves the ambiguous cases, and agreement between them raises confidence. Training and testing use a source-aware split so no thermal source appears on both sides.</a:t>
            </a:r>
          </a:p>
        </p:txBody>
      </p:sp>
      <p:pic>
        <p:nvPicPr>
          <p:cNvPr id="17447" name="Picture 17446" descr="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" y="4526280"/>
            <a:ext cx="2907792" cy="1636776"/>
          </a:xfrm>
          <a:prstGeom prst="rect">
            <a:avLst/>
          </a:prstGeom>
        </p:spPr>
      </p:pic>
      <p:pic>
        <p:nvPicPr>
          <p:cNvPr id="17448" name="Picture 17447" descr="ui_jhari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4526280"/>
            <a:ext cx="2907792" cy="1636776"/>
          </a:xfrm>
          <a:prstGeom prst="rect">
            <a:avLst/>
          </a:prstGeom>
        </p:spPr>
      </p:pic>
      <p:sp>
        <p:nvSpPr>
          <p:cNvPr id="17449" name="TextBox 17448"/>
          <p:cNvSpPr txBox="1"/>
          <p:nvPr/>
        </p:nvSpPr>
        <p:spPr>
          <a:xfrm>
            <a:off x="329184" y="6181344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1" u="none">
                <a:solidFill>
                  <a:srgbClr val="6B7280"/>
                </a:solidFill>
                <a:latin typeface="Arial"/>
              </a:rPr>
              <a:t>Prototype: all-India classification, and a persistent coal-seam source at Jharia with its 90-day history.</a:t>
            </a:r>
          </a:p>
        </p:txBody>
      </p:sp>
      <p:sp>
        <p:nvSpPr>
          <p:cNvPr id="17450" name="Rounded Rectangle 17449"/>
          <p:cNvSpPr/>
          <p:nvPr/>
        </p:nvSpPr>
        <p:spPr>
          <a:xfrm>
            <a:off x="6492240" y="4846320"/>
            <a:ext cx="5349240" cy="12344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C8D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51" name="TextBox 17450"/>
          <p:cNvSpPr txBox="1"/>
          <p:nvPr/>
        </p:nvSpPr>
        <p:spPr>
          <a:xfrm>
            <a:off x="6638544" y="4937760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u="none">
                <a:solidFill>
                  <a:srgbClr val="1F3864"/>
                </a:solidFill>
                <a:latin typeface="Arial"/>
              </a:rPr>
              <a:t>Prototype and source code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6638544" y="5212080"/>
            <a:ext cx="5029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 u="none">
                <a:solidFill>
                  <a:srgbClr val="1F2937"/>
                </a:solidFill>
                <a:latin typeface="Arial"/>
              </a:rPr>
              <a:t>Live demo: </a:t>
            </a:r>
            <a:r>
              <a:rPr sz="850" b="0" i="0" u="sng">
                <a:solidFill>
                  <a:srgbClr val="1A0DAB"/>
                </a:solidFill>
                <a:latin typeface="Arial"/>
                <a:hlinkClick r:id="rId6"/>
              </a:rPr>
              <a:t>https://rahulskandagal.github.io/thermal-sentinel/</a:t>
            </a:r>
          </a:p>
          <a:p>
            <a:r>
              <a:rPr sz="900" b="1" i="0" u="none">
                <a:solidFill>
                  <a:srgbClr val="1F2937"/>
                </a:solidFill>
                <a:latin typeface="Arial"/>
              </a:rPr>
              <a:t>Code: </a:t>
            </a:r>
            <a:r>
              <a:rPr sz="850" b="0" i="0" u="sng">
                <a:solidFill>
                  <a:srgbClr val="1A0DAB"/>
                </a:solidFill>
                <a:latin typeface="Arial"/>
                <a:hlinkClick r:id="rId7"/>
              </a:rPr>
              <a:t>https://github.com/rahulskandagal/thermal-sentinel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Fire Orbit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29184" y="1097280"/>
            <a:ext cx="3730752" cy="329184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C8D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11" name="Rounded Rectangle 17410"/>
          <p:cNvSpPr/>
          <p:nvPr/>
        </p:nvSpPr>
        <p:spPr>
          <a:xfrm>
            <a:off x="329184" y="1097280"/>
            <a:ext cx="64008" cy="3291840"/>
          </a:xfrm>
          <a:prstGeom prst="roundRect">
            <a:avLst>
              <a:gd name="adj" fmla="val 4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12" name="TextBox 17411"/>
          <p:cNvSpPr txBox="1"/>
          <p:nvPr/>
        </p:nvSpPr>
        <p:spPr>
          <a:xfrm>
            <a:off x="512064" y="1188720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 u="none">
                <a:solidFill>
                  <a:srgbClr val="15803D"/>
                </a:solidFill>
                <a:latin typeface="Arial"/>
              </a:rPr>
              <a:t>Analysis of the feasibility of the idea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512064" y="1719072"/>
            <a:ext cx="338328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000" b="1" i="0" u="none">
                <a:solidFill>
                  <a:srgbClr val="1F2937"/>
                </a:solidFill>
                <a:latin typeface="Arial"/>
              </a:rPr>
              <a:t>•  Data is available: </a:t>
            </a:r>
            <a:r>
              <a:rPr sz="1000" b="0" i="0" u="none">
                <a:solidFill>
                  <a:srgbClr val="1F2937"/>
                </a:solidFill>
                <a:latin typeface="Arial"/>
              </a:rPr>
              <a:t>the FIRMS key is issued instantly and OpenStreetMap and Copernicus are open, so there is no procurement.</a:t>
            </a:r>
          </a:p>
          <a:p>
            <a:pPr>
              <a:spcAft>
                <a:spcPts val="600"/>
              </a:spcAft>
            </a:pPr>
            <a:r>
              <a:rPr sz="1000" b="1" i="0" u="none">
                <a:solidFill>
                  <a:srgbClr val="1F2937"/>
                </a:solidFill>
                <a:latin typeface="Arial"/>
              </a:rPr>
              <a:t>•  It already runs: </a:t>
            </a:r>
            <a:r>
              <a:rPr sz="1000" b="0" i="0" u="none">
                <a:solidFill>
                  <a:srgbClr val="1F2937"/>
                </a:solidFill>
                <a:latin typeface="Arial"/>
              </a:rPr>
              <a:t>the full 90-day archive of 22,179 detections is classified in about seven seconds on a laptop.</a:t>
            </a:r>
          </a:p>
          <a:p>
            <a:pPr>
              <a:spcAft>
                <a:spcPts val="600"/>
              </a:spcAft>
            </a:pPr>
            <a:r>
              <a:rPr sz="1000" b="1" i="0" u="none">
                <a:solidFill>
                  <a:srgbClr val="1F2937"/>
                </a:solidFill>
                <a:latin typeface="Arial"/>
              </a:rPr>
              <a:t>•  Light to deploy: </a:t>
            </a:r>
            <a:r>
              <a:rPr sz="1000" b="0" i="0" u="none">
                <a:solidFill>
                  <a:srgbClr val="1F2937"/>
                </a:solidFill>
                <a:latin typeface="Arial"/>
              </a:rPr>
              <a:t>FastAPI, SQLite and React run on a single VM, NIC cloud or an air-gapped server.</a:t>
            </a:r>
          </a:p>
          <a:p>
            <a:pPr>
              <a:spcAft>
                <a:spcPts val="600"/>
              </a:spcAft>
            </a:pPr>
            <a:r>
              <a:rPr sz="1000" b="1" i="0" u="none">
                <a:solidFill>
                  <a:srgbClr val="1F2937"/>
                </a:solidFill>
                <a:latin typeface="Arial"/>
              </a:rPr>
              <a:t>•  Live in one step: </a:t>
            </a:r>
            <a:r>
              <a:rPr sz="1000" b="0" i="0" u="none">
                <a:solidFill>
                  <a:srgbClr val="1F2937"/>
                </a:solidFill>
                <a:latin typeface="Arial"/>
              </a:rPr>
              <a:t>a single environment variable moves the same pipeline to near-real-time FIRMS data.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206240" y="1097280"/>
            <a:ext cx="3730752" cy="329184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C8D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15" name="Rounded Rectangle 17414"/>
          <p:cNvSpPr/>
          <p:nvPr/>
        </p:nvSpPr>
        <p:spPr>
          <a:xfrm>
            <a:off x="4206240" y="1097280"/>
            <a:ext cx="64008" cy="3291840"/>
          </a:xfrm>
          <a:prstGeom prst="roundRect">
            <a:avLst>
              <a:gd name="adj" fmla="val 40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16" name="TextBox 17415"/>
          <p:cNvSpPr txBox="1"/>
          <p:nvPr/>
        </p:nvSpPr>
        <p:spPr>
          <a:xfrm>
            <a:off x="4389120" y="1188720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 u="none">
                <a:solidFill>
                  <a:srgbClr val="B91C1C"/>
                </a:solidFill>
                <a:latin typeface="Arial"/>
              </a:rPr>
              <a:t>Potential challenges and risks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4389120" y="1719072"/>
            <a:ext cx="338328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000" b="1" i="0" u="none">
                <a:solidFill>
                  <a:srgbClr val="1F2937"/>
                </a:solidFill>
                <a:latin typeface="Arial"/>
              </a:rPr>
              <a:t>•  Thermal is not fire: </a:t>
            </a:r>
            <a:r>
              <a:rPr sz="1000" b="0" i="0" u="none">
                <a:solidFill>
                  <a:srgbClr val="1F2937"/>
                </a:solidFill>
                <a:latin typeface="Arial"/>
              </a:rPr>
              <a:t>steady process heat and flares look like fires in the raw feed.</a:t>
            </a:r>
          </a:p>
          <a:p>
            <a:pPr>
              <a:spcAft>
                <a:spcPts val="600"/>
              </a:spcAft>
            </a:pPr>
            <a:r>
              <a:rPr sz="1000" b="1" i="0" u="none">
                <a:solidFill>
                  <a:srgbClr val="1F2937"/>
                </a:solidFill>
                <a:latin typeface="Arial"/>
              </a:rPr>
              <a:t>•  Incomplete mapping: </a:t>
            </a:r>
            <a:r>
              <a:rPr sz="1000" b="0" i="0" u="none">
                <a:solidFill>
                  <a:srgbClr val="1F2937"/>
                </a:solidFill>
                <a:latin typeface="Arial"/>
              </a:rPr>
              <a:t>OpenStreetMap misses many small Indian industrial units.</a:t>
            </a:r>
          </a:p>
          <a:p>
            <a:pPr>
              <a:spcAft>
                <a:spcPts val="600"/>
              </a:spcAft>
            </a:pPr>
            <a:r>
              <a:rPr sz="1000" b="1" i="0" u="none">
                <a:solidFill>
                  <a:srgbClr val="1F2937"/>
                </a:solidFill>
                <a:latin typeface="Arial"/>
              </a:rPr>
              <a:t>•  Data gaps: </a:t>
            </a:r>
            <a:r>
              <a:rPr sz="1000" b="0" i="0" u="none">
                <a:solidFill>
                  <a:srgbClr val="1F2937"/>
                </a:solidFill>
                <a:latin typeface="Arial"/>
              </a:rPr>
              <a:t>cloud cover and pixel jitter break single-pass observations.</a:t>
            </a:r>
          </a:p>
          <a:p>
            <a:pPr>
              <a:spcAft>
                <a:spcPts val="600"/>
              </a:spcAft>
            </a:pPr>
            <a:r>
              <a:rPr sz="1000" b="1" i="0" u="none">
                <a:solidFill>
                  <a:srgbClr val="1F2937"/>
                </a:solidFill>
                <a:latin typeface="Arial"/>
              </a:rPr>
              <a:t>•  Few labelled events: </a:t>
            </a:r>
            <a:r>
              <a:rPr sz="1000" b="0" i="0" u="none">
                <a:solidFill>
                  <a:srgbClr val="1F2937"/>
                </a:solidFill>
                <a:latin typeface="Arial"/>
              </a:rPr>
              <a:t>confirmed incident records for supervised learning are scarce.</a:t>
            </a:r>
          </a:p>
          <a:p>
            <a:pPr>
              <a:spcAft>
                <a:spcPts val="600"/>
              </a:spcAft>
            </a:pPr>
            <a:r>
              <a:rPr sz="1000" b="1" i="0" u="none">
                <a:solidFill>
                  <a:srgbClr val="1F2937"/>
                </a:solidFill>
                <a:latin typeface="Arial"/>
              </a:rPr>
              <a:t>•  Trust: </a:t>
            </a:r>
            <a:r>
              <a:rPr sz="1000" b="0" i="0" u="none">
                <a:solidFill>
                  <a:srgbClr val="1F2937"/>
                </a:solidFill>
                <a:latin typeface="Arial"/>
              </a:rPr>
              <a:t>agencies will not act on a label they cannot question.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8083296" y="1097280"/>
            <a:ext cx="3730752" cy="329184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C8D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19" name="Rounded Rectangle 17418"/>
          <p:cNvSpPr/>
          <p:nvPr/>
        </p:nvSpPr>
        <p:spPr>
          <a:xfrm>
            <a:off x="8083296" y="1097280"/>
            <a:ext cx="64008" cy="3291840"/>
          </a:xfrm>
          <a:prstGeom prst="roundRect">
            <a:avLst>
              <a:gd name="adj" fmla="val 4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20" name="TextBox 17419"/>
          <p:cNvSpPr txBox="1"/>
          <p:nvPr/>
        </p:nvSpPr>
        <p:spPr>
          <a:xfrm>
            <a:off x="8266175" y="1188720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 u="none">
                <a:solidFill>
                  <a:srgbClr val="1D4ED8"/>
                </a:solidFill>
                <a:latin typeface="Arial"/>
              </a:rPr>
              <a:t>Strategies for overcoming these challenges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8266175" y="1719072"/>
            <a:ext cx="338328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000" b="1" i="0" u="none">
                <a:solidFill>
                  <a:srgbClr val="1F2937"/>
                </a:solidFill>
                <a:latin typeface="Arial"/>
              </a:rPr>
              <a:t>•  Persistence and context: </a:t>
            </a:r>
            <a:r>
              <a:rPr sz="1000" b="0" i="0" u="none">
                <a:solidFill>
                  <a:srgbClr val="1F2937"/>
                </a:solidFill>
                <a:latin typeface="Arial"/>
              </a:rPr>
              <a:t>90-day behaviour plus facility and land-cover context separate routine heat from fire.</a:t>
            </a:r>
          </a:p>
          <a:p>
            <a:pPr>
              <a:spcAft>
                <a:spcPts val="600"/>
              </a:spcAft>
            </a:pPr>
            <a:r>
              <a:rPr sz="1000" b="1" i="0" u="none">
                <a:solidFill>
                  <a:srgbClr val="1F2937"/>
                </a:solidFill>
                <a:latin typeface="Arial"/>
              </a:rPr>
              <a:t>•  Baseline alerts: </a:t>
            </a:r>
            <a:r>
              <a:rPr sz="1000" b="0" i="0" u="none">
                <a:solidFill>
                  <a:srgbClr val="1F2937"/>
                </a:solidFill>
                <a:latin typeface="Arial"/>
              </a:rPr>
              <a:t>each site is compared with its own normal, so flares stay silent until they spike.</a:t>
            </a:r>
          </a:p>
          <a:p>
            <a:pPr>
              <a:spcAft>
                <a:spcPts val="600"/>
              </a:spcAft>
            </a:pPr>
            <a:r>
              <a:rPr sz="1000" b="1" i="0" u="none">
                <a:solidFill>
                  <a:srgbClr val="1F2937"/>
                </a:solidFill>
                <a:latin typeface="Arial"/>
              </a:rPr>
              <a:t>•  Multi-satellite window: </a:t>
            </a:r>
            <a:r>
              <a:rPr sz="1000" b="0" i="0" u="none">
                <a:solidFill>
                  <a:srgbClr val="1F2937"/>
                </a:solidFill>
                <a:latin typeface="Arial"/>
              </a:rPr>
              <a:t>three VIIRS satellites and a 90-day window absorb cloud gaps and jitter.</a:t>
            </a:r>
          </a:p>
          <a:p>
            <a:pPr>
              <a:spcAft>
                <a:spcPts val="600"/>
              </a:spcAft>
            </a:pPr>
            <a:r>
              <a:rPr sz="1000" b="1" i="0" u="none">
                <a:solidFill>
                  <a:srgbClr val="1F2937"/>
                </a:solidFill>
                <a:latin typeface="Arial"/>
              </a:rPr>
              <a:t>•  Feedback loop: </a:t>
            </a:r>
            <a:r>
              <a:rPr sz="1000" b="0" i="0" u="none">
                <a:solidFill>
                  <a:srgbClr val="1F2937"/>
                </a:solidFill>
                <a:latin typeface="Arial"/>
              </a:rPr>
              <a:t>analyst confirmations become labels and retrain the model.</a:t>
            </a:r>
          </a:p>
          <a:p>
            <a:pPr>
              <a:spcAft>
                <a:spcPts val="600"/>
              </a:spcAft>
            </a:pPr>
            <a:r>
              <a:rPr sz="1000" b="1" i="0" u="none">
                <a:solidFill>
                  <a:srgbClr val="1F2937"/>
                </a:solidFill>
                <a:latin typeface="Arial"/>
              </a:rPr>
              <a:t>•  Explainability: </a:t>
            </a:r>
            <a:r>
              <a:rPr sz="1000" b="0" i="0" u="none">
                <a:solidFill>
                  <a:srgbClr val="1F2937"/>
                </a:solidFill>
                <a:latin typeface="Arial"/>
              </a:rPr>
              <a:t>every decision lists its reasons and can be overridden.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329184" y="4526280"/>
            <a:ext cx="11521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 u="none">
                <a:solidFill>
                  <a:srgbClr val="1F3864"/>
                </a:solidFill>
                <a:latin typeface="Arial"/>
              </a:rPr>
              <a:t>Viability: what it costs and how it scales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329184" y="4846320"/>
            <a:ext cx="2194560" cy="749808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C8D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24" name="TextBox 17423"/>
          <p:cNvSpPr txBox="1"/>
          <p:nvPr/>
        </p:nvSpPr>
        <p:spPr>
          <a:xfrm>
            <a:off x="420623" y="491947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 u="none">
                <a:solidFill>
                  <a:srgbClr val="1F3864"/>
                </a:solidFill>
                <a:latin typeface="Arial"/>
              </a:rPr>
              <a:t>Rs 0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420623" y="5212080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6B7280"/>
                </a:solidFill>
                <a:latin typeface="Arial"/>
              </a:rPr>
              <a:t>data licensing, all sources open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2660903" y="4846320"/>
            <a:ext cx="2194560" cy="749808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C8D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27" name="TextBox 17426"/>
          <p:cNvSpPr txBox="1"/>
          <p:nvPr/>
        </p:nvSpPr>
        <p:spPr>
          <a:xfrm>
            <a:off x="2752344" y="491947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 u="none">
                <a:solidFill>
                  <a:srgbClr val="1F3864"/>
                </a:solidFill>
                <a:latin typeface="Arial"/>
              </a:rPr>
              <a:t>Rs 3,000 - 5,000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2752344" y="5212080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6B7280"/>
                </a:solidFill>
                <a:latin typeface="Arial"/>
              </a:rPr>
              <a:t>per month for one cloud VM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4992624" y="4846320"/>
            <a:ext cx="2194560" cy="749808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C8D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30" name="TextBox 17429"/>
          <p:cNvSpPr txBox="1"/>
          <p:nvPr/>
        </p:nvSpPr>
        <p:spPr>
          <a:xfrm>
            <a:off x="5084064" y="491947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 u="none">
                <a:solidFill>
                  <a:srgbClr val="1F3864"/>
                </a:solidFill>
                <a:latin typeface="Arial"/>
              </a:rPr>
              <a:t>7 seconds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5084064" y="5212080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6B7280"/>
                </a:solidFill>
                <a:latin typeface="Arial"/>
              </a:rPr>
              <a:t>to classify a 90-day national archive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7324344" y="4846320"/>
            <a:ext cx="2194560" cy="749808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C8D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33" name="TextBox 17432"/>
          <p:cNvSpPr txBox="1"/>
          <p:nvPr/>
        </p:nvSpPr>
        <p:spPr>
          <a:xfrm>
            <a:off x="7415783" y="491947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 u="none">
                <a:solidFill>
                  <a:srgbClr val="1F3864"/>
                </a:solidFill>
                <a:latin typeface="Arial"/>
              </a:rPr>
              <a:t>India-wide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7415783" y="5212080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6B7280"/>
                </a:solidFill>
                <a:latin typeface="Arial"/>
              </a:rPr>
              <a:t>OSM queried only around hotspot cells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9656063" y="4846320"/>
            <a:ext cx="2194560" cy="749808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C8D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36" name="TextBox 17435"/>
          <p:cNvSpPr txBox="1"/>
          <p:nvPr/>
        </p:nvSpPr>
        <p:spPr>
          <a:xfrm>
            <a:off x="9747503" y="491947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 u="none">
                <a:solidFill>
                  <a:srgbClr val="1F3864"/>
                </a:solidFill>
                <a:latin typeface="Arial"/>
              </a:rPr>
              <a:t>GeoJSON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9747503" y="5212080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6B7280"/>
                </a:solidFill>
                <a:latin typeface="Arial"/>
              </a:rPr>
              <a:t>plugs into Bhuvan, NDEM, QGIS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329184" y="5715000"/>
            <a:ext cx="11521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 u="none">
                <a:solidFill>
                  <a:srgbClr val="1F2937"/>
                </a:solidFill>
                <a:latin typeface="Arial"/>
              </a:rPr>
              <a:t>Roadmap: the idea and the prototype are done and public. The next four weeks add live FIRMS ingestion for all India and validation against documented incidents, followed by alerting and a Sentinel-2 verification model, and then integration with agency GIS systems.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Fire Orbit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29184" y="1097280"/>
            <a:ext cx="56692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 u="none">
                <a:solidFill>
                  <a:srgbClr val="1F3864"/>
                </a:solidFill>
                <a:latin typeface="Arial"/>
              </a:rPr>
              <a:t>Potential impact on the target audience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29184" y="1481328"/>
            <a:ext cx="5669280" cy="713232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C8D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12" name="Oval 17411"/>
          <p:cNvSpPr/>
          <p:nvPr/>
        </p:nvSpPr>
        <p:spPr>
          <a:xfrm>
            <a:off x="457200" y="1664208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 u="none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877824" y="1545336"/>
            <a:ext cx="4983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u="none">
                <a:solidFill>
                  <a:srgbClr val="1F3864"/>
                </a:solidFill>
                <a:latin typeface="Arial"/>
              </a:rPr>
              <a:t>Disaster management (NDMA, SDMAs, fire services)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877824" y="1773936"/>
            <a:ext cx="49834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1F2937"/>
                </a:solidFill>
                <a:latin typeface="Arial"/>
              </a:rPr>
              <a:t>Alerts only on abnormal industrial heat, with the facility name and the evidence, so response reaches the right plant sooner.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329184" y="2267712"/>
            <a:ext cx="5669280" cy="713232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C8D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16" name="Oval 17415"/>
          <p:cNvSpPr/>
          <p:nvPr/>
        </p:nvSpPr>
        <p:spPr>
          <a:xfrm>
            <a:off x="457200" y="2450592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 u="none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877824" y="2331720"/>
            <a:ext cx="4983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u="none">
                <a:solidFill>
                  <a:srgbClr val="1F3864"/>
                </a:solidFill>
                <a:latin typeface="Arial"/>
              </a:rPr>
              <a:t>NTRO and geospatial analysts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877824" y="2560320"/>
            <a:ext cx="49834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1F2937"/>
                </a:solidFill>
                <a:latin typeface="Arial"/>
              </a:rPr>
              <a:t>A national registry of persistent thermal sources with 90 days of activity history, including sites that are not on any map.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329184" y="3054096"/>
            <a:ext cx="5669280" cy="713232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C8D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20" name="Oval 17419"/>
          <p:cNvSpPr/>
          <p:nvPr/>
        </p:nvSpPr>
        <p:spPr>
          <a:xfrm>
            <a:off x="457200" y="3236976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 u="none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877824" y="3118103"/>
            <a:ext cx="4983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u="none">
                <a:solidFill>
                  <a:srgbClr val="1F3864"/>
                </a:solidFill>
                <a:latin typeface="Arial"/>
              </a:rPr>
              <a:t>CPCB, MoEFCC and state boards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877824" y="3346703"/>
            <a:ext cx="49834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1F2937"/>
                </a:solidFill>
                <a:latin typeface="Arial"/>
              </a:rPr>
              <a:t>Fires attributed to stubble burning, flaring or industry, district by district, for air-quality action.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329184" y="3840480"/>
            <a:ext cx="5669280" cy="713232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C8D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24" name="Oval 17423"/>
          <p:cNvSpPr/>
          <p:nvPr/>
        </p:nvSpPr>
        <p:spPr>
          <a:xfrm>
            <a:off x="457200" y="4023360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 u="none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877824" y="3904488"/>
            <a:ext cx="4983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u="none">
                <a:solidFill>
                  <a:srgbClr val="1F3864"/>
                </a:solidFill>
                <a:latin typeface="Arial"/>
              </a:rPr>
              <a:t>Industry and insurers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877824" y="4133088"/>
            <a:ext cx="49834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1F2937"/>
                </a:solidFill>
                <a:latin typeface="Arial"/>
              </a:rPr>
              <a:t>A verifiable incident timeline for any site, with satellite imagery links for claims and compliance.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6355080" y="1097280"/>
            <a:ext cx="54864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 u="none">
                <a:solidFill>
                  <a:srgbClr val="1F3864"/>
                </a:solidFill>
                <a:latin typeface="Arial"/>
              </a:rPr>
              <a:t>Benefits of the solution (social, economic, environmental, etc.)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6355080" y="1481328"/>
            <a:ext cx="5486400" cy="713232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C8D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29" name="Rounded Rectangle 17428"/>
          <p:cNvSpPr/>
          <p:nvPr/>
        </p:nvSpPr>
        <p:spPr>
          <a:xfrm>
            <a:off x="6355080" y="1481328"/>
            <a:ext cx="64008" cy="713232"/>
          </a:xfrm>
          <a:prstGeom prst="roundRect">
            <a:avLst>
              <a:gd name="adj" fmla="val 4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30" name="TextBox 17429"/>
          <p:cNvSpPr txBox="1"/>
          <p:nvPr/>
        </p:nvSpPr>
        <p:spPr>
          <a:xfrm>
            <a:off x="6537960" y="1545336"/>
            <a:ext cx="5120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u="none">
                <a:solidFill>
                  <a:srgbClr val="15803D"/>
                </a:solidFill>
                <a:latin typeface="Arial"/>
              </a:rPr>
              <a:t>Social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6537960" y="1773936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1F2937"/>
                </a:solidFill>
                <a:latin typeface="Arial"/>
              </a:rPr>
              <a:t>Communities living beside refineries, steel plants and chemical complexes are warned earlier, and fire services are used where they are needed.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6355080" y="2267712"/>
            <a:ext cx="5486400" cy="713232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C8D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33" name="Rounded Rectangle 17432"/>
          <p:cNvSpPr/>
          <p:nvPr/>
        </p:nvSpPr>
        <p:spPr>
          <a:xfrm>
            <a:off x="6355080" y="2267712"/>
            <a:ext cx="64008" cy="713232"/>
          </a:xfrm>
          <a:prstGeom prst="roundRect">
            <a:avLst>
              <a:gd name="adj" fmla="val 40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34" name="TextBox 17433"/>
          <p:cNvSpPr txBox="1"/>
          <p:nvPr/>
        </p:nvSpPr>
        <p:spPr>
          <a:xfrm>
            <a:off x="6537960" y="2331720"/>
            <a:ext cx="5120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u="none">
                <a:solidFill>
                  <a:srgbClr val="E8590C"/>
                </a:solidFill>
                <a:latin typeface="Arial"/>
              </a:rPr>
              <a:t>Economic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6537960" y="2560320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1F2937"/>
                </a:solidFill>
                <a:latin typeface="Arial"/>
              </a:rPr>
              <a:t>No data licensing cost and a single VM to run. Early detection reduces losses, and the open stack avoids paid geospatial platforms.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6355080" y="3054096"/>
            <a:ext cx="5486400" cy="713232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C8D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37" name="Rounded Rectangle 17436"/>
          <p:cNvSpPr/>
          <p:nvPr/>
        </p:nvSpPr>
        <p:spPr>
          <a:xfrm>
            <a:off x="6355080" y="3054096"/>
            <a:ext cx="64008" cy="713232"/>
          </a:xfrm>
          <a:prstGeom prst="roundRect">
            <a:avLst>
              <a:gd name="adj" fmla="val 4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38" name="TextBox 17437"/>
          <p:cNvSpPr txBox="1"/>
          <p:nvPr/>
        </p:nvSpPr>
        <p:spPr>
          <a:xfrm>
            <a:off x="6537960" y="3118103"/>
            <a:ext cx="5120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u="none">
                <a:solidFill>
                  <a:srgbClr val="0F766E"/>
                </a:solidFill>
                <a:latin typeface="Arial"/>
              </a:rPr>
              <a:t>Environmental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6537960" y="3346703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1F2937"/>
                </a:solidFill>
                <a:latin typeface="Arial"/>
              </a:rPr>
              <a:t>Agricultural burning is separated from industrial emissions, and flaring and coal-seam fires are inventoried for climate reporting.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6355080" y="3840480"/>
            <a:ext cx="5486400" cy="713232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C8D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41" name="Rounded Rectangle 17440"/>
          <p:cNvSpPr/>
          <p:nvPr/>
        </p:nvSpPr>
        <p:spPr>
          <a:xfrm>
            <a:off x="6355080" y="3840480"/>
            <a:ext cx="64008" cy="713232"/>
          </a:xfrm>
          <a:prstGeom prst="roundRect">
            <a:avLst>
              <a:gd name="adj" fmla="val 4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42" name="TextBox 17441"/>
          <p:cNvSpPr txBox="1"/>
          <p:nvPr/>
        </p:nvSpPr>
        <p:spPr>
          <a:xfrm>
            <a:off x="6537960" y="3904488"/>
            <a:ext cx="5120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u="none">
                <a:solidFill>
                  <a:srgbClr val="6D28D9"/>
                </a:solidFill>
                <a:latin typeface="Arial"/>
              </a:rPr>
              <a:t>Operational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6537960" y="4133088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1F2937"/>
                </a:solidFill>
                <a:latin typeface="Arial"/>
              </a:rPr>
              <a:t>A control room reviews 138 events instead of 22,179, and every decision is explainable and auditable.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329184" y="4754880"/>
            <a:ext cx="11521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 u="none">
                <a:solidFill>
                  <a:srgbClr val="1F3864"/>
                </a:solidFill>
                <a:latin typeface="Arial"/>
              </a:rPr>
              <a:t>Measured on the labelled 90-day archive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329184" y="5074920"/>
            <a:ext cx="2194560" cy="749808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46" name="TextBox 17445"/>
          <p:cNvSpPr txBox="1"/>
          <p:nvPr/>
        </p:nvSpPr>
        <p:spPr>
          <a:xfrm>
            <a:off x="420623" y="514807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 u="none">
                <a:solidFill>
                  <a:srgbClr val="FFFFFF"/>
                </a:solidFill>
                <a:latin typeface="Arial"/>
              </a:rPr>
              <a:t>99 %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420623" y="5449824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D6DEF0"/>
                </a:solidFill>
                <a:latin typeface="Arial"/>
              </a:rPr>
              <a:t>fewer hotspots to triage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2660903" y="5074920"/>
            <a:ext cx="2194560" cy="749808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49" name="TextBox 17448"/>
          <p:cNvSpPr txBox="1"/>
          <p:nvPr/>
        </p:nvSpPr>
        <p:spPr>
          <a:xfrm>
            <a:off x="2752344" y="514807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 u="none">
                <a:solidFill>
                  <a:srgbClr val="FFFFFF"/>
                </a:solidFill>
                <a:latin typeface="Arial"/>
              </a:rPr>
              <a:t>22,179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2752344" y="5449824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D6DEF0"/>
                </a:solidFill>
                <a:latin typeface="Arial"/>
              </a:rPr>
              <a:t>detections classified</a:t>
            </a:r>
          </a:p>
        </p:txBody>
      </p:sp>
      <p:sp>
        <p:nvSpPr>
          <p:cNvPr id="17451" name="Rounded Rectangle 17450"/>
          <p:cNvSpPr/>
          <p:nvPr/>
        </p:nvSpPr>
        <p:spPr>
          <a:xfrm>
            <a:off x="4992624" y="5074920"/>
            <a:ext cx="2194560" cy="749808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52" name="TextBox 17451"/>
          <p:cNvSpPr txBox="1"/>
          <p:nvPr/>
        </p:nvSpPr>
        <p:spPr>
          <a:xfrm>
            <a:off x="5084064" y="514807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 u="none">
                <a:solidFill>
                  <a:srgbClr val="FFFFFF"/>
                </a:solidFill>
                <a:latin typeface="Arial"/>
              </a:rPr>
              <a:t>114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5084064" y="5449824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D6DEF0"/>
                </a:solidFill>
                <a:latin typeface="Arial"/>
              </a:rPr>
              <a:t>persistent sources registered</a:t>
            </a:r>
          </a:p>
        </p:txBody>
      </p:sp>
      <p:sp>
        <p:nvSpPr>
          <p:cNvPr id="17454" name="Rounded Rectangle 17453"/>
          <p:cNvSpPr/>
          <p:nvPr/>
        </p:nvSpPr>
        <p:spPr>
          <a:xfrm>
            <a:off x="7324344" y="5074920"/>
            <a:ext cx="2194560" cy="749808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55" name="TextBox 17454"/>
          <p:cNvSpPr txBox="1"/>
          <p:nvPr/>
        </p:nvSpPr>
        <p:spPr>
          <a:xfrm>
            <a:off x="7415783" y="514807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 u="none">
                <a:solidFill>
                  <a:srgbClr val="FFFFFF"/>
                </a:solidFill>
                <a:latin typeface="Arial"/>
              </a:rPr>
              <a:t>138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7415783" y="5449824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D6DEF0"/>
                </a:solidFill>
                <a:latin typeface="Arial"/>
              </a:rPr>
              <a:t>incident candidates</a:t>
            </a:r>
          </a:p>
        </p:txBody>
      </p:sp>
      <p:sp>
        <p:nvSpPr>
          <p:cNvPr id="17457" name="Rounded Rectangle 17456"/>
          <p:cNvSpPr/>
          <p:nvPr/>
        </p:nvSpPr>
        <p:spPr>
          <a:xfrm>
            <a:off x="9656063" y="5074920"/>
            <a:ext cx="2194560" cy="749808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58" name="TextBox 17457"/>
          <p:cNvSpPr txBox="1"/>
          <p:nvPr/>
        </p:nvSpPr>
        <p:spPr>
          <a:xfrm>
            <a:off x="9747503" y="514807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 u="none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9747503" y="5449824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D6DEF0"/>
                </a:solidFill>
                <a:latin typeface="Arial"/>
              </a:rPr>
              <a:t>classes separated</a:t>
            </a:r>
          </a:p>
        </p:txBody>
      </p:sp>
      <p:sp>
        <p:nvSpPr>
          <p:cNvPr id="17460" name="TextBox 17459"/>
          <p:cNvSpPr txBox="1"/>
          <p:nvPr/>
        </p:nvSpPr>
        <p:spPr>
          <a:xfrm>
            <a:off x="329184" y="5943600"/>
            <a:ext cx="11521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 u="none">
                <a:solidFill>
                  <a:srgbClr val="1F2937"/>
                </a:solidFill>
                <a:latin typeface="Arial"/>
              </a:rPr>
              <a:t>Example alerts found: Bhilai Steel at 414 MW against a 32 MW baseline, Jamnagar Refinery at 207 MW against 19 MW, Tata Steel at 101 MW against 26 MW.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29184" y="1097280"/>
            <a:ext cx="11521440" cy="329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5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Fire Orbit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Oval 17410"/>
          <p:cNvSpPr/>
          <p:nvPr/>
        </p:nvSpPr>
        <p:spPr>
          <a:xfrm>
            <a:off x="329184" y="1591056"/>
            <a:ext cx="274320" cy="27432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 u="none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713232" y="1536192"/>
            <a:ext cx="5212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u="none">
                <a:solidFill>
                  <a:srgbClr val="1F3864"/>
                </a:solidFill>
                <a:latin typeface="Arial"/>
              </a:rPr>
              <a:t>Problem statement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713232" y="1728216"/>
            <a:ext cx="5212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 u="none">
                <a:solidFill>
                  <a:srgbClr val="1F2937"/>
                </a:solidFill>
                <a:latin typeface="Arial"/>
              </a:rPr>
              <a:t>NTRO, PS SIH26162, Smart India Hackathon 2026: segregate industrial fires from forest and other natural fires, with GIS storage and map-overlay visualisation.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713232" y="2011680"/>
            <a:ext cx="5212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0" i="0" u="sng">
                <a:solidFill>
                  <a:srgbClr val="1A0DAB"/>
                </a:solidFill>
                <a:latin typeface="Arial"/>
                <a:hlinkClick r:id="rId4"/>
              </a:rPr>
              <a:t>https://sih.gov.in</a:t>
            </a:r>
          </a:p>
        </p:txBody>
      </p:sp>
      <p:sp>
        <p:nvSpPr>
          <p:cNvPr id="17415" name="Oval 17414"/>
          <p:cNvSpPr/>
          <p:nvPr/>
        </p:nvSpPr>
        <p:spPr>
          <a:xfrm>
            <a:off x="329184" y="2249424"/>
            <a:ext cx="274320" cy="27432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 u="none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713232" y="2194560"/>
            <a:ext cx="5212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u="none">
                <a:solidFill>
                  <a:srgbClr val="1F3864"/>
                </a:solidFill>
                <a:latin typeface="Arial"/>
              </a:rPr>
              <a:t>Hotspot data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713232" y="2386584"/>
            <a:ext cx="5212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 u="none">
                <a:solidFill>
                  <a:srgbClr val="1F2937"/>
                </a:solidFill>
                <a:latin typeface="Arial"/>
              </a:rPr>
              <a:t>NASA FIRMS Area API: VIIRS 375 m (Suomi-NPP, NOAA-20, NOAA-21) and MODIS 1 km active-fire products, near real time and archive.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713232" y="2670048"/>
            <a:ext cx="5212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0" i="0" u="sng">
                <a:solidFill>
                  <a:srgbClr val="1A0DAB"/>
                </a:solidFill>
                <a:latin typeface="Arial"/>
                <a:hlinkClick r:id="rId5"/>
              </a:rPr>
              <a:t>https://firms.modaps.eosdis.nasa.gov/api/area/</a:t>
            </a:r>
          </a:p>
        </p:txBody>
      </p:sp>
      <p:sp>
        <p:nvSpPr>
          <p:cNvPr id="17419" name="Oval 17418"/>
          <p:cNvSpPr/>
          <p:nvPr/>
        </p:nvSpPr>
        <p:spPr>
          <a:xfrm>
            <a:off x="329184" y="2907792"/>
            <a:ext cx="274320" cy="27432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 u="none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713232" y="2852928"/>
            <a:ext cx="5212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u="none">
                <a:solidFill>
                  <a:srgbClr val="1F3864"/>
                </a:solidFill>
                <a:latin typeface="Arial"/>
              </a:rPr>
              <a:t>Sensor science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713232" y="3044952"/>
            <a:ext cx="5212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 u="none">
                <a:solidFill>
                  <a:srgbClr val="1F2937"/>
                </a:solidFill>
                <a:latin typeface="Arial"/>
              </a:rPr>
              <a:t>Schroeder, W. et al. (2014). The new VIIRS 375 m active fire detection data product. Remote Sensing of Environment, 143, 85-96.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713232" y="3328416"/>
            <a:ext cx="5212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0" i="0" u="sng">
                <a:solidFill>
                  <a:srgbClr val="1A0DAB"/>
                </a:solidFill>
                <a:latin typeface="Arial"/>
                <a:hlinkClick r:id="rId6"/>
              </a:rPr>
              <a:t>https://doi.org/10.1016/j.rse.2013.12.008</a:t>
            </a:r>
          </a:p>
        </p:txBody>
      </p:sp>
      <p:sp>
        <p:nvSpPr>
          <p:cNvPr id="17423" name="Oval 17422"/>
          <p:cNvSpPr/>
          <p:nvPr/>
        </p:nvSpPr>
        <p:spPr>
          <a:xfrm>
            <a:off x="329184" y="3566160"/>
            <a:ext cx="274320" cy="27432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 u="none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713232" y="3511296"/>
            <a:ext cx="5212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u="none">
                <a:solidFill>
                  <a:srgbClr val="1F3864"/>
                </a:solidFill>
                <a:latin typeface="Arial"/>
              </a:rPr>
              <a:t>Flare signatures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713232" y="3703320"/>
            <a:ext cx="5212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 u="none">
                <a:solidFill>
                  <a:srgbClr val="1F2937"/>
                </a:solidFill>
                <a:latin typeface="Arial"/>
              </a:rPr>
              <a:t>Elvidge, C. D. et al. (2013). VIIRS Nightfire: satellite pyrometry at night. Remote Sensing, 5(9), 4423-4449.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713232" y="3986783"/>
            <a:ext cx="5212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0" i="0" u="sng">
                <a:solidFill>
                  <a:srgbClr val="1A0DAB"/>
                </a:solidFill>
                <a:latin typeface="Arial"/>
                <a:hlinkClick r:id="rId7"/>
              </a:rPr>
              <a:t>https://doi.org/10.3390/rs5094423</a:t>
            </a:r>
          </a:p>
        </p:txBody>
      </p:sp>
      <p:sp>
        <p:nvSpPr>
          <p:cNvPr id="17427" name="Oval 17426"/>
          <p:cNvSpPr/>
          <p:nvPr/>
        </p:nvSpPr>
        <p:spPr>
          <a:xfrm>
            <a:off x="329184" y="4224527"/>
            <a:ext cx="274320" cy="27432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 u="none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713232" y="4169663"/>
            <a:ext cx="5212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u="none">
                <a:solidFill>
                  <a:srgbClr val="1F3864"/>
                </a:solidFill>
                <a:latin typeface="Arial"/>
              </a:rPr>
              <a:t>Industrial heat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713232" y="4361688"/>
            <a:ext cx="5212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 u="none">
                <a:solidFill>
                  <a:srgbClr val="1F2937"/>
                </a:solidFill>
                <a:latin typeface="Arial"/>
              </a:rPr>
              <a:t>Liu, Y. et al. (2018). Identifying industrial heat sources using time series of the VIIRS Nightfire product. Remote Sensing of Environment, 204.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713232" y="4645152"/>
            <a:ext cx="5212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0" i="0" u="sng">
                <a:solidFill>
                  <a:srgbClr val="1A0DAB"/>
                </a:solidFill>
                <a:latin typeface="Arial"/>
                <a:hlinkClick r:id="rId8"/>
              </a:rPr>
              <a:t>https://www.sciencedirect.com/journal/remote-sensing-of-environment</a:t>
            </a:r>
          </a:p>
        </p:txBody>
      </p:sp>
      <p:sp>
        <p:nvSpPr>
          <p:cNvPr id="17431" name="Oval 17430"/>
          <p:cNvSpPr/>
          <p:nvPr/>
        </p:nvSpPr>
        <p:spPr>
          <a:xfrm>
            <a:off x="6181344" y="1591056"/>
            <a:ext cx="274320" cy="27432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 u="none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6565392" y="1536192"/>
            <a:ext cx="5212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u="none">
                <a:solidFill>
                  <a:srgbClr val="1F3864"/>
                </a:solidFill>
                <a:latin typeface="Arial"/>
              </a:rPr>
              <a:t>Context data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6565392" y="1728216"/>
            <a:ext cx="5212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 u="none">
                <a:solidFill>
                  <a:srgbClr val="1F2937"/>
                </a:solidFill>
                <a:latin typeface="Arial"/>
              </a:rPr>
              <a:t>OpenStreetMap Overpass API and tagging: industrial, man_made=flare or works, power=plant, landuse=quarry, farmland or forest.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6565392" y="2011680"/>
            <a:ext cx="5212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0" i="0" u="sng">
                <a:solidFill>
                  <a:srgbClr val="1A0DAB"/>
                </a:solidFill>
                <a:latin typeface="Arial"/>
                <a:hlinkClick r:id="rId9"/>
              </a:rPr>
              <a:t>https://wiki.openstreetmap.org/wiki/Overpass_API</a:t>
            </a:r>
          </a:p>
        </p:txBody>
      </p:sp>
      <p:sp>
        <p:nvSpPr>
          <p:cNvPr id="17435" name="Oval 17434"/>
          <p:cNvSpPr/>
          <p:nvPr/>
        </p:nvSpPr>
        <p:spPr>
          <a:xfrm>
            <a:off x="6181344" y="2249424"/>
            <a:ext cx="274320" cy="27432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 u="none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6565392" y="2194560"/>
            <a:ext cx="5212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u="none">
                <a:solidFill>
                  <a:srgbClr val="1F3864"/>
                </a:solidFill>
                <a:latin typeface="Arial"/>
              </a:rPr>
              <a:t>Verification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6565392" y="2386584"/>
            <a:ext cx="5212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 u="none">
                <a:solidFill>
                  <a:srgbClr val="1F2937"/>
                </a:solidFill>
                <a:latin typeface="Arial"/>
              </a:rPr>
              <a:t>Copernicus Data Space, Sentinel-2 SWIR bands B11 and B12 for visual confirmation, and ESA WorldCover 10 m land cover.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6565392" y="2670048"/>
            <a:ext cx="5212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0" i="0" u="sng">
                <a:solidFill>
                  <a:srgbClr val="1A0DAB"/>
                </a:solidFill>
                <a:latin typeface="Arial"/>
                <a:hlinkClick r:id="rId10"/>
              </a:rPr>
              <a:t>https://dataspace.copernicus.eu</a:t>
            </a:r>
          </a:p>
        </p:txBody>
      </p:sp>
      <p:sp>
        <p:nvSpPr>
          <p:cNvPr id="17439" name="Oval 17438"/>
          <p:cNvSpPr/>
          <p:nvPr/>
        </p:nvSpPr>
        <p:spPr>
          <a:xfrm>
            <a:off x="6181344" y="2907792"/>
            <a:ext cx="274320" cy="27432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 u="none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6565392" y="2852928"/>
            <a:ext cx="5212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u="none">
                <a:solidFill>
                  <a:srgbClr val="1F3864"/>
                </a:solidFill>
                <a:latin typeface="Arial"/>
              </a:rPr>
              <a:t>Seasonal priors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6565392" y="3044952"/>
            <a:ext cx="5212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 u="none">
                <a:solidFill>
                  <a:srgbClr val="1F2937"/>
                </a:solidFill>
                <a:latin typeface="Arial"/>
              </a:rPr>
              <a:t>ICAR-IARI CREAMS and CPCB crop-residue burning bulletins, used as the October-November and April-May seasonality prior.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6565392" y="3328416"/>
            <a:ext cx="5212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0" i="0" u="sng">
                <a:solidFill>
                  <a:srgbClr val="1A0DAB"/>
                </a:solidFill>
                <a:latin typeface="Arial"/>
                <a:hlinkClick r:id="rId11"/>
              </a:rPr>
              <a:t>https://creams.iari.res.in</a:t>
            </a:r>
          </a:p>
        </p:txBody>
      </p:sp>
      <p:sp>
        <p:nvSpPr>
          <p:cNvPr id="17443" name="Oval 17442"/>
          <p:cNvSpPr/>
          <p:nvPr/>
        </p:nvSpPr>
        <p:spPr>
          <a:xfrm>
            <a:off x="6181344" y="3566160"/>
            <a:ext cx="274320" cy="27432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 u="none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6565392" y="3511296"/>
            <a:ext cx="5212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u="none">
                <a:solidFill>
                  <a:srgbClr val="1F3864"/>
                </a:solidFill>
                <a:latin typeface="Arial"/>
              </a:rPr>
              <a:t>Methods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6565392" y="3703320"/>
            <a:ext cx="5212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 u="none">
                <a:solidFill>
                  <a:srgbClr val="1F2937"/>
                </a:solidFill>
                <a:latin typeface="Arial"/>
              </a:rPr>
              <a:t>Ester, M. et al. (1996). DBSCAN, KDD-96, used for source grouping; scikit-learn HistGradientBoostingClassifier documentation.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6565392" y="3986783"/>
            <a:ext cx="5212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0" i="0" u="sng">
                <a:solidFill>
                  <a:srgbClr val="1A0DAB"/>
                </a:solidFill>
                <a:latin typeface="Arial"/>
                <a:hlinkClick r:id="rId12"/>
              </a:rPr>
              <a:t>https://scikit-learn.org</a:t>
            </a:r>
          </a:p>
        </p:txBody>
      </p:sp>
      <p:sp>
        <p:nvSpPr>
          <p:cNvPr id="17447" name="Rounded Rectangle 17446"/>
          <p:cNvSpPr/>
          <p:nvPr/>
        </p:nvSpPr>
        <p:spPr>
          <a:xfrm>
            <a:off x="6181344" y="4846320"/>
            <a:ext cx="5669280" cy="137160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C8D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48" name="TextBox 17447"/>
          <p:cNvSpPr txBox="1"/>
          <p:nvPr/>
        </p:nvSpPr>
        <p:spPr>
          <a:xfrm>
            <a:off x="6327648" y="4937760"/>
            <a:ext cx="5394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u="none">
                <a:solidFill>
                  <a:srgbClr val="1F3864"/>
                </a:solidFill>
                <a:latin typeface="Arial"/>
              </a:rPr>
              <a:t>Our own work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6327648" y="5212080"/>
            <a:ext cx="5394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50" b="1" i="0" u="none">
                <a:solidFill>
                  <a:srgbClr val="1F2937"/>
                </a:solidFill>
                <a:latin typeface="Arial"/>
              </a:rPr>
              <a:t>Working prototype: </a:t>
            </a:r>
            <a:r>
              <a:rPr sz="900" b="0" i="0" u="sng">
                <a:solidFill>
                  <a:srgbClr val="1A0DAB"/>
                </a:solidFill>
                <a:latin typeface="Arial"/>
                <a:hlinkClick r:id="rId13"/>
              </a:rPr>
              <a:t>https://rahulskandagal.github.io/thermal-sentinel/</a:t>
            </a:r>
          </a:p>
          <a:p>
            <a:pPr>
              <a:spcBef>
                <a:spcPts val="400"/>
              </a:spcBef>
            </a:pPr>
            <a:r>
              <a:rPr sz="950" b="1" i="0" u="none">
                <a:solidFill>
                  <a:srgbClr val="1F2937"/>
                </a:solidFill>
                <a:latin typeface="Arial"/>
              </a:rPr>
              <a:t>Source code and documentation: </a:t>
            </a:r>
            <a:r>
              <a:rPr sz="900" b="0" i="0" u="sng">
                <a:solidFill>
                  <a:srgbClr val="1A0DAB"/>
                </a:solidFill>
                <a:latin typeface="Arial"/>
                <a:hlinkClick r:id="rId14"/>
              </a:rPr>
              <a:t>https://github.com/rahulskandagal/thermal-sentinel</a:t>
            </a:r>
          </a:p>
        </p:txBody>
      </p:sp>
      <p:pic>
        <p:nvPicPr>
          <p:cNvPr id="17450" name="Picture 17449" descr="dashboar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9184" y="4846320"/>
            <a:ext cx="2432304" cy="1371600"/>
          </a:xfrm>
          <a:prstGeom prst="rect">
            <a:avLst/>
          </a:prstGeom>
        </p:spPr>
      </p:pic>
      <p:pic>
        <p:nvPicPr>
          <p:cNvPr id="17451" name="Picture 17450" descr="ui_punjab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26080" y="4846320"/>
            <a:ext cx="2432304" cy="1371600"/>
          </a:xfrm>
          <a:prstGeom prst="rect">
            <a:avLst/>
          </a:prstGeom>
        </p:spPr>
      </p:pic>
      <p:sp>
        <p:nvSpPr>
          <p:cNvPr id="17452" name="TextBox 17451"/>
          <p:cNvSpPr txBox="1"/>
          <p:nvPr/>
        </p:nvSpPr>
        <p:spPr>
          <a:xfrm>
            <a:off x="329184" y="6181344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1" u="none">
                <a:solidFill>
                  <a:srgbClr val="6B7280"/>
                </a:solidFill>
                <a:latin typeface="Arial"/>
              </a:rPr>
              <a:t>Prototype: all-India view and the Punjab crop-burn season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1804</Words>
  <Application>Microsoft Office PowerPoint</Application>
  <PresentationFormat>Widescreen</PresentationFormat>
  <Paragraphs>199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TITLE: ThermalSentinel</vt:lpstr>
      <vt:lpstr>TECHNICAL APPROACH</vt:lpstr>
      <vt:lpstr>FEASIBILITY AND VIABILITY</vt:lpstr>
      <vt:lpstr>IMPACT AND BENEFITS</vt:lpstr>
      <vt:lpstr>RESEARCH  AND REFERENCES</vt:lpstr>
    </vt:vector>
  </TitlesOfParts>
  <Company>Team Fire Orbit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SIH26162 ThermalSentinel - Team Fire Orbit</dc:title>
  <dc:subject>Smart India Hackathon 2026 idea submission (PS SIH26162, NTRO)</dc:subject>
  <dc:creator>Team Fire Orbit</dc:creator>
  <cp:keywords>SIH 2026; SIH26162; NTRO; thermal anomalies; NASA FIRMS</cp:keywords>
  <dc:description/>
  <cp:lastModifiedBy>Team Fire Orbit</cp:lastModifiedBy>
  <cp:revision>1</cp:revision>
  <dcterms:created xsi:type="dcterms:W3CDTF">2026-09-22T09:00:00Z</dcterms:created>
  <dcterms:modified xsi:type="dcterms:W3CDTF">2026-09-22T09:00:00Z</dcterms:modified>
</cp:coreProperties>
</file>