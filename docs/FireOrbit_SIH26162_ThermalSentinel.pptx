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FIRMS today</c:v>
                </c:pt>
              </c:strCache>
            </c:strRef>
          </c:tx>
          <c:spPr>
            <a:solidFill>
              <a:srgbClr val="9CA3AF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Hotspots an operator must review (%)</c:v>
                  </c:pt>
                  <c:pt idx="1">
                    <c:v>Industrial vs natural separated (%)</c:v>
                  </c:pt>
                  <c:pt idx="2">
                    <c:v>Sources with history / baseline (%)</c:v>
                  </c:pt>
                  <c:pt idx="3">
                    <c:v>Decisions with reasons (%)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With ThermalSentinel</c:v>
                </c:pt>
              </c:strCache>
            </c:strRef>
          </c:tx>
          <c:spPr>
            <a:solidFill>
              <a:srgbClr val="1D4ED8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Hotspots an operator must review (%)</c:v>
                  </c:pt>
                  <c:pt idx="1">
                    <c:v>Industrial vs natural separated (%)</c:v>
                  </c:pt>
                  <c:pt idx="2">
                    <c:v>Sources with history / baseline (%)</c:v>
                  </c:pt>
                  <c:pt idx="3">
                    <c:v>Decisions with reasons (%)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0.6</c:v>
                </c:pt>
                <c:pt idx="1">
                  <c:v>99.9</c:v>
                </c:pt>
                <c:pt idx="2">
                  <c:v>100</c:v>
                </c:pt>
                <c:pt idx="3">
                  <c:v>100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b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7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rahulskandagal.github.io/thermal-sentinel/" TargetMode="External"/><Relationship Id="rId3" Type="http://schemas.openxmlformats.org/officeDocument/2006/relationships/hyperlink" Target="https://github.com/rahulskandagal/thermal-sentinel" TargetMode="External"/><Relationship Id="rId1" Type="http://schemas.openxmlformats.org/officeDocument/2006/relationships/image" Target="../media/image-2-1.png"/><Relationship Id="rId4" Type="http://schemas.openxmlformats.org/officeDocument/2006/relationships/image" Target="../media/image-2-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rahulskandagal/thermal-sentinel#readme" TargetMode="External"/><Relationship Id="rId3" Type="http://schemas.openxmlformats.org/officeDocument/2006/relationships/hyperlink" Target="https://github.com/rahulskandagal/thermal-sentinel" TargetMode="External"/><Relationship Id="rId1" Type="http://schemas.openxmlformats.org/officeDocument/2006/relationships/image" Target="../media/image-3-1.png"/><Relationship Id="rId4" Type="http://schemas.openxmlformats.org/officeDocument/2006/relationships/image" Target="../media/image-3-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5-1.png"/><Relationship Id="rId3" Type="http://schemas.openxmlformats.org/officeDocument/2006/relationships/image" Target="../media/image-5-2.png"/><Relationship Id="rId4" Type="http://schemas.openxmlformats.org/officeDocument/2006/relationships/image" Target="../media/image-5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firms.modaps.eosdis.nasa.gov/api/area/" TargetMode="External"/><Relationship Id="rId3" Type="http://schemas.openxmlformats.org/officeDocument/2006/relationships/hyperlink" Target="https://doi.org/10.1016/j.rse.2013.12.008" TargetMode="External"/><Relationship Id="rId4" Type="http://schemas.openxmlformats.org/officeDocument/2006/relationships/hyperlink" Target="https://doi.org/10.3390/rs5094423" TargetMode="External"/><Relationship Id="rId5" Type="http://schemas.openxmlformats.org/officeDocument/2006/relationships/hyperlink" Target="https://www.sciencedirect.com/journal/remote-sensing-of-environment" TargetMode="External"/><Relationship Id="rId6" Type="http://schemas.openxmlformats.org/officeDocument/2006/relationships/hyperlink" Target="https://wiki.openstreetmap.org/wiki/Overpass_API" TargetMode="External"/><Relationship Id="rId7" Type="http://schemas.openxmlformats.org/officeDocument/2006/relationships/hyperlink" Target="https://dataspace.copernicus.eu" TargetMode="External"/><Relationship Id="rId8" Type="http://schemas.openxmlformats.org/officeDocument/2006/relationships/hyperlink" Target="https://creams.iari.res.in" TargetMode="External"/><Relationship Id="rId12" Type="http://schemas.openxmlformats.org/officeDocument/2006/relationships/hyperlink" Target="https://rahulskandagal.github.io/thermal-sentinel/" TargetMode="External"/><Relationship Id="rId13" Type="http://schemas.openxmlformats.org/officeDocument/2006/relationships/hyperlink" Target="https://github.com/rahulskandagal/thermal-sentinel" TargetMode="External"/><Relationship Id="rId1" Type="http://schemas.openxmlformats.org/officeDocument/2006/relationships/image" Target="../media/image-6-1.png"/><Relationship Id="rId9" Type="http://schemas.openxmlformats.org/officeDocument/2006/relationships/image" Target="../media/image-6-2.png"/><Relationship Id="rId10" Type="http://schemas.openxmlformats.org/officeDocument/2006/relationships/image" Target="../media/image-6-3.png"/><Relationship Id="rId11" Type="http://schemas.openxmlformats.org/officeDocument/2006/relationships/image" Target="../media/image-6-4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93792" y="859536"/>
            <a:ext cx="3950208" cy="3694176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9480" y="45720"/>
            <a:ext cx="1691640" cy="79552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457200" y="13716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SMART INDIA HACKATHON 2026</a:t>
            </a:r>
            <a:endParaRPr lang="en-US" sz="2800" dirty="0"/>
          </a:p>
        </p:txBody>
      </p:sp>
      <p:sp>
        <p:nvSpPr>
          <p:cNvPr id="5" name="Text 1"/>
          <p:cNvSpPr txBox="1"/>
          <p:nvPr/>
        </p:nvSpPr>
        <p:spPr>
          <a:xfrm>
            <a:off x="274320" y="1234440"/>
            <a:ext cx="51206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Problem Statement ID – </a:t>
            </a:r>
            <a:pPr indent="0" marL="0">
              <a:spcAft>
                <a:spcPts val="1000"/>
              </a:spcAft>
              <a:buNone/>
            </a:pPr>
            <a:r>
              <a:rPr lang="en-US" sz="13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SIH26162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Problem Statement Title- </a:t>
            </a:r>
            <a:pPr indent="0" marL="0">
              <a:spcAft>
                <a:spcPts val="1000"/>
              </a:spcAft>
              <a:buNone/>
            </a:pPr>
            <a:r>
              <a:rPr lang="en-US" sz="13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AI-Based Detection and Classification of Industrial Fires and Persistent Thermal Sources Using NASA FIRMS, OSM &amp; Satellite Data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Theme- </a:t>
            </a:r>
            <a:pPr indent="0" marL="0">
              <a:spcAft>
                <a:spcPts val="1000"/>
              </a:spcAft>
              <a:buNone/>
            </a:pPr>
            <a:r>
              <a:rPr lang="en-US" sz="13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Disaster Management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PS Category- </a:t>
            </a:r>
            <a:pPr indent="0" marL="0">
              <a:spcAft>
                <a:spcPts val="1000"/>
              </a:spcAft>
              <a:buNone/>
            </a:pPr>
            <a:r>
              <a:rPr lang="en-US" sz="13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Software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Team ID- </a:t>
            </a:r>
            <a:pPr indent="0" marL="0">
              <a:spcAft>
                <a:spcPts val="1000"/>
              </a:spcAft>
              <a:buNone/>
            </a:pP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Team Name (Registered on portal) - </a:t>
            </a:r>
            <a:pPr indent="0" marL="0">
              <a:spcAft>
                <a:spcPts val="1000"/>
              </a:spcAft>
              <a:buNone/>
            </a:pPr>
            <a:r>
              <a:rPr lang="en-US" sz="13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Fire Orbit</a:t>
            </a:r>
            <a:endParaRPr lang="en-US" sz="1350" dirty="0"/>
          </a:p>
        </p:txBody>
      </p:sp>
      <p:sp>
        <p:nvSpPr>
          <p:cNvPr id="6" name="Text 2"/>
          <p:cNvSpPr txBox="1"/>
          <p:nvPr/>
        </p:nvSpPr>
        <p:spPr>
          <a:xfrm>
            <a:off x="8412480" y="46177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109728"/>
            <a:ext cx="1051560" cy="56692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386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82880" y="109728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 Orbit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91440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ThermalSentinel: AI That Knows What Is Burning —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and Whether It Should Be</a:t>
            </a:r>
            <a:endParaRPr lang="en-US" sz="17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0" y="45720"/>
            <a:ext cx="1691640" cy="7955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@SIH Idea submission- Template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8046720" y="4846320"/>
            <a:ext cx="8229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228600" y="941832"/>
            <a:ext cx="2788920" cy="987552"/>
          </a:xfrm>
          <a:prstGeom prst="roundRect">
            <a:avLst>
              <a:gd name="adj" fmla="val 11111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82880" y="896112"/>
            <a:ext cx="2788920" cy="987552"/>
          </a:xfrm>
          <a:prstGeom prst="roundRect">
            <a:avLst>
              <a:gd name="adj" fmla="val 11111"/>
            </a:avLst>
          </a:prstGeom>
          <a:solidFill>
            <a:srgbClr val="3A3A3A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292608" y="950976"/>
            <a:ext cx="256946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u="sng" dirty="0">
                <a:solidFill>
                  <a:srgbClr val="F2C94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Real-world issue: </a:t>
            </a:r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NASA FIRMS reports thousands of hot pixels over India every day — a refinery flare, a steel plant, a coal-seam fire, a stubble burn and a forest fire all look identical.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28600" y="2002536"/>
            <a:ext cx="2788920" cy="914400"/>
          </a:xfrm>
          <a:prstGeom prst="roundRect">
            <a:avLst>
              <a:gd name="adj" fmla="val 12000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82880" y="1956816"/>
            <a:ext cx="2788920" cy="914400"/>
          </a:xfrm>
          <a:prstGeom prst="roundRect">
            <a:avLst>
              <a:gd name="adj" fmla="val 12000"/>
            </a:avLst>
          </a:prstGeom>
          <a:solidFill>
            <a:srgbClr val="3A3A3A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292608" y="2011680"/>
            <a:ext cx="256946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u="sng" dirty="0">
                <a:solidFill>
                  <a:srgbClr val="F2C94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important: </a:t>
            </a:r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genuine plant fire hides among routine industrial heat; responders cannot prioritise, and no registry of persistent thermal sources exists for security agencies.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228600" y="2990088"/>
            <a:ext cx="2788920" cy="914400"/>
          </a:xfrm>
          <a:prstGeom prst="roundRect">
            <a:avLst>
              <a:gd name="adj" fmla="val 12000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82880" y="2944368"/>
            <a:ext cx="2788920" cy="914400"/>
          </a:xfrm>
          <a:prstGeom prst="roundRect">
            <a:avLst>
              <a:gd name="adj" fmla="val 12000"/>
            </a:avLst>
          </a:prstGeom>
          <a:solidFill>
            <a:srgbClr val="3A3A3A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292608" y="2999232"/>
            <a:ext cx="256946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u="sng" dirty="0">
                <a:solidFill>
                  <a:srgbClr val="F2C94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Solution: </a:t>
            </a:r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 classifies every hotspot into 6 classes, tracks each source for 90 days and alerts only when a known site burns far above its own normal.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137160" y="3931920"/>
            <a:ext cx="1600200" cy="868680"/>
          </a:xfrm>
          <a:prstGeom prst="cloud">
            <a:avLst/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25196" y="4123030"/>
            <a:ext cx="1024128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u="sng" dirty="0">
                <a:solidFill>
                  <a:srgbClr val="1A0DAB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Live Demo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u="sng" dirty="0">
                <a:solidFill>
                  <a:srgbClr val="1A0DAB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1874520" y="395020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Prototype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 flipV="1">
            <a:off x="1783080" y="4224528"/>
            <a:ext cx="502920" cy="109728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22" name="Text 19"/>
          <p:cNvSpPr txBox="1"/>
          <p:nvPr/>
        </p:nvSpPr>
        <p:spPr>
          <a:xfrm>
            <a:off x="1874520" y="4370832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today — click to open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3108960" y="896112"/>
            <a:ext cx="3200400" cy="3904488"/>
          </a:xfrm>
          <a:prstGeom prst="triangle">
            <a:avLst/>
          </a:prstGeom>
          <a:solidFill>
            <a:srgbClr val="FFF3E0"/>
          </a:solidFill>
          <a:ln w="38100">
            <a:solidFill>
              <a:srgbClr val="F59E0B"/>
            </a:solidFill>
            <a:prstDash val="dash"/>
          </a:ln>
        </p:spPr>
      </p:sp>
      <p:sp>
        <p:nvSpPr>
          <p:cNvPr id="24" name="Shape 21"/>
          <p:cNvSpPr/>
          <p:nvPr/>
        </p:nvSpPr>
        <p:spPr>
          <a:xfrm>
            <a:off x="4023360" y="1828800"/>
            <a:ext cx="1371600" cy="658368"/>
          </a:xfrm>
          <a:prstGeom prst="roundRect">
            <a:avLst>
              <a:gd name="adj" fmla="val 8333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023360" y="1865376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E0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INNOVATION</a:t>
            </a:r>
            <a:endParaRPr lang="en-US" sz="750" dirty="0"/>
          </a:p>
        </p:txBody>
      </p:sp>
      <p:sp>
        <p:nvSpPr>
          <p:cNvPr id="26" name="Text 23"/>
          <p:cNvSpPr txBox="1"/>
          <p:nvPr/>
        </p:nvSpPr>
        <p:spPr>
          <a:xfrm>
            <a:off x="4069080" y="2029968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🔔 Baseline-relative incident alerts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FRP ≥ 2.5× site normal &amp; z ≥ 3</a:t>
            </a:r>
            <a:endParaRPr lang="en-US" sz="700" dirty="0"/>
          </a:p>
        </p:txBody>
      </p:sp>
      <p:sp>
        <p:nvSpPr>
          <p:cNvPr id="27" name="Shape 24"/>
          <p:cNvSpPr/>
          <p:nvPr/>
        </p:nvSpPr>
        <p:spPr>
          <a:xfrm>
            <a:off x="3726180" y="2560320"/>
            <a:ext cx="1965960" cy="658368"/>
          </a:xfrm>
          <a:prstGeom prst="roundRect">
            <a:avLst>
              <a:gd name="adj" fmla="val 8333"/>
            </a:avLst>
          </a:prstGeom>
          <a:solidFill>
            <a:srgbClr val="1E5AA8"/>
          </a:solidFill>
          <a:ln w="12700">
            <a:solidFill>
              <a:srgbClr val="1E5AA8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3726180" y="2596896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E0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FUNCTIONS</a:t>
            </a:r>
            <a:endParaRPr lang="en-US" sz="750" dirty="0"/>
          </a:p>
        </p:txBody>
      </p:sp>
      <p:sp>
        <p:nvSpPr>
          <p:cNvPr id="29" name="Text 26"/>
          <p:cNvSpPr txBox="1"/>
          <p:nvPr/>
        </p:nvSpPr>
        <p:spPr>
          <a:xfrm>
            <a:off x="3771900" y="2761488"/>
            <a:ext cx="1874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 6-class AI classification   |   📒 Persistent-source registry (90-day)</a:t>
            </a:r>
            <a:endParaRPr lang="en-US" sz="700" dirty="0"/>
          </a:p>
        </p:txBody>
      </p:sp>
      <p:sp>
        <p:nvSpPr>
          <p:cNvPr id="30" name="Shape 27"/>
          <p:cNvSpPr/>
          <p:nvPr/>
        </p:nvSpPr>
        <p:spPr>
          <a:xfrm>
            <a:off x="3429000" y="3291840"/>
            <a:ext cx="2560320" cy="658368"/>
          </a:xfrm>
          <a:prstGeom prst="roundRect">
            <a:avLst>
              <a:gd name="adj" fmla="val 8333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3429000" y="3328416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E0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&amp; EVIDENCE</a:t>
            </a:r>
            <a:endParaRPr lang="en-US" sz="750" dirty="0"/>
          </a:p>
        </p:txBody>
      </p:sp>
      <p:sp>
        <p:nvSpPr>
          <p:cNvPr id="32" name="Text 29"/>
          <p:cNvSpPr txBox="1"/>
          <p:nvPr/>
        </p:nvSpPr>
        <p:spPr>
          <a:xfrm>
            <a:off x="3474720" y="3493008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🏭 OSM facilities  ·  🌾 Land cover  ·  🛰️ Sentinel-2 verification  ·  📅 India burn seasons</a:t>
            </a:r>
            <a:endParaRPr lang="en-US" sz="700" dirty="0"/>
          </a:p>
        </p:txBody>
      </p:sp>
      <p:sp>
        <p:nvSpPr>
          <p:cNvPr id="33" name="Shape 30"/>
          <p:cNvSpPr/>
          <p:nvPr/>
        </p:nvSpPr>
        <p:spPr>
          <a:xfrm>
            <a:off x="3154680" y="4023360"/>
            <a:ext cx="3108960" cy="731520"/>
          </a:xfrm>
          <a:prstGeom prst="roundRect">
            <a:avLst>
              <a:gd name="adj" fmla="val 7500"/>
            </a:avLst>
          </a:prstGeom>
          <a:solidFill>
            <a:srgbClr val="1B6EA8"/>
          </a:solidFill>
          <a:ln w="12700">
            <a:solidFill>
              <a:srgbClr val="1B6EA8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3154680" y="4059936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E0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MONITORING &amp; OUTPUT</a:t>
            </a:r>
            <a:endParaRPr lang="en-US" sz="750" dirty="0"/>
          </a:p>
        </p:txBody>
      </p:sp>
      <p:sp>
        <p:nvSpPr>
          <p:cNvPr id="35" name="Text 32"/>
          <p:cNvSpPr txBox="1"/>
          <p:nvPr/>
        </p:nvSpPr>
        <p:spPr>
          <a:xfrm>
            <a:off x="3200400" y="4224528"/>
            <a:ext cx="3017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🗺️ GIS dashboard  ·  🔗 GeoJSON API  ·  🔔 Webhook / SMS alerts  ·  👤 Analyst loop  ·  📤 QGIS export</a:t>
            </a:r>
            <a:endParaRPr lang="en-US" sz="700" dirty="0"/>
          </a:p>
        </p:txBody>
      </p:sp>
      <p:sp>
        <p:nvSpPr>
          <p:cNvPr id="36" name="Text 33"/>
          <p:cNvSpPr txBox="1"/>
          <p:nvPr/>
        </p:nvSpPr>
        <p:spPr>
          <a:xfrm>
            <a:off x="4480560" y="1097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🔥</a:t>
            </a:r>
            <a:endParaRPr lang="en-US" sz="1800" dirty="0"/>
          </a:p>
        </p:txBody>
      </p:sp>
      <p:sp>
        <p:nvSpPr>
          <p:cNvPr id="37" name="Text 34"/>
          <p:cNvSpPr txBox="1"/>
          <p:nvPr/>
        </p:nvSpPr>
        <p:spPr>
          <a:xfrm>
            <a:off x="6446520" y="8961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</a:t>
            </a:r>
            <a:endParaRPr lang="en-US" sz="1300" dirty="0"/>
          </a:p>
        </p:txBody>
      </p:sp>
      <p:sp>
        <p:nvSpPr>
          <p:cNvPr id="38" name="Text 35"/>
          <p:cNvSpPr txBox="1"/>
          <p:nvPr/>
        </p:nvSpPr>
        <p:spPr>
          <a:xfrm>
            <a:off x="7543800" y="91440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1000" dirty="0"/>
          </a:p>
        </p:txBody>
      </p:sp>
      <p:sp>
        <p:nvSpPr>
          <p:cNvPr id="39" name="Text 36"/>
          <p:cNvSpPr txBox="1"/>
          <p:nvPr/>
        </p:nvSpPr>
        <p:spPr>
          <a:xfrm>
            <a:off x="7818120" y="8961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</a:t>
            </a:r>
            <a:endParaRPr lang="en-US" sz="1300" dirty="0"/>
          </a:p>
        </p:txBody>
      </p:sp>
      <p:sp>
        <p:nvSpPr>
          <p:cNvPr id="40" name="Shape 37"/>
          <p:cNvSpPr/>
          <p:nvPr/>
        </p:nvSpPr>
        <p:spPr>
          <a:xfrm>
            <a:off x="6400800" y="1207008"/>
            <a:ext cx="1188720" cy="457200"/>
          </a:xfrm>
          <a:prstGeom prst="roundRect">
            <a:avLst>
              <a:gd name="adj" fmla="val 20000"/>
            </a:avLst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35000"/>
              </a:srgbClr>
            </a:outerShdw>
          </a:effectLst>
        </p:spPr>
      </p:sp>
      <p:sp>
        <p:nvSpPr>
          <p:cNvPr id="41" name="Text 38"/>
          <p:cNvSpPr txBox="1"/>
          <p:nvPr/>
        </p:nvSpPr>
        <p:spPr>
          <a:xfrm>
            <a:off x="6446520" y="120700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Identical hotspots, no meaning</a:t>
            </a:r>
            <a:endParaRPr lang="en-US" sz="750" dirty="0"/>
          </a:p>
        </p:txBody>
      </p:sp>
      <p:sp>
        <p:nvSpPr>
          <p:cNvPr id="42" name="Shape 39"/>
          <p:cNvSpPr/>
          <p:nvPr/>
        </p:nvSpPr>
        <p:spPr>
          <a:xfrm>
            <a:off x="7616952" y="1325880"/>
            <a:ext cx="292608" cy="219456"/>
          </a:xfrm>
          <a:prstGeom prst="leftRightArrow">
            <a:avLst/>
          </a:prstGeom>
          <a:solidFill>
            <a:srgbClr val="F5D28A"/>
          </a:solidFill>
          <a:ln w="9525">
            <a:solidFill>
              <a:srgbClr val="B8860B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7936992" y="1207008"/>
            <a:ext cx="1005840" cy="457200"/>
          </a:xfrm>
          <a:prstGeom prst="roundRect">
            <a:avLst>
              <a:gd name="adj" fmla="val 20000"/>
            </a:avLst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35000"/>
              </a:srgbClr>
            </a:outerShdw>
          </a:effectLst>
        </p:spPr>
      </p:sp>
      <p:sp>
        <p:nvSpPr>
          <p:cNvPr id="44" name="Text 41"/>
          <p:cNvSpPr txBox="1"/>
          <p:nvPr/>
        </p:nvSpPr>
        <p:spPr>
          <a:xfrm>
            <a:off x="7973568" y="1207008"/>
            <a:ext cx="932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6-class AI: industrial · flare · mine · crop · wildfire</a:t>
            </a:r>
            <a:endParaRPr lang="en-US" sz="700" dirty="0"/>
          </a:p>
        </p:txBody>
      </p:sp>
      <p:sp>
        <p:nvSpPr>
          <p:cNvPr id="45" name="Shape 42"/>
          <p:cNvSpPr/>
          <p:nvPr/>
        </p:nvSpPr>
        <p:spPr>
          <a:xfrm>
            <a:off x="6400800" y="1847088"/>
            <a:ext cx="1188720" cy="457200"/>
          </a:xfrm>
          <a:prstGeom prst="roundRect">
            <a:avLst>
              <a:gd name="adj" fmla="val 20000"/>
            </a:avLst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35000"/>
              </a:srgbClr>
            </a:outerShdw>
          </a:effectLst>
        </p:spPr>
      </p:sp>
      <p:sp>
        <p:nvSpPr>
          <p:cNvPr id="46" name="Text 43"/>
          <p:cNvSpPr txBox="1"/>
          <p:nvPr/>
        </p:nvSpPr>
        <p:spPr>
          <a:xfrm>
            <a:off x="6446520" y="184708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Real fires hidden in routine heat</a:t>
            </a:r>
            <a:endParaRPr lang="en-US" sz="750" dirty="0"/>
          </a:p>
        </p:txBody>
      </p:sp>
      <p:sp>
        <p:nvSpPr>
          <p:cNvPr id="47" name="Shape 44"/>
          <p:cNvSpPr/>
          <p:nvPr/>
        </p:nvSpPr>
        <p:spPr>
          <a:xfrm>
            <a:off x="7616952" y="1965960"/>
            <a:ext cx="292608" cy="219456"/>
          </a:xfrm>
          <a:prstGeom prst="leftRightArrow">
            <a:avLst/>
          </a:prstGeom>
          <a:solidFill>
            <a:srgbClr val="F5D28A"/>
          </a:solidFill>
          <a:ln w="9525">
            <a:solidFill>
              <a:srgbClr val="B8860B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7936992" y="1847088"/>
            <a:ext cx="1005840" cy="457200"/>
          </a:xfrm>
          <a:prstGeom prst="roundRect">
            <a:avLst>
              <a:gd name="adj" fmla="val 20000"/>
            </a:avLst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35000"/>
              </a:srgbClr>
            </a:outerShdw>
          </a:effectLst>
        </p:spPr>
      </p:sp>
      <p:sp>
        <p:nvSpPr>
          <p:cNvPr id="49" name="Text 46"/>
          <p:cNvSpPr txBox="1"/>
          <p:nvPr/>
        </p:nvSpPr>
        <p:spPr>
          <a:xfrm>
            <a:off x="7973568" y="1847088"/>
            <a:ext cx="932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Alert only when FRP ≫ the site's own baseline</a:t>
            </a:r>
            <a:endParaRPr lang="en-US" sz="700" dirty="0"/>
          </a:p>
        </p:txBody>
      </p:sp>
      <p:sp>
        <p:nvSpPr>
          <p:cNvPr id="50" name="Shape 47"/>
          <p:cNvSpPr/>
          <p:nvPr/>
        </p:nvSpPr>
        <p:spPr>
          <a:xfrm>
            <a:off x="6400800" y="2487168"/>
            <a:ext cx="1188720" cy="457200"/>
          </a:xfrm>
          <a:prstGeom prst="roundRect">
            <a:avLst>
              <a:gd name="adj" fmla="val 20000"/>
            </a:avLst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35000"/>
              </a:srgbClr>
            </a:outerShdw>
          </a:effectLst>
        </p:spPr>
      </p:sp>
      <p:sp>
        <p:nvSpPr>
          <p:cNvPr id="51" name="Text 48"/>
          <p:cNvSpPr txBox="1"/>
          <p:nvPr/>
        </p:nvSpPr>
        <p:spPr>
          <a:xfrm>
            <a:off x="6446520" y="248716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 memory of persistent sources</a:t>
            </a:r>
            <a:endParaRPr lang="en-US" sz="750" dirty="0"/>
          </a:p>
        </p:txBody>
      </p:sp>
      <p:sp>
        <p:nvSpPr>
          <p:cNvPr id="52" name="Shape 49"/>
          <p:cNvSpPr/>
          <p:nvPr/>
        </p:nvSpPr>
        <p:spPr>
          <a:xfrm>
            <a:off x="7616952" y="2606040"/>
            <a:ext cx="292608" cy="219456"/>
          </a:xfrm>
          <a:prstGeom prst="leftRightArrow">
            <a:avLst/>
          </a:prstGeom>
          <a:solidFill>
            <a:srgbClr val="F5D28A"/>
          </a:solidFill>
          <a:ln w="9525">
            <a:solidFill>
              <a:srgbClr val="B8860B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7936992" y="2487168"/>
            <a:ext cx="1005840" cy="457200"/>
          </a:xfrm>
          <a:prstGeom prst="roundRect">
            <a:avLst>
              <a:gd name="adj" fmla="val 20000"/>
            </a:avLst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35000"/>
              </a:srgbClr>
            </a:outerShdw>
          </a:effectLst>
        </p:spPr>
      </p:sp>
      <p:sp>
        <p:nvSpPr>
          <p:cNvPr id="54" name="Text 51"/>
          <p:cNvSpPr txBox="1"/>
          <p:nvPr/>
        </p:nvSpPr>
        <p:spPr>
          <a:xfrm>
            <a:off x="7973568" y="2487168"/>
            <a:ext cx="932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90-day source tracking &amp; registry</a:t>
            </a:r>
            <a:endParaRPr lang="en-US" sz="700" dirty="0"/>
          </a:p>
        </p:txBody>
      </p:sp>
      <p:sp>
        <p:nvSpPr>
          <p:cNvPr id="55" name="Shape 52"/>
          <p:cNvSpPr/>
          <p:nvPr/>
        </p:nvSpPr>
        <p:spPr>
          <a:xfrm>
            <a:off x="6400800" y="3127248"/>
            <a:ext cx="1188720" cy="457200"/>
          </a:xfrm>
          <a:prstGeom prst="roundRect">
            <a:avLst>
              <a:gd name="adj" fmla="val 20000"/>
            </a:avLst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35000"/>
              </a:srgbClr>
            </a:outerShdw>
          </a:effectLst>
        </p:spPr>
      </p:sp>
      <p:sp>
        <p:nvSpPr>
          <p:cNvPr id="56" name="Text 53"/>
          <p:cNvSpPr txBox="1"/>
          <p:nvPr/>
        </p:nvSpPr>
        <p:spPr>
          <a:xfrm>
            <a:off x="6446520" y="312724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Black-box AI mistrusted</a:t>
            </a:r>
            <a:endParaRPr lang="en-US" sz="750" dirty="0"/>
          </a:p>
        </p:txBody>
      </p:sp>
      <p:sp>
        <p:nvSpPr>
          <p:cNvPr id="57" name="Shape 54"/>
          <p:cNvSpPr/>
          <p:nvPr/>
        </p:nvSpPr>
        <p:spPr>
          <a:xfrm>
            <a:off x="7616952" y="3246120"/>
            <a:ext cx="292608" cy="219456"/>
          </a:xfrm>
          <a:prstGeom prst="leftRightArrow">
            <a:avLst/>
          </a:prstGeom>
          <a:solidFill>
            <a:srgbClr val="F5D28A"/>
          </a:solidFill>
          <a:ln w="9525">
            <a:solidFill>
              <a:srgbClr val="B8860B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7936992" y="3127248"/>
            <a:ext cx="1005840" cy="457200"/>
          </a:xfrm>
          <a:prstGeom prst="roundRect">
            <a:avLst>
              <a:gd name="adj" fmla="val 20000"/>
            </a:avLst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35000"/>
              </a:srgbClr>
            </a:outerShdw>
          </a:effectLst>
        </p:spPr>
      </p:sp>
      <p:sp>
        <p:nvSpPr>
          <p:cNvPr id="59" name="Text 56"/>
          <p:cNvSpPr txBox="1"/>
          <p:nvPr/>
        </p:nvSpPr>
        <p:spPr>
          <a:xfrm>
            <a:off x="7973568" y="3127248"/>
            <a:ext cx="932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Every label carries plain reasons</a:t>
            </a:r>
            <a:endParaRPr lang="en-US" sz="700" dirty="0"/>
          </a:p>
        </p:txBody>
      </p:sp>
      <p:pic>
        <p:nvPicPr>
          <p:cNvPr id="60" name="Image 1" descr="preencoded.png">    </p:cNvPr>
          <p:cNvPicPr>
            <a:picLocks noChangeAspect="1"/>
          </p:cNvPicPr>
          <p:nvPr/>
        </p:nvPicPr>
        <p:blipFill>
          <a:blip r:embed="rId4"/>
          <a:srcRect l="0" r="0" t="15789" b="-15789"/>
          <a:stretch/>
        </p:blipFill>
        <p:spPr>
          <a:xfrm>
            <a:off x="6400800" y="3794760"/>
            <a:ext cx="2542032" cy="868680"/>
          </a:xfrm>
          <a:prstGeom prst="rect">
            <a:avLst/>
          </a:prstGeom>
        </p:spPr>
      </p:pic>
      <p:sp>
        <p:nvSpPr>
          <p:cNvPr id="61" name="Text 57"/>
          <p:cNvSpPr txBox="1"/>
          <p:nvPr/>
        </p:nvSpPr>
        <p:spPr>
          <a:xfrm>
            <a:off x="6400800" y="4663440"/>
            <a:ext cx="2542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prototype — GIS dashboard</a:t>
            </a:r>
            <a:endParaRPr lang="en-US" sz="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109728"/>
            <a:ext cx="1051560" cy="56692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386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82880" y="109728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 Orbit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91440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TECHNICAL APPROACH</a:t>
            </a:r>
            <a:endParaRPr lang="en-US" sz="26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0" y="45720"/>
            <a:ext cx="1691640" cy="7955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@SIH Idea submission- Template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8046720" y="4846320"/>
            <a:ext cx="8229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182880" y="86868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7B2D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METHODOLOGY &amp; PROCESS OF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7B2D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1078992" y="2039112"/>
            <a:ext cx="1316736" cy="13167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9CA3AF"/>
            </a:solidFill>
            <a:prstDash val="dash"/>
          </a:ln>
        </p:spPr>
      </p:sp>
      <p:sp>
        <p:nvSpPr>
          <p:cNvPr id="11" name="Shape 8"/>
          <p:cNvSpPr/>
          <p:nvPr/>
        </p:nvSpPr>
        <p:spPr>
          <a:xfrm>
            <a:off x="1527048" y="1828800"/>
            <a:ext cx="420624" cy="420624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527048" y="18288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🛰️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1097280" y="141732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</a:t>
            </a:r>
            <a:endParaRPr lang="en-US" sz="850" dirty="0"/>
          </a:p>
        </p:txBody>
      </p:sp>
      <p:sp>
        <p:nvSpPr>
          <p:cNvPr id="14" name="Text 11"/>
          <p:cNvSpPr txBox="1"/>
          <p:nvPr/>
        </p:nvSpPr>
        <p:spPr>
          <a:xfrm>
            <a:off x="1097280" y="1581912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FIRMS data</a:t>
            </a:r>
            <a:endParaRPr lang="en-US" sz="650" dirty="0"/>
          </a:p>
        </p:txBody>
      </p:sp>
      <p:sp>
        <p:nvSpPr>
          <p:cNvPr id="15" name="Shape 12"/>
          <p:cNvSpPr/>
          <p:nvPr/>
        </p:nvSpPr>
        <p:spPr>
          <a:xfrm>
            <a:off x="2097211" y="2157984"/>
            <a:ext cx="420624" cy="420624"/>
          </a:xfrm>
          <a:prstGeom prst="ellipse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2097211" y="21579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🔗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2581843" y="2185416"/>
            <a:ext cx="70999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</a:t>
            </a:r>
            <a:endParaRPr lang="en-US" sz="850" dirty="0"/>
          </a:p>
        </p:txBody>
      </p:sp>
      <p:sp>
        <p:nvSpPr>
          <p:cNvPr id="18" name="Text 15"/>
          <p:cNvSpPr txBox="1"/>
          <p:nvPr/>
        </p:nvSpPr>
        <p:spPr>
          <a:xfrm>
            <a:off x="2581843" y="2350008"/>
            <a:ext cx="70999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DBSCAN sources</a:t>
            </a:r>
            <a:endParaRPr lang="en-US" sz="650" dirty="0"/>
          </a:p>
        </p:txBody>
      </p:sp>
      <p:sp>
        <p:nvSpPr>
          <p:cNvPr id="19" name="Shape 16"/>
          <p:cNvSpPr/>
          <p:nvPr/>
        </p:nvSpPr>
        <p:spPr>
          <a:xfrm>
            <a:off x="2097211" y="2816352"/>
            <a:ext cx="420624" cy="420624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2097211" y="28163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⏱️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2581843" y="2843784"/>
            <a:ext cx="70999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</a:t>
            </a:r>
            <a:endParaRPr lang="en-US" sz="850" dirty="0"/>
          </a:p>
        </p:txBody>
      </p:sp>
      <p:sp>
        <p:nvSpPr>
          <p:cNvPr id="22" name="Text 19"/>
          <p:cNvSpPr txBox="1"/>
          <p:nvPr/>
        </p:nvSpPr>
        <p:spPr>
          <a:xfrm>
            <a:off x="2581843" y="3008376"/>
            <a:ext cx="70999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90-day baseline</a:t>
            </a:r>
            <a:endParaRPr lang="en-US" sz="650" dirty="0"/>
          </a:p>
        </p:txBody>
      </p:sp>
      <p:sp>
        <p:nvSpPr>
          <p:cNvPr id="23" name="Shape 20"/>
          <p:cNvSpPr/>
          <p:nvPr/>
        </p:nvSpPr>
        <p:spPr>
          <a:xfrm>
            <a:off x="1527048" y="3145536"/>
            <a:ext cx="420624" cy="420624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1527048" y="31455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🗺️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1097280" y="3602736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</a:t>
            </a:r>
            <a:endParaRPr lang="en-US" sz="850" dirty="0"/>
          </a:p>
        </p:txBody>
      </p:sp>
      <p:sp>
        <p:nvSpPr>
          <p:cNvPr id="26" name="Text 23"/>
          <p:cNvSpPr txBox="1"/>
          <p:nvPr/>
        </p:nvSpPr>
        <p:spPr>
          <a:xfrm>
            <a:off x="1097280" y="376732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OSM + land use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956885" y="2816352"/>
            <a:ext cx="420624" cy="42062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956885" y="28163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🤖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182880" y="2843784"/>
            <a:ext cx="70999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Classify</a:t>
            </a:r>
            <a:endParaRPr lang="en-US" sz="850" dirty="0"/>
          </a:p>
        </p:txBody>
      </p:sp>
      <p:sp>
        <p:nvSpPr>
          <p:cNvPr id="30" name="Text 27"/>
          <p:cNvSpPr txBox="1"/>
          <p:nvPr/>
        </p:nvSpPr>
        <p:spPr>
          <a:xfrm>
            <a:off x="182880" y="3008376"/>
            <a:ext cx="70999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 + GBM</a:t>
            </a:r>
            <a:endParaRPr lang="en-US" sz="650" dirty="0"/>
          </a:p>
        </p:txBody>
      </p:sp>
      <p:sp>
        <p:nvSpPr>
          <p:cNvPr id="31" name="Shape 28"/>
          <p:cNvSpPr/>
          <p:nvPr/>
        </p:nvSpPr>
        <p:spPr>
          <a:xfrm>
            <a:off x="956885" y="2157984"/>
            <a:ext cx="420624" cy="420624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956885" y="21579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📡</a:t>
            </a:r>
            <a:endParaRPr lang="en-US" sz="1300" dirty="0"/>
          </a:p>
        </p:txBody>
      </p:sp>
      <p:sp>
        <p:nvSpPr>
          <p:cNvPr id="33" name="Text 30"/>
          <p:cNvSpPr txBox="1"/>
          <p:nvPr/>
        </p:nvSpPr>
        <p:spPr>
          <a:xfrm>
            <a:off x="182880" y="2185416"/>
            <a:ext cx="70999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</a:t>
            </a:r>
            <a:endParaRPr lang="en-US" sz="850" dirty="0"/>
          </a:p>
        </p:txBody>
      </p:sp>
      <p:sp>
        <p:nvSpPr>
          <p:cNvPr id="34" name="Text 31"/>
          <p:cNvSpPr txBox="1"/>
          <p:nvPr/>
        </p:nvSpPr>
        <p:spPr>
          <a:xfrm>
            <a:off x="182880" y="2350008"/>
            <a:ext cx="70999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GIS · alerts</a:t>
            </a:r>
            <a:endParaRPr lang="en-US" sz="650" dirty="0"/>
          </a:p>
        </p:txBody>
      </p:sp>
      <p:sp>
        <p:nvSpPr>
          <p:cNvPr id="35" name="Text 32"/>
          <p:cNvSpPr txBox="1"/>
          <p:nvPr/>
        </p:nvSpPr>
        <p:spPr>
          <a:xfrm>
            <a:off x="1463040" y="2423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🔥</a:t>
            </a:r>
            <a:endParaRPr lang="en-US" sz="2200" dirty="0"/>
          </a:p>
        </p:txBody>
      </p:sp>
      <p:sp>
        <p:nvSpPr>
          <p:cNvPr id="36" name="Shape 33"/>
          <p:cNvSpPr/>
          <p:nvPr/>
        </p:nvSpPr>
        <p:spPr>
          <a:xfrm>
            <a:off x="137160" y="4041648"/>
            <a:ext cx="1463040" cy="758952"/>
          </a:xfrm>
          <a:prstGeom prst="cloud">
            <a:avLst/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400507" y="4208617"/>
            <a:ext cx="936346" cy="4250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u="sng" dirty="0">
                <a:solidFill>
                  <a:srgbClr val="1A0DAB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Report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u="sng" dirty="0">
                <a:solidFill>
                  <a:srgbClr val="1A0DAB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2148840" y="41148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 flipV="1">
            <a:off x="1645920" y="4315968"/>
            <a:ext cx="457200" cy="9144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40" name="Shape 37"/>
          <p:cNvSpPr/>
          <p:nvPr/>
        </p:nvSpPr>
        <p:spPr>
          <a:xfrm>
            <a:off x="3429000" y="896112"/>
            <a:ext cx="2834640" cy="1783080"/>
          </a:xfrm>
          <a:prstGeom prst="roundRect">
            <a:avLst>
              <a:gd name="adj" fmla="val 1538"/>
            </a:avLst>
          </a:prstGeom>
          <a:solidFill>
            <a:srgbClr val="F8FAFC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3593592" y="1005840"/>
            <a:ext cx="457200" cy="45720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3593592" y="1005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🛰️</a:t>
            </a:r>
            <a:endParaRPr lang="en-US" sz="1400" dirty="0"/>
          </a:p>
        </p:txBody>
      </p:sp>
      <p:sp>
        <p:nvSpPr>
          <p:cNvPr id="43" name="Text 40"/>
          <p:cNvSpPr txBox="1"/>
          <p:nvPr/>
        </p:nvSpPr>
        <p:spPr>
          <a:xfrm>
            <a:off x="3465576" y="1517904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VIIRS 375 m</a:t>
            </a:r>
            <a:endParaRPr lang="en-US" sz="580" dirty="0"/>
          </a:p>
          <a:p>
            <a:pPr algn="ctr" indent="0" marL="0">
              <a:buNone/>
            </a:pPr>
            <a:r>
              <a:rPr lang="en-US" sz="5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MODIS 1 km</a:t>
            </a:r>
            <a:endParaRPr lang="en-US" sz="580" dirty="0"/>
          </a:p>
        </p:txBody>
      </p:sp>
      <p:sp>
        <p:nvSpPr>
          <p:cNvPr id="44" name="Shape 41"/>
          <p:cNvSpPr/>
          <p:nvPr/>
        </p:nvSpPr>
        <p:spPr>
          <a:xfrm>
            <a:off x="4069080" y="1234440"/>
            <a:ext cx="128016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45" name="Shape 42"/>
          <p:cNvSpPr/>
          <p:nvPr/>
        </p:nvSpPr>
        <p:spPr>
          <a:xfrm>
            <a:off x="4288536" y="1005840"/>
            <a:ext cx="457200" cy="457200"/>
          </a:xfrm>
          <a:prstGeom prst="ellipse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4288536" y="1005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📥</a:t>
            </a:r>
            <a:endParaRPr lang="en-US" sz="1400" dirty="0"/>
          </a:p>
        </p:txBody>
      </p:sp>
      <p:sp>
        <p:nvSpPr>
          <p:cNvPr id="47" name="Text 44"/>
          <p:cNvSpPr txBox="1"/>
          <p:nvPr/>
        </p:nvSpPr>
        <p:spPr>
          <a:xfrm>
            <a:off x="4160520" y="1517904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NASA FIRMS API</a:t>
            </a:r>
            <a:endParaRPr lang="en-US" sz="580" dirty="0"/>
          </a:p>
          <a:p>
            <a:pPr algn="ctr" indent="0" marL="0">
              <a:buNone/>
            </a:pPr>
            <a:r>
              <a:rPr lang="en-US" sz="5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≤ 3 h latency</a:t>
            </a:r>
            <a:endParaRPr lang="en-US" sz="580" dirty="0"/>
          </a:p>
        </p:txBody>
      </p:sp>
      <p:sp>
        <p:nvSpPr>
          <p:cNvPr id="48" name="Shape 45"/>
          <p:cNvSpPr/>
          <p:nvPr/>
        </p:nvSpPr>
        <p:spPr>
          <a:xfrm>
            <a:off x="4764024" y="1234440"/>
            <a:ext cx="128016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49" name="Shape 46"/>
          <p:cNvSpPr/>
          <p:nvPr/>
        </p:nvSpPr>
        <p:spPr>
          <a:xfrm>
            <a:off x="4983480" y="1005840"/>
            <a:ext cx="457200" cy="457200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4983480" y="1005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⚙️</a:t>
            </a:r>
            <a:endParaRPr lang="en-US" sz="1400" dirty="0"/>
          </a:p>
        </p:txBody>
      </p:sp>
      <p:sp>
        <p:nvSpPr>
          <p:cNvPr id="51" name="Text 48"/>
          <p:cNvSpPr txBox="1"/>
          <p:nvPr/>
        </p:nvSpPr>
        <p:spPr>
          <a:xfrm>
            <a:off x="4855464" y="1517904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ThermalSentinel</a:t>
            </a:r>
            <a:endParaRPr lang="en-US" sz="580" dirty="0"/>
          </a:p>
          <a:p>
            <a:pPr algn="ctr" indent="0" marL="0">
              <a:buNone/>
            </a:pPr>
            <a:r>
              <a:rPr lang="en-US" sz="5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</a:t>
            </a:r>
            <a:endParaRPr lang="en-US" sz="580" dirty="0"/>
          </a:p>
        </p:txBody>
      </p:sp>
      <p:sp>
        <p:nvSpPr>
          <p:cNvPr id="52" name="Shape 49"/>
          <p:cNvSpPr/>
          <p:nvPr/>
        </p:nvSpPr>
        <p:spPr>
          <a:xfrm>
            <a:off x="5458968" y="1234440"/>
            <a:ext cx="128016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53" name="Shape 50"/>
          <p:cNvSpPr/>
          <p:nvPr/>
        </p:nvSpPr>
        <p:spPr>
          <a:xfrm>
            <a:off x="5678424" y="1005840"/>
            <a:ext cx="457200" cy="457200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5678424" y="1005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🗺️</a:t>
            </a:r>
            <a:endParaRPr lang="en-US" sz="1400" dirty="0"/>
          </a:p>
        </p:txBody>
      </p:sp>
      <p:sp>
        <p:nvSpPr>
          <p:cNvPr id="55" name="Text 52"/>
          <p:cNvSpPr txBox="1"/>
          <p:nvPr/>
        </p:nvSpPr>
        <p:spPr>
          <a:xfrm>
            <a:off x="5550408" y="1517904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GIS · registry</a:t>
            </a:r>
            <a:endParaRPr lang="en-US" sz="580" dirty="0"/>
          </a:p>
          <a:p>
            <a:pPr algn="ctr" indent="0" marL="0">
              <a:buNone/>
            </a:pPr>
            <a:r>
              <a:rPr lang="en-US" sz="5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alerts</a:t>
            </a:r>
            <a:endParaRPr lang="en-US" sz="580" dirty="0"/>
          </a:p>
        </p:txBody>
      </p:sp>
      <p:sp>
        <p:nvSpPr>
          <p:cNvPr id="56" name="Shape 53"/>
          <p:cNvSpPr/>
          <p:nvPr/>
        </p:nvSpPr>
        <p:spPr>
          <a:xfrm>
            <a:off x="3520440" y="2011680"/>
            <a:ext cx="2651760" cy="603504"/>
          </a:xfrm>
          <a:prstGeom prst="roundRect">
            <a:avLst>
              <a:gd name="adj" fmla="val 6061"/>
            </a:avLst>
          </a:prstGeom>
          <a:solidFill>
            <a:srgbClr val="EFF6FF"/>
          </a:solidFill>
          <a:ln w="9525">
            <a:solidFill>
              <a:srgbClr val="BFDBFE"/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3584448" y="2011680"/>
            <a:ext cx="25420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core: </a:t>
            </a:r>
            <a:pPr indent="0" marL="0">
              <a:buNone/>
            </a:pPr>
            <a:r>
              <a:rPr lang="en-US" sz="6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 features · haversine DBSCAN 750 m · per-source FRP μ/σ · OSM facility type + distance · land cover · India burn-season priors → explainable rules + gradient-boosted trees; anomaly when FRP ≥ 2.5 μ and z ≥ 3.</a:t>
            </a:r>
            <a:endParaRPr lang="en-US" sz="650" dirty="0"/>
          </a:p>
        </p:txBody>
      </p:sp>
      <p:pic>
        <p:nvPicPr>
          <p:cNvPr id="58" name="Image 1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2788920"/>
            <a:ext cx="2834640" cy="1591056"/>
          </a:xfrm>
          <a:prstGeom prst="rect">
            <a:avLst/>
          </a:prstGeom>
        </p:spPr>
      </p:pic>
      <p:sp>
        <p:nvSpPr>
          <p:cNvPr id="59" name="Text 55"/>
          <p:cNvSpPr txBox="1"/>
          <p:nvPr/>
        </p:nvSpPr>
        <p:spPr>
          <a:xfrm>
            <a:off x="3429000" y="440740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prototype: 22,179 detections · 114 persistent sources · 138 alerts · GeoJSON export</a:t>
            </a:r>
            <a:endParaRPr lang="en-US" sz="650" dirty="0"/>
          </a:p>
        </p:txBody>
      </p:sp>
      <p:sp>
        <p:nvSpPr>
          <p:cNvPr id="60" name="Text 56"/>
          <p:cNvSpPr txBox="1"/>
          <p:nvPr/>
        </p:nvSpPr>
        <p:spPr>
          <a:xfrm>
            <a:off x="6400800" y="8686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B2D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TECHNOLOGIES USED</a:t>
            </a:r>
            <a:endParaRPr lang="en-US" sz="1300" dirty="0"/>
          </a:p>
        </p:txBody>
      </p:sp>
      <p:sp>
        <p:nvSpPr>
          <p:cNvPr id="61" name="Shape 57"/>
          <p:cNvSpPr/>
          <p:nvPr/>
        </p:nvSpPr>
        <p:spPr>
          <a:xfrm>
            <a:off x="6629400" y="1261872"/>
            <a:ext cx="2331720" cy="603504"/>
          </a:xfrm>
          <a:prstGeom prst="roundRect">
            <a:avLst>
              <a:gd name="adj" fmla="val 30303"/>
            </a:avLst>
          </a:prstGeom>
          <a:solidFill>
            <a:srgbClr val="6B7A1E"/>
          </a:solidFill>
          <a:ln w="12700">
            <a:solidFill>
              <a:srgbClr val="6B7A1E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35000"/>
              </a:srgbClr>
            </a:outerShdw>
          </a:effectLst>
        </p:spPr>
      </p:sp>
      <p:sp>
        <p:nvSpPr>
          <p:cNvPr id="62" name="Shape 58"/>
          <p:cNvSpPr/>
          <p:nvPr/>
        </p:nvSpPr>
        <p:spPr>
          <a:xfrm>
            <a:off x="6382512" y="1335024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B7A1E"/>
            </a:solidFill>
            <a:prstDash val="solid"/>
          </a:ln>
        </p:spPr>
      </p:sp>
      <p:sp>
        <p:nvSpPr>
          <p:cNvPr id="63" name="Text 59"/>
          <p:cNvSpPr txBox="1"/>
          <p:nvPr/>
        </p:nvSpPr>
        <p:spPr>
          <a:xfrm>
            <a:off x="6382512" y="13350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🛰️</a:t>
            </a:r>
            <a:endParaRPr lang="en-US" sz="1300" dirty="0"/>
          </a:p>
        </p:txBody>
      </p:sp>
      <p:sp>
        <p:nvSpPr>
          <p:cNvPr id="64" name="Text 60"/>
          <p:cNvSpPr txBox="1"/>
          <p:nvPr/>
        </p:nvSpPr>
        <p:spPr>
          <a:xfrm>
            <a:off x="6903720" y="130759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E0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950" dirty="0"/>
          </a:p>
        </p:txBody>
      </p:sp>
      <p:sp>
        <p:nvSpPr>
          <p:cNvPr id="65" name="Text 61"/>
          <p:cNvSpPr txBox="1"/>
          <p:nvPr/>
        </p:nvSpPr>
        <p:spPr>
          <a:xfrm>
            <a:off x="6903720" y="150876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NASA FIRMS (VIIRS 375 m, MODIS), OpenStreetMap Overpass, Copernicus Sentinel-2, NASA Worldview</a:t>
            </a:r>
            <a:endParaRPr lang="en-US" sz="650" dirty="0"/>
          </a:p>
        </p:txBody>
      </p:sp>
      <p:sp>
        <p:nvSpPr>
          <p:cNvPr id="66" name="Shape 62"/>
          <p:cNvSpPr/>
          <p:nvPr/>
        </p:nvSpPr>
        <p:spPr>
          <a:xfrm>
            <a:off x="6629400" y="1975104"/>
            <a:ext cx="2331720" cy="603504"/>
          </a:xfrm>
          <a:prstGeom prst="roundRect">
            <a:avLst>
              <a:gd name="adj" fmla="val 30303"/>
            </a:avLst>
          </a:prstGeom>
          <a:solidFill>
            <a:srgbClr val="8B5A2B"/>
          </a:solidFill>
          <a:ln w="12700">
            <a:solidFill>
              <a:srgbClr val="8B5A2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35000"/>
              </a:srgbClr>
            </a:outerShdw>
          </a:effectLst>
        </p:spPr>
      </p:sp>
      <p:sp>
        <p:nvSpPr>
          <p:cNvPr id="67" name="Shape 63"/>
          <p:cNvSpPr/>
          <p:nvPr/>
        </p:nvSpPr>
        <p:spPr>
          <a:xfrm>
            <a:off x="6382512" y="2048256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8B5A2B"/>
            </a:solidFill>
            <a:prstDash val="solid"/>
          </a:ln>
        </p:spPr>
      </p:sp>
      <p:sp>
        <p:nvSpPr>
          <p:cNvPr id="68" name="Text 64"/>
          <p:cNvSpPr txBox="1"/>
          <p:nvPr/>
        </p:nvSpPr>
        <p:spPr>
          <a:xfrm>
            <a:off x="6382512" y="20482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🤖</a:t>
            </a:r>
            <a:endParaRPr lang="en-US" sz="1300" dirty="0"/>
          </a:p>
        </p:txBody>
      </p:sp>
      <p:sp>
        <p:nvSpPr>
          <p:cNvPr id="69" name="Text 65"/>
          <p:cNvSpPr txBox="1"/>
          <p:nvPr/>
        </p:nvSpPr>
        <p:spPr>
          <a:xfrm>
            <a:off x="6903720" y="202082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E0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/ ML</a:t>
            </a:r>
            <a:endParaRPr lang="en-US" sz="950" dirty="0"/>
          </a:p>
        </p:txBody>
      </p:sp>
      <p:sp>
        <p:nvSpPr>
          <p:cNvPr id="70" name="Text 66"/>
          <p:cNvSpPr txBox="1"/>
          <p:nvPr/>
        </p:nvSpPr>
        <p:spPr>
          <a:xfrm>
            <a:off x="6903720" y="222199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· scikit-learn (DBSCAN, HistGradientBoosting) · rule engine · shapely STRtree</a:t>
            </a:r>
            <a:endParaRPr lang="en-US" sz="650" dirty="0"/>
          </a:p>
        </p:txBody>
      </p:sp>
      <p:sp>
        <p:nvSpPr>
          <p:cNvPr id="71" name="Shape 67"/>
          <p:cNvSpPr/>
          <p:nvPr/>
        </p:nvSpPr>
        <p:spPr>
          <a:xfrm>
            <a:off x="6629400" y="2688336"/>
            <a:ext cx="2331720" cy="603504"/>
          </a:xfrm>
          <a:prstGeom prst="roundRect">
            <a:avLst>
              <a:gd name="adj" fmla="val 30303"/>
            </a:avLst>
          </a:prstGeom>
          <a:solidFill>
            <a:srgbClr val="7B2D26"/>
          </a:solidFill>
          <a:ln w="12700">
            <a:solidFill>
              <a:srgbClr val="7B2D26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35000"/>
              </a:srgbClr>
            </a:outerShdw>
          </a:effectLst>
        </p:spPr>
      </p:sp>
      <p:sp>
        <p:nvSpPr>
          <p:cNvPr id="72" name="Shape 68"/>
          <p:cNvSpPr/>
          <p:nvPr/>
        </p:nvSpPr>
        <p:spPr>
          <a:xfrm>
            <a:off x="6382512" y="2761488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7B2D26"/>
            </a:solidFill>
            <a:prstDash val="solid"/>
          </a:ln>
        </p:spPr>
      </p:sp>
      <p:sp>
        <p:nvSpPr>
          <p:cNvPr id="73" name="Text 69"/>
          <p:cNvSpPr txBox="1"/>
          <p:nvPr/>
        </p:nvSpPr>
        <p:spPr>
          <a:xfrm>
            <a:off x="6382512" y="2761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🗄️</a:t>
            </a:r>
            <a:endParaRPr lang="en-US" sz="1300" dirty="0"/>
          </a:p>
        </p:txBody>
      </p:sp>
      <p:sp>
        <p:nvSpPr>
          <p:cNvPr id="74" name="Text 70"/>
          <p:cNvSpPr txBox="1"/>
          <p:nvPr/>
        </p:nvSpPr>
        <p:spPr>
          <a:xfrm>
            <a:off x="6903720" y="273405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E0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950" dirty="0"/>
          </a:p>
        </p:txBody>
      </p:sp>
      <p:sp>
        <p:nvSpPr>
          <p:cNvPr id="75" name="Text 71"/>
          <p:cNvSpPr txBox="1"/>
          <p:nvPr/>
        </p:nvSpPr>
        <p:spPr>
          <a:xfrm>
            <a:off x="6903720" y="2935224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REST (GeoJSON) · SQLite → PostGIS · OGC-standard exports</a:t>
            </a:r>
            <a:endParaRPr lang="en-US" sz="650" dirty="0"/>
          </a:p>
        </p:txBody>
      </p:sp>
      <p:sp>
        <p:nvSpPr>
          <p:cNvPr id="76" name="Shape 72"/>
          <p:cNvSpPr/>
          <p:nvPr/>
        </p:nvSpPr>
        <p:spPr>
          <a:xfrm>
            <a:off x="6629400" y="3401568"/>
            <a:ext cx="2331720" cy="603504"/>
          </a:xfrm>
          <a:prstGeom prst="roundRect">
            <a:avLst>
              <a:gd name="adj" fmla="val 30303"/>
            </a:avLst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35000"/>
              </a:srgbClr>
            </a:outerShdw>
          </a:effectLst>
        </p:spPr>
      </p:sp>
      <p:sp>
        <p:nvSpPr>
          <p:cNvPr id="77" name="Shape 73"/>
          <p:cNvSpPr/>
          <p:nvPr/>
        </p:nvSpPr>
        <p:spPr>
          <a:xfrm>
            <a:off x="6382512" y="347472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D28D9"/>
            </a:solidFill>
            <a:prstDash val="solid"/>
          </a:ln>
        </p:spPr>
      </p:sp>
      <p:sp>
        <p:nvSpPr>
          <p:cNvPr id="78" name="Text 74"/>
          <p:cNvSpPr txBox="1"/>
          <p:nvPr/>
        </p:nvSpPr>
        <p:spPr>
          <a:xfrm>
            <a:off x="6382512" y="3474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🗺️</a:t>
            </a:r>
            <a:endParaRPr lang="en-US" sz="1300" dirty="0"/>
          </a:p>
        </p:txBody>
      </p:sp>
      <p:sp>
        <p:nvSpPr>
          <p:cNvPr id="79" name="Text 75"/>
          <p:cNvSpPr txBox="1"/>
          <p:nvPr/>
        </p:nvSpPr>
        <p:spPr>
          <a:xfrm>
            <a:off x="6903720" y="344728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E0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950" dirty="0"/>
          </a:p>
        </p:txBody>
      </p:sp>
      <p:sp>
        <p:nvSpPr>
          <p:cNvPr id="80" name="Text 76"/>
          <p:cNvSpPr txBox="1"/>
          <p:nvPr/>
        </p:nvSpPr>
        <p:spPr>
          <a:xfrm>
            <a:off x="6903720" y="3648456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18 + Vite · Leaflet canvas renderer (40 k+ points) · deep-link views</a:t>
            </a:r>
            <a:endParaRPr lang="en-US" sz="650" dirty="0"/>
          </a:p>
        </p:txBody>
      </p:sp>
      <p:sp>
        <p:nvSpPr>
          <p:cNvPr id="81" name="Shape 77"/>
          <p:cNvSpPr/>
          <p:nvPr/>
        </p:nvSpPr>
        <p:spPr>
          <a:xfrm>
            <a:off x="6629400" y="4114800"/>
            <a:ext cx="2331720" cy="603504"/>
          </a:xfrm>
          <a:prstGeom prst="roundRect">
            <a:avLst>
              <a:gd name="adj" fmla="val 30303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35000"/>
              </a:srgbClr>
            </a:outerShdw>
          </a:effectLst>
        </p:spPr>
      </p:sp>
      <p:sp>
        <p:nvSpPr>
          <p:cNvPr id="82" name="Shape 78"/>
          <p:cNvSpPr/>
          <p:nvPr/>
        </p:nvSpPr>
        <p:spPr>
          <a:xfrm>
            <a:off x="6382512" y="4187952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F766E"/>
            </a:solidFill>
            <a:prstDash val="solid"/>
          </a:ln>
        </p:spPr>
      </p:sp>
      <p:sp>
        <p:nvSpPr>
          <p:cNvPr id="83" name="Text 79"/>
          <p:cNvSpPr txBox="1"/>
          <p:nvPr/>
        </p:nvSpPr>
        <p:spPr>
          <a:xfrm>
            <a:off x="6382512" y="4187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☁️</a:t>
            </a:r>
            <a:endParaRPr lang="en-US" sz="1300" dirty="0"/>
          </a:p>
        </p:txBody>
      </p:sp>
      <p:sp>
        <p:nvSpPr>
          <p:cNvPr id="84" name="Text 80"/>
          <p:cNvSpPr txBox="1"/>
          <p:nvPr/>
        </p:nvSpPr>
        <p:spPr>
          <a:xfrm>
            <a:off x="6903720" y="416052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E0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</a:t>
            </a:r>
            <a:endParaRPr lang="en-US" sz="950" dirty="0"/>
          </a:p>
        </p:txBody>
      </p:sp>
      <p:sp>
        <p:nvSpPr>
          <p:cNvPr id="85" name="Text 81"/>
          <p:cNvSpPr txBox="1"/>
          <p:nvPr/>
        </p:nvSpPr>
        <p:spPr>
          <a:xfrm>
            <a:off x="6903720" y="436168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Pages demo · one Linux VM / NIC cloud / air-gapped server · Docker-ready</a:t>
            </a:r>
            <a:endParaRPr lang="en-US" sz="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109728"/>
            <a:ext cx="1051560" cy="56692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386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82880" y="109728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 Orbit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91440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FEASIBILITY AND VIABILITY</a:t>
            </a:r>
            <a:endParaRPr lang="en-US" sz="26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0" y="45720"/>
            <a:ext cx="1691640" cy="7955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@SIH Idea submission- Template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8046720" y="4846320"/>
            <a:ext cx="8229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265176" y="932688"/>
            <a:ext cx="2788920" cy="3127248"/>
          </a:xfrm>
          <a:prstGeom prst="roundRect">
            <a:avLst>
              <a:gd name="adj" fmla="val 984"/>
            </a:avLst>
          </a:prstGeom>
          <a:solidFill>
            <a:srgbClr val="5C4A32"/>
          </a:solidFill>
          <a:ln w="12700">
            <a:solidFill>
              <a:srgbClr val="5C4A3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28600" y="896112"/>
            <a:ext cx="2788920" cy="3127248"/>
          </a:xfrm>
          <a:prstGeom prst="roundRect">
            <a:avLst>
              <a:gd name="adj" fmla="val 984"/>
            </a:avLst>
          </a:prstGeom>
          <a:solidFill>
            <a:srgbClr val="B08D57"/>
          </a:solidFill>
          <a:ln w="12700">
            <a:solidFill>
              <a:srgbClr val="B08D5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715768" y="914400"/>
            <a:ext cx="109728" cy="274320"/>
          </a:xfrm>
          <a:prstGeom prst="line">
            <a:avLst/>
          </a:prstGeom>
          <a:noFill/>
          <a:ln w="19050">
            <a:solidFill>
              <a:srgbClr val="4B556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660904" y="786384"/>
            <a:ext cx="219456" cy="219456"/>
          </a:xfrm>
          <a:prstGeom prst="ellipse">
            <a:avLst/>
          </a:prstGeom>
          <a:solidFill>
            <a:srgbClr val="DC2626"/>
          </a:solidFill>
          <a:ln w="9525">
            <a:solidFill>
              <a:srgbClr val="7F1D1D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20040" y="969264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FEASIBILITY ANALYSIS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320040" y="1243584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★★★★½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356616" y="1572768"/>
            <a:ext cx="254203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u="sng" dirty="0">
                <a:solidFill>
                  <a:srgbClr val="FFF7E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Working prototype: </a:t>
            </a:r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22 k detections classified in 7 s on a laptop; public demo live on GitHub Pages.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356616" y="2194560"/>
            <a:ext cx="254203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u="sng" dirty="0">
                <a:solidFill>
                  <a:srgbClr val="FFF7E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Open data only: </a:t>
            </a:r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FIRMS key issued instantly, OSM Overpass, Copernicus — ₹0 licences, no procurement.</a:t>
            </a:r>
            <a:endParaRPr lang="en-US" sz="900" dirty="0"/>
          </a:p>
        </p:txBody>
      </p:sp>
      <p:sp>
        <p:nvSpPr>
          <p:cNvPr id="17" name="Text 14"/>
          <p:cNvSpPr txBox="1"/>
          <p:nvPr/>
        </p:nvSpPr>
        <p:spPr>
          <a:xfrm>
            <a:off x="356616" y="2816352"/>
            <a:ext cx="254203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u="sng" dirty="0">
                <a:solidFill>
                  <a:srgbClr val="FFF7E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Light footprint: </a:t>
            </a:r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FastAPI + SQLite + React on one VM, NIC cloud or an air-gapped NTRO server.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356616" y="3438144"/>
            <a:ext cx="254203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u="sng" dirty="0">
                <a:solidFill>
                  <a:srgbClr val="FFF7E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Live in one switch: </a:t>
            </a:r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one env variable moves the same pipeline from archive to near-real-time FIRMS.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3191256" y="932688"/>
            <a:ext cx="2788920" cy="3127248"/>
          </a:xfrm>
          <a:prstGeom prst="roundRect">
            <a:avLst>
              <a:gd name="adj" fmla="val 984"/>
            </a:avLst>
          </a:prstGeom>
          <a:solidFill>
            <a:srgbClr val="5C4A32"/>
          </a:solidFill>
          <a:ln w="12700">
            <a:solidFill>
              <a:srgbClr val="5C4A32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3154680" y="896112"/>
            <a:ext cx="2788920" cy="3127248"/>
          </a:xfrm>
          <a:prstGeom prst="roundRect">
            <a:avLst>
              <a:gd name="adj" fmla="val 984"/>
            </a:avLst>
          </a:prstGeom>
          <a:solidFill>
            <a:srgbClr val="7A7A7A"/>
          </a:solidFill>
          <a:ln w="12700">
            <a:solidFill>
              <a:srgbClr val="7A7A7A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641848" y="914400"/>
            <a:ext cx="109728" cy="274320"/>
          </a:xfrm>
          <a:prstGeom prst="line">
            <a:avLst/>
          </a:prstGeom>
          <a:noFill/>
          <a:ln w="19050">
            <a:solidFill>
              <a:srgbClr val="4B5563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586984" y="786384"/>
            <a:ext cx="219456" cy="219456"/>
          </a:xfrm>
          <a:prstGeom prst="ellipse">
            <a:avLst/>
          </a:prstGeom>
          <a:solidFill>
            <a:srgbClr val="B91C1C"/>
          </a:solidFill>
          <a:ln w="9525">
            <a:solidFill>
              <a:srgbClr val="7F1D1D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3246120" y="969264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VIABILITY</a:t>
            </a:r>
            <a:endParaRPr lang="en-US" sz="1250" dirty="0"/>
          </a:p>
        </p:txBody>
      </p:sp>
      <p:sp>
        <p:nvSpPr>
          <p:cNvPr id="24" name="Text 21"/>
          <p:cNvSpPr txBox="1"/>
          <p:nvPr/>
        </p:nvSpPr>
        <p:spPr>
          <a:xfrm>
            <a:off x="3246120" y="1243584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</a:t>
            </a:r>
            <a:endParaRPr lang="en-US" sz="1800" dirty="0"/>
          </a:p>
        </p:txBody>
      </p:sp>
      <p:sp>
        <p:nvSpPr>
          <p:cNvPr id="25" name="Text 22"/>
          <p:cNvSpPr txBox="1"/>
          <p:nvPr/>
        </p:nvSpPr>
        <p:spPr>
          <a:xfrm>
            <a:off x="3282696" y="1572768"/>
            <a:ext cx="254203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u="sng" dirty="0">
                <a:solidFill>
                  <a:srgbClr val="FFF7E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Proven signals: </a:t>
            </a:r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persistence + OSM context + physics separate the classes — 99.9 % hybrid / 98.4 % rules on the labelled 90-day archive.</a:t>
            </a:r>
            <a:endParaRPr lang="en-US" sz="900" dirty="0"/>
          </a:p>
        </p:txBody>
      </p:sp>
      <p:sp>
        <p:nvSpPr>
          <p:cNvPr id="26" name="Text 23"/>
          <p:cNvSpPr txBox="1"/>
          <p:nvPr/>
        </p:nvSpPr>
        <p:spPr>
          <a:xfrm>
            <a:off x="3282696" y="2194560"/>
            <a:ext cx="254203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u="sng" dirty="0">
                <a:solidFill>
                  <a:srgbClr val="FFF7E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Trusted by design: </a:t>
            </a:r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every label shows reasons; analysts confirm or override and their labels retrain the model.</a:t>
            </a:r>
            <a:endParaRPr lang="en-US" sz="900" dirty="0"/>
          </a:p>
        </p:txBody>
      </p:sp>
      <p:sp>
        <p:nvSpPr>
          <p:cNvPr id="27" name="Text 24"/>
          <p:cNvSpPr txBox="1"/>
          <p:nvPr/>
        </p:nvSpPr>
        <p:spPr>
          <a:xfrm>
            <a:off x="3282696" y="2816352"/>
            <a:ext cx="254203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u="sng" dirty="0">
                <a:solidFill>
                  <a:srgbClr val="FFF7E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Scales: </a:t>
            </a:r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OSM queried only around hotspot cells; PostGIS + tiles path for national, multi-year archives.</a:t>
            </a:r>
            <a:endParaRPr lang="en-US" sz="900" dirty="0"/>
          </a:p>
        </p:txBody>
      </p:sp>
      <p:sp>
        <p:nvSpPr>
          <p:cNvPr id="28" name="Text 25"/>
          <p:cNvSpPr txBox="1"/>
          <p:nvPr/>
        </p:nvSpPr>
        <p:spPr>
          <a:xfrm>
            <a:off x="3282696" y="3438144"/>
            <a:ext cx="254203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u="sng" dirty="0">
                <a:solidFill>
                  <a:srgbClr val="FFF7E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Risks handled: </a:t>
            </a:r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OSM gaps → curated list + WorldCover; clouds → 90-day, 3-satellite window; false alarms → baseline-relative thresholds.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6117336" y="932688"/>
            <a:ext cx="2788920" cy="3127248"/>
          </a:xfrm>
          <a:prstGeom prst="roundRect">
            <a:avLst>
              <a:gd name="adj" fmla="val 984"/>
            </a:avLst>
          </a:prstGeom>
          <a:solidFill>
            <a:srgbClr val="5C4A32"/>
          </a:solidFill>
          <a:ln w="12700">
            <a:solidFill>
              <a:srgbClr val="5C4A32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080760" y="896112"/>
            <a:ext cx="2788920" cy="3127248"/>
          </a:xfrm>
          <a:prstGeom prst="roundRect">
            <a:avLst>
              <a:gd name="adj" fmla="val 984"/>
            </a:avLst>
          </a:prstGeom>
          <a:solidFill>
            <a:srgbClr val="B08D57"/>
          </a:solidFill>
          <a:ln w="12700">
            <a:solidFill>
              <a:srgbClr val="B08D57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8567928" y="914400"/>
            <a:ext cx="109728" cy="274320"/>
          </a:xfrm>
          <a:prstGeom prst="line">
            <a:avLst/>
          </a:prstGeom>
          <a:noFill/>
          <a:ln w="19050">
            <a:solidFill>
              <a:srgbClr val="4B5563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8513064" y="786384"/>
            <a:ext cx="219456" cy="219456"/>
          </a:xfrm>
          <a:prstGeom prst="ellipse">
            <a:avLst/>
          </a:prstGeom>
          <a:solidFill>
            <a:srgbClr val="DC2626"/>
          </a:solidFill>
          <a:ln w="9525">
            <a:solidFill>
              <a:srgbClr val="7F1D1D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6172200" y="969264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BUSINESS &amp; DEPLOYMENT</a:t>
            </a:r>
            <a:endParaRPr lang="en-US" sz="1250" dirty="0"/>
          </a:p>
        </p:txBody>
      </p:sp>
      <p:sp>
        <p:nvSpPr>
          <p:cNvPr id="34" name="Text 31"/>
          <p:cNvSpPr txBox="1"/>
          <p:nvPr/>
        </p:nvSpPr>
        <p:spPr>
          <a:xfrm>
            <a:off x="6172200" y="1243584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3C4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💼</a:t>
            </a:r>
            <a:endParaRPr lang="en-US" sz="1800" dirty="0"/>
          </a:p>
        </p:txBody>
      </p:sp>
      <p:sp>
        <p:nvSpPr>
          <p:cNvPr id="35" name="Text 32"/>
          <p:cNvSpPr txBox="1"/>
          <p:nvPr/>
        </p:nvSpPr>
        <p:spPr>
          <a:xfrm>
            <a:off x="6208776" y="1572768"/>
            <a:ext cx="254203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u="sng" dirty="0">
                <a:solidFill>
                  <a:srgbClr val="FFF7E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Government: </a:t>
            </a:r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SDMA control rooms, NTRO source registry, CPCB fire attribution — ≈ ₹3–5 k / month per deployment.</a:t>
            </a:r>
            <a:endParaRPr lang="en-US" sz="900" dirty="0"/>
          </a:p>
        </p:txBody>
      </p:sp>
      <p:sp>
        <p:nvSpPr>
          <p:cNvPr id="36" name="Text 33"/>
          <p:cNvSpPr txBox="1"/>
          <p:nvPr/>
        </p:nvSpPr>
        <p:spPr>
          <a:xfrm>
            <a:off x="6208776" y="2194560"/>
            <a:ext cx="254203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u="sng" dirty="0">
                <a:solidFill>
                  <a:srgbClr val="FFF7E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Industry &amp; insurers: </a:t>
            </a:r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site-monitoring subscriptions and verified incident evidence for claims and compliance.</a:t>
            </a:r>
            <a:endParaRPr lang="en-US" sz="900" dirty="0"/>
          </a:p>
        </p:txBody>
      </p:sp>
      <p:sp>
        <p:nvSpPr>
          <p:cNvPr id="37" name="Text 34"/>
          <p:cNvSpPr txBox="1"/>
          <p:nvPr/>
        </p:nvSpPr>
        <p:spPr>
          <a:xfrm>
            <a:off x="6208776" y="2816352"/>
            <a:ext cx="254203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u="sng" dirty="0">
                <a:solidFill>
                  <a:srgbClr val="FFF7E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Integration: </a:t>
            </a:r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GeoJSON layers for Bhuvan / NDEM, QGIS, ArcGIS — no new GIS needed.</a:t>
            </a:r>
            <a:endParaRPr lang="en-US" sz="900" dirty="0"/>
          </a:p>
        </p:txBody>
      </p:sp>
      <p:sp>
        <p:nvSpPr>
          <p:cNvPr id="38" name="Text 35"/>
          <p:cNvSpPr txBox="1"/>
          <p:nvPr/>
        </p:nvSpPr>
        <p:spPr>
          <a:xfrm>
            <a:off x="6208776" y="3438144"/>
            <a:ext cx="254203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u="sng" dirty="0">
                <a:solidFill>
                  <a:srgbClr val="FFF7E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Roadmap: </a:t>
            </a:r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4-week live pilot + validation on real incidents → finale: alerts, Sentinel-2 chip CNN → agency SOP.</a:t>
            </a:r>
            <a:endParaRPr lang="en-US" sz="900" dirty="0"/>
          </a:p>
        </p:txBody>
      </p:sp>
      <p:sp>
        <p:nvSpPr>
          <p:cNvPr id="39" name="Shape 36"/>
          <p:cNvSpPr/>
          <p:nvPr/>
        </p:nvSpPr>
        <p:spPr>
          <a:xfrm>
            <a:off x="228600" y="4114800"/>
            <a:ext cx="8686800" cy="658368"/>
          </a:xfrm>
          <a:prstGeom prst="roundRect">
            <a:avLst>
              <a:gd name="adj" fmla="val 5556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640080" y="4443984"/>
            <a:ext cx="786384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</a:ln>
        </p:spPr>
      </p:sp>
      <p:sp>
        <p:nvSpPr>
          <p:cNvPr id="41" name="Shape 38"/>
          <p:cNvSpPr/>
          <p:nvPr/>
        </p:nvSpPr>
        <p:spPr>
          <a:xfrm>
            <a:off x="822960" y="4370832"/>
            <a:ext cx="146304" cy="146304"/>
          </a:xfrm>
          <a:prstGeom prst="ellipse">
            <a:avLst/>
          </a:prstGeom>
          <a:solidFill>
            <a:srgbClr val="2BB673"/>
          </a:solidFill>
          <a:ln w="12700">
            <a:solidFill>
              <a:srgbClr val="2BB673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1024128" y="416966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BB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Idea + prototype</a:t>
            </a:r>
            <a:endParaRPr lang="en-US" sz="800" dirty="0"/>
          </a:p>
        </p:txBody>
      </p:sp>
      <p:sp>
        <p:nvSpPr>
          <p:cNvPr id="43" name="Text 40"/>
          <p:cNvSpPr txBox="1"/>
          <p:nvPr/>
        </p:nvSpPr>
        <p:spPr>
          <a:xfrm>
            <a:off x="1024128" y="450799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 · live demo</a:t>
            </a:r>
            <a:endParaRPr lang="en-US" sz="700" dirty="0"/>
          </a:p>
        </p:txBody>
      </p:sp>
      <p:sp>
        <p:nvSpPr>
          <p:cNvPr id="44" name="Shape 41"/>
          <p:cNvSpPr/>
          <p:nvPr/>
        </p:nvSpPr>
        <p:spPr>
          <a:xfrm>
            <a:off x="2880360" y="4370832"/>
            <a:ext cx="146304" cy="146304"/>
          </a:xfrm>
          <a:prstGeom prst="ellipse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3081528" y="416966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4 weeks</a:t>
            </a:r>
            <a:endParaRPr lang="en-US" sz="800" dirty="0"/>
          </a:p>
        </p:txBody>
      </p:sp>
      <p:sp>
        <p:nvSpPr>
          <p:cNvPr id="46" name="Text 43"/>
          <p:cNvSpPr txBox="1"/>
          <p:nvPr/>
        </p:nvSpPr>
        <p:spPr>
          <a:xfrm>
            <a:off x="3081528" y="450799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FIRMS pilot · validation</a:t>
            </a:r>
            <a:endParaRPr lang="en-US" sz="700" dirty="0"/>
          </a:p>
        </p:txBody>
      </p:sp>
      <p:sp>
        <p:nvSpPr>
          <p:cNvPr id="47" name="Shape 44"/>
          <p:cNvSpPr/>
          <p:nvPr/>
        </p:nvSpPr>
        <p:spPr>
          <a:xfrm>
            <a:off x="4937760" y="4370832"/>
            <a:ext cx="146304" cy="146304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5138928" y="416966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Grand finale</a:t>
            </a:r>
            <a:endParaRPr lang="en-US" sz="800" dirty="0"/>
          </a:p>
        </p:txBody>
      </p:sp>
      <p:sp>
        <p:nvSpPr>
          <p:cNvPr id="49" name="Text 46"/>
          <p:cNvSpPr txBox="1"/>
          <p:nvPr/>
        </p:nvSpPr>
        <p:spPr>
          <a:xfrm>
            <a:off x="5138928" y="450799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PostGIS · alerts · Sentinel-2 CNN</a:t>
            </a:r>
            <a:endParaRPr lang="en-US" sz="700" dirty="0"/>
          </a:p>
        </p:txBody>
      </p:sp>
      <p:sp>
        <p:nvSpPr>
          <p:cNvPr id="50" name="Shape 47"/>
          <p:cNvSpPr/>
          <p:nvPr/>
        </p:nvSpPr>
        <p:spPr>
          <a:xfrm>
            <a:off x="6995160" y="4370832"/>
            <a:ext cx="146304" cy="146304"/>
          </a:xfrm>
          <a:prstGeom prst="ellipse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7196328" y="416966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</a:t>
            </a:r>
            <a:endParaRPr lang="en-US" sz="800" dirty="0"/>
          </a:p>
        </p:txBody>
      </p:sp>
      <p:sp>
        <p:nvSpPr>
          <p:cNvPr id="52" name="Text 49"/>
          <p:cNvSpPr txBox="1"/>
          <p:nvPr/>
        </p:nvSpPr>
        <p:spPr>
          <a:xfrm>
            <a:off x="7196328" y="450799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Bhuvan / NDEM · SDMA SOP</a:t>
            </a:r>
            <a:endParaRPr lang="en-US" sz="700" dirty="0"/>
          </a:p>
        </p:txBody>
      </p:sp>
      <p:sp>
        <p:nvSpPr>
          <p:cNvPr id="53" name="Text 50"/>
          <p:cNvSpPr txBox="1"/>
          <p:nvPr/>
        </p:nvSpPr>
        <p:spPr>
          <a:xfrm>
            <a:off x="8412480" y="42245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🛰️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109728"/>
            <a:ext cx="1051560" cy="56692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386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82880" y="109728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 Orbit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91440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IMPACT AND BENEFITS</a:t>
            </a:r>
            <a:endParaRPr lang="en-US" sz="26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0" y="45720"/>
            <a:ext cx="1691640" cy="7955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@SIH Idea submission- Template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8046720" y="4846320"/>
            <a:ext cx="8229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1325880" y="1645920"/>
            <a:ext cx="2377440" cy="23774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9CA3AF"/>
            </a:solidFill>
            <a:prstDash val="dash"/>
          </a:ln>
        </p:spPr>
      </p:sp>
      <p:sp>
        <p:nvSpPr>
          <p:cNvPr id="10" name="Shape 7"/>
          <p:cNvSpPr/>
          <p:nvPr/>
        </p:nvSpPr>
        <p:spPr>
          <a:xfrm>
            <a:off x="2039112" y="2359152"/>
            <a:ext cx="950976" cy="95097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514600" y="2423160"/>
            <a:ext cx="0" cy="82296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2057400" y="2724912"/>
            <a:ext cx="438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B08D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IMPACTS</a:t>
            </a:r>
            <a:endParaRPr lang="en-US" sz="650" dirty="0"/>
          </a:p>
        </p:txBody>
      </p:sp>
      <p:sp>
        <p:nvSpPr>
          <p:cNvPr id="13" name="Text 10"/>
          <p:cNvSpPr txBox="1"/>
          <p:nvPr/>
        </p:nvSpPr>
        <p:spPr>
          <a:xfrm>
            <a:off x="2532888" y="272491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E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BENEFITS</a:t>
            </a:r>
            <a:endParaRPr lang="en-US" sz="650" dirty="0"/>
          </a:p>
        </p:txBody>
      </p:sp>
      <p:sp>
        <p:nvSpPr>
          <p:cNvPr id="14" name="Shape 11"/>
          <p:cNvSpPr/>
          <p:nvPr/>
        </p:nvSpPr>
        <p:spPr>
          <a:xfrm>
            <a:off x="1782794" y="1611327"/>
            <a:ext cx="347472" cy="347472"/>
          </a:xfrm>
          <a:prstGeom prst="ellipse">
            <a:avLst/>
          </a:prstGeom>
          <a:solidFill>
            <a:srgbClr val="D9C7A6"/>
          </a:solidFill>
          <a:ln w="12700">
            <a:solidFill>
              <a:srgbClr val="8B7355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1782794" y="1611327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B2F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137160" y="1510743"/>
            <a:ext cx="154505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b="1" u="sng" dirty="0">
                <a:solidFill>
                  <a:srgbClr val="1E5AA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Faster response</a:t>
            </a:r>
            <a:endParaRPr lang="en-US" sz="950" dirty="0"/>
          </a:p>
        </p:txBody>
      </p:sp>
      <p:sp>
        <p:nvSpPr>
          <p:cNvPr id="17" name="Text 14"/>
          <p:cNvSpPr txBox="1"/>
          <p:nvPr/>
        </p:nvSpPr>
        <p:spPr>
          <a:xfrm>
            <a:off x="137160" y="1711911"/>
            <a:ext cx="154505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Alerts only on abnormal industrial heat — the right plant, sooner.</a:t>
            </a:r>
            <a:endParaRPr lang="en-US" sz="700" dirty="0"/>
          </a:p>
        </p:txBody>
      </p:sp>
      <p:sp>
        <p:nvSpPr>
          <p:cNvPr id="18" name="Shape 15"/>
          <p:cNvSpPr/>
          <p:nvPr/>
        </p:nvSpPr>
        <p:spPr>
          <a:xfrm>
            <a:off x="1231098" y="2234905"/>
            <a:ext cx="347472" cy="347472"/>
          </a:xfrm>
          <a:prstGeom prst="ellipse">
            <a:avLst/>
          </a:prstGeom>
          <a:solidFill>
            <a:srgbClr val="D9C7A6"/>
          </a:solidFill>
          <a:ln w="12700">
            <a:solidFill>
              <a:srgbClr val="8B7355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1231098" y="2234905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B2F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137160" y="2134321"/>
            <a:ext cx="99335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b="1" u="sng" dirty="0">
                <a:solidFill>
                  <a:srgbClr val="1E5AA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99 % less triage</a:t>
            </a:r>
            <a:endParaRPr lang="en-US" sz="950" dirty="0"/>
          </a:p>
        </p:txBody>
      </p:sp>
      <p:sp>
        <p:nvSpPr>
          <p:cNvPr id="21" name="Text 18"/>
          <p:cNvSpPr txBox="1"/>
          <p:nvPr/>
        </p:nvSpPr>
        <p:spPr>
          <a:xfrm>
            <a:off x="137160" y="2335489"/>
            <a:ext cx="99335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Only 138 of 22,179 detections reach an operator.</a:t>
            </a:r>
            <a:endParaRPr lang="en-US" sz="700" dirty="0"/>
          </a:p>
        </p:txBody>
      </p:sp>
      <p:sp>
        <p:nvSpPr>
          <p:cNvPr id="22" name="Shape 19"/>
          <p:cNvSpPr/>
          <p:nvPr/>
        </p:nvSpPr>
        <p:spPr>
          <a:xfrm>
            <a:off x="1231098" y="3086903"/>
            <a:ext cx="347472" cy="347472"/>
          </a:xfrm>
          <a:prstGeom prst="ellipse">
            <a:avLst/>
          </a:prstGeom>
          <a:solidFill>
            <a:srgbClr val="D9C7A6"/>
          </a:solidFill>
          <a:ln w="12700">
            <a:solidFill>
              <a:srgbClr val="8B7355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1231098" y="3086903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B2F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137160" y="2986319"/>
            <a:ext cx="99335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b="1" u="sng" dirty="0">
                <a:solidFill>
                  <a:srgbClr val="1E5AA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National registry</a:t>
            </a:r>
            <a:endParaRPr lang="en-US" sz="950" dirty="0"/>
          </a:p>
        </p:txBody>
      </p:sp>
      <p:sp>
        <p:nvSpPr>
          <p:cNvPr id="25" name="Text 22"/>
          <p:cNvSpPr txBox="1"/>
          <p:nvPr/>
        </p:nvSpPr>
        <p:spPr>
          <a:xfrm>
            <a:off x="137160" y="3187487"/>
            <a:ext cx="99335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Persistent thermal sources with 90-day history for NTRO.</a:t>
            </a:r>
            <a:endParaRPr lang="en-US" sz="700" dirty="0"/>
          </a:p>
        </p:txBody>
      </p:sp>
      <p:sp>
        <p:nvSpPr>
          <p:cNvPr id="26" name="Shape 23"/>
          <p:cNvSpPr/>
          <p:nvPr/>
        </p:nvSpPr>
        <p:spPr>
          <a:xfrm>
            <a:off x="1782794" y="3710481"/>
            <a:ext cx="347472" cy="347472"/>
          </a:xfrm>
          <a:prstGeom prst="ellipse">
            <a:avLst/>
          </a:prstGeom>
          <a:solidFill>
            <a:srgbClr val="D9C7A6"/>
          </a:solidFill>
          <a:ln w="12700">
            <a:solidFill>
              <a:srgbClr val="8B7355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1782794" y="3710481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B2F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28" name="Text 25"/>
          <p:cNvSpPr txBox="1"/>
          <p:nvPr/>
        </p:nvSpPr>
        <p:spPr>
          <a:xfrm>
            <a:off x="137160" y="3609897"/>
            <a:ext cx="154505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b="1" u="sng" dirty="0">
                <a:solidFill>
                  <a:srgbClr val="1E5AA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Standing watch</a:t>
            </a:r>
            <a:endParaRPr lang="en-US" sz="950" dirty="0"/>
          </a:p>
        </p:txBody>
      </p:sp>
      <p:sp>
        <p:nvSpPr>
          <p:cNvPr id="29" name="Text 26"/>
          <p:cNvSpPr txBox="1"/>
          <p:nvPr/>
        </p:nvSpPr>
        <p:spPr>
          <a:xfrm>
            <a:off x="137160" y="3811065"/>
            <a:ext cx="154505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Coal-seam fires &amp; gas flares (Jharia, Barmer) monitored daily.</a:t>
            </a:r>
            <a:endParaRPr lang="en-US" sz="700" dirty="0"/>
          </a:p>
        </p:txBody>
      </p:sp>
      <p:sp>
        <p:nvSpPr>
          <p:cNvPr id="30" name="Shape 27"/>
          <p:cNvSpPr/>
          <p:nvPr/>
        </p:nvSpPr>
        <p:spPr>
          <a:xfrm>
            <a:off x="2898934" y="1611327"/>
            <a:ext cx="347472" cy="347472"/>
          </a:xfrm>
          <a:prstGeom prst="ellipse">
            <a:avLst/>
          </a:prstGeom>
          <a:solidFill>
            <a:srgbClr val="1E5AA8"/>
          </a:solidFill>
          <a:ln w="12700">
            <a:solidFill>
              <a:srgbClr val="1E5AA8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2898934" y="1611327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3346990" y="1510743"/>
            <a:ext cx="168221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u="sng" dirty="0">
                <a:solidFill>
                  <a:srgbClr val="6B72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Safety</a:t>
            </a:r>
            <a:endParaRPr lang="en-US" sz="950" dirty="0"/>
          </a:p>
        </p:txBody>
      </p:sp>
      <p:sp>
        <p:nvSpPr>
          <p:cNvPr id="33" name="Text 30"/>
          <p:cNvSpPr txBox="1"/>
          <p:nvPr/>
        </p:nvSpPr>
        <p:spPr>
          <a:xfrm>
            <a:off x="3346990" y="1711911"/>
            <a:ext cx="168221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Communities near refineries, steel &amp; chemical plants warned earlier.</a:t>
            </a:r>
            <a:endParaRPr lang="en-US" sz="700" dirty="0"/>
          </a:p>
        </p:txBody>
      </p:sp>
      <p:sp>
        <p:nvSpPr>
          <p:cNvPr id="34" name="Shape 31"/>
          <p:cNvSpPr/>
          <p:nvPr/>
        </p:nvSpPr>
        <p:spPr>
          <a:xfrm>
            <a:off x="3450630" y="2234905"/>
            <a:ext cx="347472" cy="347472"/>
          </a:xfrm>
          <a:prstGeom prst="ellipse">
            <a:avLst/>
          </a:prstGeom>
          <a:solidFill>
            <a:srgbClr val="1E5AA8"/>
          </a:solidFill>
          <a:ln w="12700">
            <a:solidFill>
              <a:srgbClr val="1E5AA8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3450630" y="2234905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36" name="Text 33"/>
          <p:cNvSpPr txBox="1"/>
          <p:nvPr/>
        </p:nvSpPr>
        <p:spPr>
          <a:xfrm>
            <a:off x="3898686" y="2134321"/>
            <a:ext cx="113051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u="sng" dirty="0">
                <a:solidFill>
                  <a:srgbClr val="6B72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Economic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3898686" y="2335489"/>
            <a:ext cx="113051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₹0 data, one VM; losses cut by early detection.</a:t>
            </a:r>
            <a:endParaRPr lang="en-US" sz="700" dirty="0"/>
          </a:p>
        </p:txBody>
      </p:sp>
      <p:sp>
        <p:nvSpPr>
          <p:cNvPr id="38" name="Shape 35"/>
          <p:cNvSpPr/>
          <p:nvPr/>
        </p:nvSpPr>
        <p:spPr>
          <a:xfrm>
            <a:off x="3450630" y="3086903"/>
            <a:ext cx="347472" cy="347472"/>
          </a:xfrm>
          <a:prstGeom prst="ellipse">
            <a:avLst/>
          </a:prstGeom>
          <a:solidFill>
            <a:srgbClr val="1E5AA8"/>
          </a:solidFill>
          <a:ln w="12700">
            <a:solidFill>
              <a:srgbClr val="1E5AA8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3450630" y="3086903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40" name="Text 37"/>
          <p:cNvSpPr txBox="1"/>
          <p:nvPr/>
        </p:nvSpPr>
        <p:spPr>
          <a:xfrm>
            <a:off x="3898686" y="2986319"/>
            <a:ext cx="113051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u="sng" dirty="0">
                <a:solidFill>
                  <a:srgbClr val="6B72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Environmental</a:t>
            </a:r>
            <a:endParaRPr lang="en-US" sz="950" dirty="0"/>
          </a:p>
        </p:txBody>
      </p:sp>
      <p:sp>
        <p:nvSpPr>
          <p:cNvPr id="41" name="Text 38"/>
          <p:cNvSpPr txBox="1"/>
          <p:nvPr/>
        </p:nvSpPr>
        <p:spPr>
          <a:xfrm>
            <a:off x="3898686" y="3187487"/>
            <a:ext cx="113051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Stubble burning vs industry attribution; flaring &amp; coal-fire inventories.</a:t>
            </a:r>
            <a:endParaRPr lang="en-US" sz="700" dirty="0"/>
          </a:p>
        </p:txBody>
      </p:sp>
      <p:sp>
        <p:nvSpPr>
          <p:cNvPr id="42" name="Shape 39"/>
          <p:cNvSpPr/>
          <p:nvPr/>
        </p:nvSpPr>
        <p:spPr>
          <a:xfrm>
            <a:off x="2898934" y="3710481"/>
            <a:ext cx="347472" cy="347472"/>
          </a:xfrm>
          <a:prstGeom prst="ellipse">
            <a:avLst/>
          </a:prstGeom>
          <a:solidFill>
            <a:srgbClr val="1E5AA8"/>
          </a:solidFill>
          <a:ln w="12700">
            <a:solidFill>
              <a:srgbClr val="1E5AA8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2898934" y="3710481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44" name="Text 41"/>
          <p:cNvSpPr txBox="1"/>
          <p:nvPr/>
        </p:nvSpPr>
        <p:spPr>
          <a:xfrm>
            <a:off x="3346990" y="3609897"/>
            <a:ext cx="168221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u="sng" dirty="0">
                <a:solidFill>
                  <a:srgbClr val="6B72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Strategic</a:t>
            </a:r>
            <a:endParaRPr lang="en-US" sz="950" dirty="0"/>
          </a:p>
        </p:txBody>
      </p:sp>
      <p:sp>
        <p:nvSpPr>
          <p:cNvPr id="45" name="Text 42"/>
          <p:cNvSpPr txBox="1"/>
          <p:nvPr/>
        </p:nvSpPr>
        <p:spPr>
          <a:xfrm>
            <a:off x="3346990" y="3811065"/>
            <a:ext cx="168221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Explainable, sovereign, Bhuvan / NDEM-ready.</a:t>
            </a:r>
            <a:endParaRPr lang="en-US" sz="700" dirty="0"/>
          </a:p>
        </p:txBody>
      </p:sp>
      <p:sp>
        <p:nvSpPr>
          <p:cNvPr id="46" name="Shape 43"/>
          <p:cNvSpPr/>
          <p:nvPr/>
        </p:nvSpPr>
        <p:spPr>
          <a:xfrm>
            <a:off x="5138928" y="896112"/>
            <a:ext cx="73152" cy="3886200"/>
          </a:xfrm>
          <a:prstGeom prst="rect">
            <a:avLst/>
          </a:prstGeom>
          <a:solidFill>
            <a:srgbClr val="4B5563"/>
          </a:solidFill>
          <a:ln w="12700">
            <a:solidFill>
              <a:srgbClr val="4B5563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5349240" y="896112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Control-room workload — FIRMS today vs with ThermalSentinel</a:t>
            </a:r>
            <a:endParaRPr lang="en-US" sz="850" dirty="0"/>
          </a:p>
        </p:txBody>
      </p:sp>
      <p:graphicFrame>
        <p:nvGraphicFramePr>
          <p:cNvPr id="48" name="Chart 0" descr=""/>
          <p:cNvGraphicFramePr/>
          <p:nvPr/>
        </p:nvGraphicFramePr>
        <p:xfrm>
          <a:off x="5303520" y="1115568"/>
          <a:ext cx="3611880" cy="1874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9" name="Text 45"/>
          <p:cNvSpPr txBox="1"/>
          <p:nvPr/>
        </p:nvSpPr>
        <p:spPr>
          <a:xfrm>
            <a:off x="5349240" y="2990088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Measured on the labelled 90-day archive (22,179 detections).</a:t>
            </a:r>
            <a:endParaRPr lang="en-US" sz="600" dirty="0"/>
          </a:p>
        </p:txBody>
      </p:sp>
      <p:sp>
        <p:nvSpPr>
          <p:cNvPr id="50" name="Text 46"/>
          <p:cNvSpPr txBox="1"/>
          <p:nvPr/>
        </p:nvSpPr>
        <p:spPr>
          <a:xfrm>
            <a:off x="5349240" y="324612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hot pixels to actionable alerts  →</a:t>
            </a:r>
            <a:endParaRPr lang="en-US" sz="1050" dirty="0"/>
          </a:p>
        </p:txBody>
      </p:sp>
      <p:pic>
        <p:nvPicPr>
          <p:cNvPr id="5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9240" y="3520440"/>
            <a:ext cx="1737360" cy="978408"/>
          </a:xfrm>
          <a:prstGeom prst="rect">
            <a:avLst/>
          </a:prstGeom>
        </p:spPr>
      </p:pic>
      <p:pic>
        <p:nvPicPr>
          <p:cNvPr id="52" name="Image 2" descr="preencoded.png">    </p:cNvPr>
          <p:cNvPicPr>
            <a:picLocks noChangeAspect="1"/>
          </p:cNvPicPr>
          <p:nvPr/>
        </p:nvPicPr>
        <p:blipFill>
          <a:blip r:embed="rId4"/>
          <a:srcRect l="61000" r="1000" t="7117" b="54804"/>
          <a:stretch/>
        </p:blipFill>
        <p:spPr>
          <a:xfrm>
            <a:off x="7178040" y="3520440"/>
            <a:ext cx="1737360" cy="978408"/>
          </a:xfrm>
          <a:prstGeom prst="rect">
            <a:avLst/>
          </a:prstGeom>
        </p:spPr>
      </p:pic>
      <p:sp>
        <p:nvSpPr>
          <p:cNvPr id="53" name="Text 47"/>
          <p:cNvSpPr txBox="1"/>
          <p:nvPr/>
        </p:nvSpPr>
        <p:spPr>
          <a:xfrm>
            <a:off x="5349240" y="4526280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crop-burn season, Punjab (green = agri)</a:t>
            </a:r>
            <a:endParaRPr lang="en-US" sz="600" dirty="0"/>
          </a:p>
        </p:txBody>
      </p:sp>
      <p:sp>
        <p:nvSpPr>
          <p:cNvPr id="54" name="Text 48"/>
          <p:cNvSpPr txBox="1"/>
          <p:nvPr/>
        </p:nvSpPr>
        <p:spPr>
          <a:xfrm>
            <a:off x="7178040" y="4526280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Jamnagar: 86 active days · ⚠ 207 MW spike</a:t>
            </a:r>
            <a:endParaRPr lang="en-US" sz="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109728"/>
            <a:ext cx="1051560" cy="56692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386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82880" y="109728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 Orbit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91440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RESEARCH AND REFERENCES</a:t>
            </a:r>
            <a:endParaRPr lang="en-US" sz="26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0" y="45720"/>
            <a:ext cx="1691640" cy="7955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@SIH Idea submission- Template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8046720" y="4846320"/>
            <a:ext cx="8229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274320" y="1078992"/>
            <a:ext cx="8595360" cy="0"/>
          </a:xfrm>
          <a:prstGeom prst="line">
            <a:avLst/>
          </a:prstGeom>
          <a:noFill/>
          <a:ln w="12700">
            <a:solidFill>
              <a:srgbClr val="C9A97C"/>
            </a:solidFill>
            <a:prstDash val="dash"/>
            <a:tailEnd type="triangle"/>
          </a:ln>
        </p:spPr>
      </p:sp>
      <p:sp>
        <p:nvSpPr>
          <p:cNvPr id="10" name="Text 7"/>
          <p:cNvSpPr txBox="1"/>
          <p:nvPr/>
        </p:nvSpPr>
        <p:spPr>
          <a:xfrm>
            <a:off x="228600" y="86868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hotspot data source</a:t>
            </a:r>
            <a:endParaRPr lang="en-US" sz="650" dirty="0"/>
          </a:p>
        </p:txBody>
      </p:sp>
      <p:sp>
        <p:nvSpPr>
          <p:cNvPr id="11" name="Shape 8"/>
          <p:cNvSpPr/>
          <p:nvPr/>
        </p:nvSpPr>
        <p:spPr>
          <a:xfrm>
            <a:off x="274320" y="1170432"/>
            <a:ext cx="1170432" cy="1234440"/>
          </a:xfrm>
          <a:prstGeom prst="hexagon">
            <a:avLst/>
          </a:prstGeom>
          <a:solidFill>
            <a:srgbClr val="C9A97C"/>
          </a:solidFill>
          <a:ln w="12700">
            <a:solidFill>
              <a:srgbClr val="C9A97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47472" y="1261872"/>
            <a:ext cx="10241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NASA FIRMS: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Active-fire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Area API</a:t>
            </a:r>
            <a:endParaRPr lang="en-US" sz="750" dirty="0"/>
          </a:p>
        </p:txBody>
      </p:sp>
      <p:sp>
        <p:nvSpPr>
          <p:cNvPr id="13" name="Text 10"/>
          <p:cNvSpPr txBox="1"/>
          <p:nvPr/>
        </p:nvSpPr>
        <p:spPr>
          <a:xfrm>
            <a:off x="402336" y="20116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u="sng" dirty="0">
                <a:solidFill>
                  <a:srgbClr val="1A0DAB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1463040" y="86868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375 m sensor science</a:t>
            </a:r>
            <a:endParaRPr lang="en-US" sz="650" dirty="0"/>
          </a:p>
        </p:txBody>
      </p:sp>
      <p:sp>
        <p:nvSpPr>
          <p:cNvPr id="15" name="Shape 12"/>
          <p:cNvSpPr/>
          <p:nvPr/>
        </p:nvSpPr>
        <p:spPr>
          <a:xfrm>
            <a:off x="1508760" y="1170432"/>
            <a:ext cx="1170432" cy="1234440"/>
          </a:xfrm>
          <a:prstGeom prst="hexagon">
            <a:avLst/>
          </a:prstGeom>
          <a:solidFill>
            <a:srgbClr val="C9A97C"/>
          </a:solidFill>
          <a:ln w="12700">
            <a:solidFill>
              <a:srgbClr val="C9A97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581912" y="1261872"/>
            <a:ext cx="10241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Schroeder 2014: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VIIRS 375 m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 product</a:t>
            </a:r>
            <a:endParaRPr lang="en-US" sz="750" dirty="0"/>
          </a:p>
        </p:txBody>
      </p:sp>
      <p:sp>
        <p:nvSpPr>
          <p:cNvPr id="17" name="Text 14"/>
          <p:cNvSpPr txBox="1"/>
          <p:nvPr/>
        </p:nvSpPr>
        <p:spPr>
          <a:xfrm>
            <a:off x="1636776" y="20116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u="sng" dirty="0">
                <a:solidFill>
                  <a:srgbClr val="1A0DAB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2697480" y="86868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flare signatures</a:t>
            </a:r>
            <a:endParaRPr lang="en-US" sz="650" dirty="0"/>
          </a:p>
        </p:txBody>
      </p:sp>
      <p:sp>
        <p:nvSpPr>
          <p:cNvPr id="19" name="Shape 16"/>
          <p:cNvSpPr/>
          <p:nvPr/>
        </p:nvSpPr>
        <p:spPr>
          <a:xfrm>
            <a:off x="2743200" y="1170432"/>
            <a:ext cx="1170432" cy="1234440"/>
          </a:xfrm>
          <a:prstGeom prst="hexagon">
            <a:avLst/>
          </a:prstGeom>
          <a:solidFill>
            <a:srgbClr val="C9A97C"/>
          </a:solidFill>
          <a:ln w="12700">
            <a:solidFill>
              <a:srgbClr val="C9A97C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2816352" y="1261872"/>
            <a:ext cx="10241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Elvidge 2013: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VIIRS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Nightfire</a:t>
            </a:r>
            <a:endParaRPr lang="en-US" sz="750" dirty="0"/>
          </a:p>
        </p:txBody>
      </p:sp>
      <p:sp>
        <p:nvSpPr>
          <p:cNvPr id="21" name="Text 18"/>
          <p:cNvSpPr txBox="1"/>
          <p:nvPr/>
        </p:nvSpPr>
        <p:spPr>
          <a:xfrm>
            <a:off x="2871216" y="20116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u="sng" dirty="0">
                <a:solidFill>
                  <a:srgbClr val="1A0DAB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</a:t>
            </a:r>
            <a:endParaRPr lang="en-US" sz="900" dirty="0"/>
          </a:p>
        </p:txBody>
      </p:sp>
      <p:sp>
        <p:nvSpPr>
          <p:cNvPr id="22" name="Text 19"/>
          <p:cNvSpPr txBox="1"/>
          <p:nvPr/>
        </p:nvSpPr>
        <p:spPr>
          <a:xfrm>
            <a:off x="3931920" y="86868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industrial heat</a:t>
            </a:r>
            <a:endParaRPr lang="en-US" sz="650" dirty="0"/>
          </a:p>
        </p:txBody>
      </p:sp>
      <p:sp>
        <p:nvSpPr>
          <p:cNvPr id="23" name="Shape 20"/>
          <p:cNvSpPr/>
          <p:nvPr/>
        </p:nvSpPr>
        <p:spPr>
          <a:xfrm>
            <a:off x="3977640" y="1170432"/>
            <a:ext cx="1170432" cy="1234440"/>
          </a:xfrm>
          <a:prstGeom prst="hexagon">
            <a:avLst/>
          </a:prstGeom>
          <a:solidFill>
            <a:srgbClr val="C9A97C"/>
          </a:solidFill>
          <a:ln w="12700">
            <a:solidFill>
              <a:srgbClr val="C9A97C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4050792" y="1261872"/>
            <a:ext cx="10241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Liu 2018: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Industrial heat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 (RSE)</a:t>
            </a:r>
            <a:endParaRPr lang="en-US" sz="750" dirty="0"/>
          </a:p>
        </p:txBody>
      </p:sp>
      <p:sp>
        <p:nvSpPr>
          <p:cNvPr id="25" name="Text 22"/>
          <p:cNvSpPr txBox="1"/>
          <p:nvPr/>
        </p:nvSpPr>
        <p:spPr>
          <a:xfrm>
            <a:off x="4105656" y="20116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u="sng" dirty="0">
                <a:solidFill>
                  <a:srgbClr val="1A0DAB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</a:t>
            </a:r>
            <a:endParaRPr lang="en-US" sz="900" dirty="0"/>
          </a:p>
        </p:txBody>
      </p:sp>
      <p:sp>
        <p:nvSpPr>
          <p:cNvPr id="26" name="Text 23"/>
          <p:cNvSpPr txBox="1"/>
          <p:nvPr/>
        </p:nvSpPr>
        <p:spPr>
          <a:xfrm>
            <a:off x="5166360" y="86868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data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5212080" y="1170432"/>
            <a:ext cx="1170432" cy="1234440"/>
          </a:xfrm>
          <a:prstGeom prst="hexagon">
            <a:avLst/>
          </a:prstGeom>
          <a:solidFill>
            <a:srgbClr val="C9A97C"/>
          </a:solidFill>
          <a:ln w="12700">
            <a:solidFill>
              <a:srgbClr val="C9A97C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5285232" y="1261872"/>
            <a:ext cx="10241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OpenStreetMap: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Overpass API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tags</a:t>
            </a:r>
            <a:endParaRPr lang="en-US" sz="750" dirty="0"/>
          </a:p>
        </p:txBody>
      </p:sp>
      <p:sp>
        <p:nvSpPr>
          <p:cNvPr id="29" name="Text 26"/>
          <p:cNvSpPr txBox="1"/>
          <p:nvPr/>
        </p:nvSpPr>
        <p:spPr>
          <a:xfrm>
            <a:off x="5340096" y="20116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u="sng" dirty="0">
                <a:solidFill>
                  <a:srgbClr val="1A0DAB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</a:t>
            </a:r>
            <a:endParaRPr lang="en-US" sz="900" dirty="0"/>
          </a:p>
        </p:txBody>
      </p:sp>
      <p:sp>
        <p:nvSpPr>
          <p:cNvPr id="30" name="Text 27"/>
          <p:cNvSpPr txBox="1"/>
          <p:nvPr/>
        </p:nvSpPr>
        <p:spPr>
          <a:xfrm>
            <a:off x="6400800" y="86868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verification</a:t>
            </a:r>
            <a:endParaRPr lang="en-US" sz="650" dirty="0"/>
          </a:p>
        </p:txBody>
      </p:sp>
      <p:sp>
        <p:nvSpPr>
          <p:cNvPr id="31" name="Shape 28"/>
          <p:cNvSpPr/>
          <p:nvPr/>
        </p:nvSpPr>
        <p:spPr>
          <a:xfrm>
            <a:off x="6446520" y="1170432"/>
            <a:ext cx="1170432" cy="1234440"/>
          </a:xfrm>
          <a:prstGeom prst="hexagon">
            <a:avLst/>
          </a:prstGeom>
          <a:solidFill>
            <a:srgbClr val="C9A97C"/>
          </a:solidFill>
          <a:ln w="12700">
            <a:solidFill>
              <a:srgbClr val="C9A97C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6519672" y="1261872"/>
            <a:ext cx="10241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Copernicus: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Sentinel-2 SWIR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WorldCover</a:t>
            </a:r>
            <a:endParaRPr lang="en-US" sz="750" dirty="0"/>
          </a:p>
        </p:txBody>
      </p:sp>
      <p:sp>
        <p:nvSpPr>
          <p:cNvPr id="33" name="Text 30"/>
          <p:cNvSpPr txBox="1"/>
          <p:nvPr/>
        </p:nvSpPr>
        <p:spPr>
          <a:xfrm>
            <a:off x="6574536" y="20116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u="sng" dirty="0">
                <a:solidFill>
                  <a:srgbClr val="1A0DAB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</a:t>
            </a:r>
            <a:endParaRPr lang="en-US" sz="900" dirty="0"/>
          </a:p>
        </p:txBody>
      </p:sp>
      <p:sp>
        <p:nvSpPr>
          <p:cNvPr id="34" name="Text 31"/>
          <p:cNvSpPr txBox="1"/>
          <p:nvPr/>
        </p:nvSpPr>
        <p:spPr>
          <a:xfrm>
            <a:off x="7635240" y="86868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seasonal priors</a:t>
            </a:r>
            <a:endParaRPr lang="en-US" sz="650" dirty="0"/>
          </a:p>
        </p:txBody>
      </p:sp>
      <p:sp>
        <p:nvSpPr>
          <p:cNvPr id="35" name="Shape 32"/>
          <p:cNvSpPr/>
          <p:nvPr/>
        </p:nvSpPr>
        <p:spPr>
          <a:xfrm>
            <a:off x="7680960" y="1170432"/>
            <a:ext cx="1170432" cy="1234440"/>
          </a:xfrm>
          <a:prstGeom prst="hexagon">
            <a:avLst/>
          </a:prstGeom>
          <a:solidFill>
            <a:srgbClr val="C9A97C"/>
          </a:solidFill>
          <a:ln w="12700">
            <a:solidFill>
              <a:srgbClr val="C9A97C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7754112" y="1261872"/>
            <a:ext cx="10241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ICAR-CREAMS /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CPCB: residue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burning</a:t>
            </a:r>
            <a:endParaRPr lang="en-US" sz="750" dirty="0"/>
          </a:p>
        </p:txBody>
      </p:sp>
      <p:sp>
        <p:nvSpPr>
          <p:cNvPr id="37" name="Text 34"/>
          <p:cNvSpPr txBox="1"/>
          <p:nvPr/>
        </p:nvSpPr>
        <p:spPr>
          <a:xfrm>
            <a:off x="7808976" y="20116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u="sng" dirty="0">
                <a:solidFill>
                  <a:srgbClr val="1A0DAB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8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</a:t>
            </a:r>
            <a:endParaRPr lang="en-US" sz="900" dirty="0"/>
          </a:p>
        </p:txBody>
      </p:sp>
      <p:sp>
        <p:nvSpPr>
          <p:cNvPr id="38" name="Shape 35"/>
          <p:cNvSpPr/>
          <p:nvPr/>
        </p:nvSpPr>
        <p:spPr>
          <a:xfrm>
            <a:off x="274320" y="2487168"/>
            <a:ext cx="8595360" cy="0"/>
          </a:xfrm>
          <a:prstGeom prst="line">
            <a:avLst/>
          </a:prstGeom>
          <a:noFill/>
          <a:ln w="12700">
            <a:solidFill>
              <a:srgbClr val="C9A97C"/>
            </a:solidFill>
            <a:prstDash val="dash"/>
            <a:tailEnd type="triangle"/>
          </a:ln>
        </p:spPr>
      </p:sp>
      <p:sp>
        <p:nvSpPr>
          <p:cNvPr id="39" name="Shape 36"/>
          <p:cNvSpPr/>
          <p:nvPr/>
        </p:nvSpPr>
        <p:spPr>
          <a:xfrm>
            <a:off x="0" y="2606040"/>
            <a:ext cx="9144000" cy="224028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274320" y="263347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/ UX — working prototype (live link below)</a:t>
            </a:r>
            <a:endParaRPr lang="en-US" sz="900" dirty="0"/>
          </a:p>
        </p:txBody>
      </p:sp>
      <p:sp>
        <p:nvSpPr>
          <p:cNvPr id="41" name="Text 38"/>
          <p:cNvSpPr txBox="1"/>
          <p:nvPr/>
        </p:nvSpPr>
        <p:spPr>
          <a:xfrm>
            <a:off x="3200400" y="2633472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all-India classification  ·  Punjab crop-burn season  ·  Jharia coal-seam fires</a:t>
            </a:r>
            <a:endParaRPr lang="en-US" sz="750" dirty="0"/>
          </a:p>
        </p:txBody>
      </p:sp>
      <p:pic>
        <p:nvPicPr>
          <p:cNvPr id="42" name="Image 1" descr="preencoded.png">    </p:cNvPr>
          <p:cNvPicPr>
            <a:picLocks noChangeAspect="1"/>
          </p:cNvPicPr>
          <p:nvPr/>
        </p:nvPicPr>
        <p:blipFill>
          <a:blip r:embed="rId9"/>
          <a:srcRect l="0" r="0" t="3086" b="-3086"/>
          <a:stretch/>
        </p:blipFill>
        <p:spPr>
          <a:xfrm>
            <a:off x="274320" y="2852928"/>
            <a:ext cx="2788920" cy="1481328"/>
          </a:xfrm>
          <a:prstGeom prst="rect">
            <a:avLst/>
          </a:prstGeom>
        </p:spPr>
      </p:pic>
      <p:pic>
        <p:nvPicPr>
          <p:cNvPr id="43" name="Image 2" descr="preencoded.png">    </p:cNvPr>
          <p:cNvPicPr>
            <a:picLocks noChangeAspect="1"/>
          </p:cNvPicPr>
          <p:nvPr/>
        </p:nvPicPr>
        <p:blipFill>
          <a:blip r:embed="rId10"/>
          <a:srcRect l="0" r="0" t="3086" b="-3086"/>
          <a:stretch/>
        </p:blipFill>
        <p:spPr>
          <a:xfrm>
            <a:off x="3182112" y="2852928"/>
            <a:ext cx="2788920" cy="1481328"/>
          </a:xfrm>
          <a:prstGeom prst="rect">
            <a:avLst/>
          </a:prstGeom>
        </p:spPr>
      </p:pic>
      <p:pic>
        <p:nvPicPr>
          <p:cNvPr id="44" name="Image 3" descr="preencoded.png">    </p:cNvPr>
          <p:cNvPicPr>
            <a:picLocks noChangeAspect="1"/>
          </p:cNvPicPr>
          <p:nvPr/>
        </p:nvPicPr>
        <p:blipFill>
          <a:blip r:embed="rId11"/>
          <a:srcRect l="0" r="0" t="3086" b="-3086"/>
          <a:stretch/>
        </p:blipFill>
        <p:spPr>
          <a:xfrm>
            <a:off x="6089904" y="2852928"/>
            <a:ext cx="2788920" cy="1481328"/>
          </a:xfrm>
          <a:prstGeom prst="rect">
            <a:avLst/>
          </a:prstGeom>
        </p:spPr>
      </p:pic>
      <p:sp>
        <p:nvSpPr>
          <p:cNvPr id="45" name="Shape 39"/>
          <p:cNvSpPr/>
          <p:nvPr/>
        </p:nvSpPr>
        <p:spPr>
          <a:xfrm>
            <a:off x="274320" y="4389120"/>
            <a:ext cx="859536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6" name="Text 40"/>
          <p:cNvSpPr txBox="1"/>
          <p:nvPr/>
        </p:nvSpPr>
        <p:spPr>
          <a:xfrm>
            <a:off x="365760" y="438912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prototype:  </a:t>
            </a:r>
            <a:pPr algn="ctr" indent="0" marL="0">
              <a:buNone/>
            </a:pPr>
            <a:r>
              <a:rPr lang="en-US" sz="900" u="sng" dirty="0">
                <a:solidFill>
                  <a:srgbClr val="1A0DAB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https://rahulskandagal.github.io/thermal-sentinel/</a:t>
            </a:r>
            <a:pPr algn="ctr"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Source code:  </a:t>
            </a:r>
            <a:pPr algn="ctr" indent="0" marL="0">
              <a:buNone/>
            </a:pPr>
            <a:r>
              <a:rPr lang="en-US" sz="900" u="sng" dirty="0">
                <a:solidFill>
                  <a:srgbClr val="1A0DAB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https://github.com/rahulskandagal/thermal-sentinel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Fire Orbit — SIH26162 ThermalSentinel</dc:title>
  <dc:subject>PptxGenJS Presentation</dc:subject>
  <dc:creator>PptxGenJS</dc:creator>
  <cp:lastModifiedBy>PptxGenJS</cp:lastModifiedBy>
  <cp:revision>1</cp:revision>
  <dcterms:created xsi:type="dcterms:W3CDTF">2026-09-20T08:05:46Z</dcterms:created>
  <dcterms:modified xsi:type="dcterms:W3CDTF">2026-09-20T08:05:46Z</dcterms:modified>
</cp:coreProperties>
</file>