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93792" y="859536"/>
            <a:ext cx="3950208" cy="3694176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457200" y="1371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386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SMART INDIA HACKATHON 2026</a:t>
            </a:r>
            <a:endParaRPr lang="en-US" sz="2800" dirty="0"/>
          </a:p>
        </p:txBody>
      </p:sp>
      <p:sp>
        <p:nvSpPr>
          <p:cNvPr id="5" name="Text 1"/>
          <p:cNvSpPr txBox="1"/>
          <p:nvPr/>
        </p:nvSpPr>
        <p:spPr>
          <a:xfrm>
            <a:off x="1371600" y="8686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TITLE PAGE</a:t>
            </a:r>
            <a:endParaRPr lang="en-US" sz="2200" dirty="0"/>
          </a:p>
        </p:txBody>
      </p:sp>
      <p:sp>
        <p:nvSpPr>
          <p:cNvPr id="6" name="Text 2"/>
          <p:cNvSpPr txBox="1"/>
          <p:nvPr/>
        </p:nvSpPr>
        <p:spPr>
          <a:xfrm>
            <a:off x="320040" y="1417320"/>
            <a:ext cx="50292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ID –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SIH26162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 Title-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AI-Based Detection and Classification of Industrial Fires and Persistent Thermal Sources Using NASA FIRMS, OSM &amp; Satellite Data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Theme-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Disaster Management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Category-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ID-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&lt;TEAM ID&gt;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Name (Registered on portal)-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FireOrbit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64592"/>
            <a:ext cx="96012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4A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28600" y="164592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FireOrbit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3716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ThermalSentinel — AI Classification of Industrial Fires &amp; Persistent Thermal Sources</a:t>
            </a:r>
            <a:endParaRPr lang="en-US" sz="15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2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274320" y="896112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064A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❖ </a:t>
            </a:r>
            <a:pPr indent="0" marL="0">
              <a:buNone/>
            </a:pPr>
            <a:r>
              <a:rPr lang="en-US" sz="1200" b="1" u="sng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Solution (Describe your Idea/Solution/Prototype)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274320" y="120700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Detailed explanation of the proposed solution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11480" y="1463040"/>
            <a:ext cx="5257800" cy="20574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VIIRS / MODIS hotspots from the NASA FIRMS API (near-real-time + archive), normalise both sensors to one schema.</a:t>
            </a:r>
            <a:endParaRPr lang="en-US" sz="850" dirty="0"/>
          </a:p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detections into thermal SOURCES (haversine DBSCAN, 750 m) and track each over 90 days → active days, night fraction, FRP baseline, persistence score.</a:t>
            </a:r>
            <a:endParaRPr lang="en-US" sz="850" dirty="0"/>
          </a:p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context from OpenStreetMap: nearest refinery / steel / power plant / gas flare / kiln / mine and land cover (cropland, forest, industrial).</a:t>
            </a:r>
            <a:endParaRPr lang="en-US" sz="850" dirty="0"/>
          </a:p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classifier — explainable rules + gradient-boosted trees — labels every detection: Industrial fire · Gas flare · Mining / coal-seam fire · Agricultural burn · Wildfire · Other, with confidence and reasons.</a:t>
            </a:r>
            <a:endParaRPr lang="en-US" sz="850" dirty="0"/>
          </a:p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FRP-anomaly detector: a known source burning ≥ 2.5× its own baseline → incident alert (a real fire, not routine heat).</a:t>
            </a:r>
            <a:endParaRPr lang="en-US" sz="850" dirty="0"/>
          </a:p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Stored in a spatial DB, served as GeoJSON to a Leaflet GIS dashboard; export to QGIS / ArcGIS.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274320" y="3547872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addresses the problem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411480" y="3794760"/>
            <a:ext cx="5257800" cy="10058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Segregates industrial fires from forest fires, crop burning, flares and mine fires — exactly the PS requirement.</a:t>
            </a:r>
            <a:endParaRPr lang="en-US" sz="850" dirty="0"/>
          </a:p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abnormal industrial heat raises an alert → 99 % fewer hotspots for a control room to triage.</a:t>
            </a:r>
            <a:endParaRPr lang="en-US" sz="850" dirty="0"/>
          </a:p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result is a map overlay + stored record → the GIS storage / visualisation requirement.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5806440" y="1207008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50" b="1" dirty="0">
                <a:solidFill>
                  <a:srgbClr val="6D2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Innovation and uniqueness of the solution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5943600" y="1463040"/>
            <a:ext cx="2971800" cy="16002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Fuses temporal persistence + OSM infrastructure + physical signature in ONE explainable classifier.</a:t>
            </a:r>
            <a:endParaRPr lang="en-US" sz="850" dirty="0"/>
          </a:p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Baseline-relative alerts tell "refinery operating" from "refinery on fire".</a:t>
            </a:r>
            <a:endParaRPr lang="en-US" sz="850" dirty="0"/>
          </a:p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Finds UNREGISTERED sources: persistent heat where no facility is mapped.</a:t>
            </a:r>
            <a:endParaRPr lang="en-US" sz="850" dirty="0"/>
          </a:p>
          <a:p>
            <a:pPr marL="127000" indent="-127000">
              <a:spcAft>
                <a:spcPts val="15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data cost; offline archive or live with one API key; working prototype online.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06440" y="3127248"/>
          <a:ext cx="310896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502920"/>
                <a:gridCol w="685800"/>
                <a:gridCol w="502920"/>
              </a:tblGrid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Comparison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FIRMS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 dashboards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Ours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Hotspots on a map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Tells WHAT is burning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Industrial vs wildfire vs crop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4530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◐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Persistent-source registry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 vs own baseline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Explains decisions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91C1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✖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580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✔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8288" marR="18288" marT="18288" marB="18288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64592"/>
            <a:ext cx="96012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4A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28600" y="164592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FireOrbit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3716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TECHNICAL APPROACH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3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274320" y="8961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Technologies to be used (e.g. programming languages, frameworks, hardware)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1161288"/>
            <a:ext cx="8321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Data: </a:t>
            </a:r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 FIRMS Area API (VIIRS 375 m, MODIS 1 km), OpenStreetMap Overpass, Copernicus Sentinel-2 / NASA Worldview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353312"/>
            <a:ext cx="8321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/ ML: </a:t>
            </a:r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3, FastAPI, pandas, NumPy, scikit-learn (DBSCAN, HistGradientBoosting), shapely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1545336"/>
            <a:ext cx="8321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/ GIS: </a:t>
            </a:r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→ PostGIS, GeoJSON API, QGIS / ArcGIS export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1737360"/>
            <a:ext cx="8321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/ hosting: </a:t>
            </a:r>
            <a:pPr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18, Vite, Leaflet (canvas renderer); any Linux VM or GitHub Pages for the static demo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274320" y="1965960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 and process for implementation (Flow Charts/Images/ working prototype)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274320" y="2258568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E8590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74320" y="2258568"/>
            <a:ext cx="1325880" cy="228600"/>
          </a:xfrm>
          <a:prstGeom prst="rect">
            <a:avLst/>
          </a:prstGeom>
          <a:solidFill>
            <a:srgbClr val="E8590C"/>
          </a:solidFill>
          <a:ln w="12700">
            <a:solidFill>
              <a:srgbClr val="E859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20040" y="225856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Ingest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338328" y="2514600"/>
            <a:ext cx="1216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FIRMS hotspots,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10-day chunks,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normalise, de-dup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1600200" y="2651760"/>
            <a:ext cx="13716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1737360" y="2258568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1D4ED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737360" y="2258568"/>
            <a:ext cx="1325880" cy="2286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783080" y="225856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Cluster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1801368" y="2514600"/>
            <a:ext cx="1216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Haversine DBSCAN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750 m → thermal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3063240" y="2651760"/>
            <a:ext cx="13716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3200400" y="2258568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6D28D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200400" y="2258568"/>
            <a:ext cx="1325880" cy="228600"/>
          </a:xfrm>
          <a:prstGeom prst="rect">
            <a:avLst/>
          </a:prstGeom>
          <a:solidFill>
            <a:srgbClr val="6D28D9"/>
          </a:solidFill>
          <a:ln w="12700">
            <a:solidFill>
              <a:srgbClr val="6D28D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246120" y="225856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Persistence</a:t>
            </a:r>
            <a:endParaRPr lang="en-US" sz="850" dirty="0"/>
          </a:p>
        </p:txBody>
      </p:sp>
      <p:sp>
        <p:nvSpPr>
          <p:cNvPr id="28" name="Text 25"/>
          <p:cNvSpPr txBox="1"/>
          <p:nvPr/>
        </p:nvSpPr>
        <p:spPr>
          <a:xfrm>
            <a:off x="3264408" y="2514600"/>
            <a:ext cx="1216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days, span,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night %, FRP mean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CV / z-score</a:t>
            </a:r>
            <a:endParaRPr lang="en-US" sz="700" dirty="0"/>
          </a:p>
        </p:txBody>
      </p:sp>
      <p:sp>
        <p:nvSpPr>
          <p:cNvPr id="29" name="Shape 26"/>
          <p:cNvSpPr/>
          <p:nvPr/>
        </p:nvSpPr>
        <p:spPr>
          <a:xfrm>
            <a:off x="4526280" y="2651760"/>
            <a:ext cx="13716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4663440" y="2258568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15803D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663440" y="2258568"/>
            <a:ext cx="1325880" cy="228600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709160" y="225856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 OSM context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4727448" y="2514600"/>
            <a:ext cx="1216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nearest facility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 + distance,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cover</a:t>
            </a:r>
            <a:endParaRPr lang="en-US" sz="700" dirty="0"/>
          </a:p>
        </p:txBody>
      </p:sp>
      <p:sp>
        <p:nvSpPr>
          <p:cNvPr id="34" name="Shape 31"/>
          <p:cNvSpPr/>
          <p:nvPr/>
        </p:nvSpPr>
        <p:spPr>
          <a:xfrm>
            <a:off x="5989320" y="2651760"/>
            <a:ext cx="13716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6126480" y="2258568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B91C1C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126480" y="2258568"/>
            <a:ext cx="1325880" cy="22860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172200" y="225856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 Classify</a:t>
            </a:r>
            <a:endParaRPr lang="en-US" sz="850" dirty="0"/>
          </a:p>
        </p:txBody>
      </p:sp>
      <p:sp>
        <p:nvSpPr>
          <p:cNvPr id="38" name="Text 35"/>
          <p:cNvSpPr txBox="1"/>
          <p:nvPr/>
        </p:nvSpPr>
        <p:spPr>
          <a:xfrm>
            <a:off x="6190488" y="2514600"/>
            <a:ext cx="1216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+ GBM vote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6 classes,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confidence, reasons</a:t>
            </a:r>
            <a:endParaRPr lang="en-US" sz="700" dirty="0"/>
          </a:p>
        </p:txBody>
      </p:sp>
      <p:sp>
        <p:nvSpPr>
          <p:cNvPr id="39" name="Shape 36"/>
          <p:cNvSpPr/>
          <p:nvPr/>
        </p:nvSpPr>
        <p:spPr>
          <a:xfrm>
            <a:off x="7452360" y="2651760"/>
            <a:ext cx="137160" cy="0"/>
          </a:xfrm>
          <a:prstGeom prst="line">
            <a:avLst/>
          </a:prstGeom>
          <a:noFill/>
          <a:ln w="19050">
            <a:solidFill>
              <a:srgbClr val="9CA3AF"/>
            </a:solidFill>
            <a:prstDash val="solid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7589520" y="2258568"/>
            <a:ext cx="1325880" cy="786384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589520" y="2258568"/>
            <a:ext cx="1325880" cy="22860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635240" y="225856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 Serve</a:t>
            </a:r>
            <a:endParaRPr lang="en-US" sz="850" dirty="0"/>
          </a:p>
        </p:txBody>
      </p:sp>
      <p:sp>
        <p:nvSpPr>
          <p:cNvPr id="43" name="Text 40"/>
          <p:cNvSpPr txBox="1"/>
          <p:nvPr/>
        </p:nvSpPr>
        <p:spPr>
          <a:xfrm>
            <a:off x="7653528" y="2514600"/>
            <a:ext cx="12161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→ GeoJSON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→ Leaflet GIS</a:t>
            </a:r>
            <a:endParaRPr lang="en-US" sz="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dashboard, export</a:t>
            </a:r>
            <a:endParaRPr lang="en-US" sz="700" dirty="0"/>
          </a:p>
        </p:txBody>
      </p:sp>
      <p:sp>
        <p:nvSpPr>
          <p:cNvPr id="44" name="Shape 41"/>
          <p:cNvSpPr/>
          <p:nvPr/>
        </p:nvSpPr>
        <p:spPr>
          <a:xfrm>
            <a:off x="6784848" y="3044952"/>
            <a:ext cx="0" cy="13716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  <a:tailEnd type="triangle"/>
          </a:ln>
        </p:spPr>
      </p:sp>
      <p:sp>
        <p:nvSpPr>
          <p:cNvPr id="45" name="Shape 42"/>
          <p:cNvSpPr/>
          <p:nvPr/>
        </p:nvSpPr>
        <p:spPr>
          <a:xfrm>
            <a:off x="5623560" y="3182112"/>
            <a:ext cx="2331720" cy="310896"/>
          </a:xfrm>
          <a:prstGeom prst="roundRect">
            <a:avLst>
              <a:gd name="adj" fmla="val 14706"/>
            </a:avLst>
          </a:prstGeom>
          <a:solidFill>
            <a:srgbClr val="FEF2F2"/>
          </a:solidFill>
          <a:ln w="9525">
            <a:solidFill>
              <a:srgbClr val="B91C1C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87568" y="3182112"/>
            <a:ext cx="2240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Anomaly: FRP ≥ 2.5× source baseline &amp; z ≥ 3 → incident alert</a:t>
            </a:r>
            <a:endParaRPr lang="en-US" sz="700" dirty="0"/>
          </a:p>
        </p:txBody>
      </p:sp>
      <p:sp>
        <p:nvSpPr>
          <p:cNvPr id="47" name="Text 44"/>
          <p:cNvSpPr txBox="1"/>
          <p:nvPr/>
        </p:nvSpPr>
        <p:spPr>
          <a:xfrm>
            <a:off x="274320" y="3108960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Inputs: NASA FIRMS (thermal anomalies) · OSM (infrastructure &amp; land use) · Sentinel-2 / Worldview (visual verification)</a:t>
            </a:r>
            <a:endParaRPr lang="en-US" sz="750" dirty="0"/>
          </a:p>
        </p:txBody>
      </p:sp>
      <p:sp>
        <p:nvSpPr>
          <p:cNvPr id="48" name="Text 45"/>
          <p:cNvSpPr txBox="1"/>
          <p:nvPr/>
        </p:nvSpPr>
        <p:spPr>
          <a:xfrm>
            <a:off x="274320" y="35661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prototype (real screenshots)</a:t>
            </a:r>
            <a:endParaRPr lang="en-US" sz="900" dirty="0"/>
          </a:p>
        </p:txBody>
      </p:sp>
      <p:pic>
        <p:nvPicPr>
          <p:cNvPr id="4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776472"/>
            <a:ext cx="1828800" cy="1024128"/>
          </a:xfrm>
          <a:prstGeom prst="rect">
            <a:avLst/>
          </a:prstGeom>
        </p:spPr>
      </p:pic>
      <p:pic>
        <p:nvPicPr>
          <p:cNvPr id="50" name="Image 2" descr="preencoded.png">    </p:cNvPr>
          <p:cNvPicPr>
            <a:picLocks noChangeAspect="1"/>
          </p:cNvPicPr>
          <p:nvPr/>
        </p:nvPicPr>
        <p:blipFill>
          <a:blip r:embed="rId3"/>
          <a:srcRect l="56250" r="7500" t="7111" b="43111"/>
          <a:stretch/>
        </p:blipFill>
        <p:spPr>
          <a:xfrm>
            <a:off x="2194560" y="3776472"/>
            <a:ext cx="1325880" cy="1024128"/>
          </a:xfrm>
          <a:prstGeom prst="rect">
            <a:avLst/>
          </a:prstGeom>
        </p:spPr>
      </p:pic>
      <p:sp>
        <p:nvSpPr>
          <p:cNvPr id="51" name="Text 46"/>
          <p:cNvSpPr txBox="1"/>
          <p:nvPr/>
        </p:nvSpPr>
        <p:spPr>
          <a:xfrm>
            <a:off x="3657600" y="3749040"/>
            <a:ext cx="5212080" cy="10515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22,179 FIRMS detections classified in ~7 s · 114 persistent sources · 138 incident candidates</a:t>
            </a:r>
            <a:endParaRPr lang="en-US" sz="8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accuracy 99.9 % on labelled archive (group-aware split); rules-only 98.4 %</a:t>
            </a:r>
            <a:endParaRPr lang="en-US" sz="80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rahulskandagal.github.io/thermal-sentinel  ·  Code: github.com/rahulskandagal/thermal-sentinel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64592"/>
            <a:ext cx="96012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4A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28600" y="164592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FireOrbit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3716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FEASIBILITY AND VIABILITY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4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274320" y="896112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0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Analysis of the feasibility of the idea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74320" y="1170432"/>
            <a:ext cx="2788920" cy="278892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5760" y="1243584"/>
            <a:ext cx="2633472" cy="2670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inputs are free &amp; open: FIRMS MAP_KEY (instant), OSM Overpass, Copernicus Sentinel-2, NASA Worldview.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end-to-end prototype exists: 22 k detections classified in 7 s on a laptop; model trains in seconds.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pipeline switches to live FIRMS with one env variable; Overpass queried only around hotspot cells → India-wide in minutes.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Lightweight stack (SQLite / FastAPI / React) → one VM, NIC cloud or an air-gapped NTRO server.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 rules let analysts audit and tune; ML improves as labelled incidents accumulate.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demo already live on GitHub Pages.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3154680" y="896112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challenges and risks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3154680" y="1170432"/>
            <a:ext cx="2788920" cy="278892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246120" y="1243584"/>
            <a:ext cx="2633472" cy="2670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Incomplete OSM coverage of Indian industry (small kilns, sponge-iron units).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cover &amp; 375 m pixel offsets between passes.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 labelled real incidents for supervised ML; synthetic archive is cleaner than reality.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Overpass rate limits when scaling to national, multi-year archives.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False alarms from legitimate process changes (furnace restart, maintenance flaring).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Sub-pixel sources (small flares) below VIIRS detection threshold.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035040" y="896112"/>
            <a:ext cx="2788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Strategies for overcoming these challenges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035040" y="1170432"/>
            <a:ext cx="2788920" cy="278892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126480" y="1243584"/>
            <a:ext cx="2633472" cy="2670048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Persistence signature detects unregistered sources even without an OSM facility; curated facility list merged with OSM; Sentinel-2 chip verification.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window + 4 passes/day from 3 VIIRS satellites; DBSCAN grouping absorbs pixel jitter.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 as strong prior; validate on documented incidents (news / PESO / CPCB); analyst feedback loop → retrain.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Around-cell queries + disk cache; self-hosted Overpass or ESA WorldCover raster for scale.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Baseline-relative thresholds + analyst override; confidence shown on every alert.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VIIRS Nightfire (VNF) for flare temperature; Landsat TIRS for small sources.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274320" y="4041648"/>
            <a:ext cx="8595360" cy="731520"/>
          </a:xfrm>
          <a:prstGeom prst="roundRect">
            <a:avLst>
              <a:gd name="adj" fmla="val 6250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11480" y="407822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VIABILITY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411480" y="42611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 0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11480" y="451713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licensing — all open sources</a:t>
            </a:r>
            <a:endParaRPr lang="en-US" sz="700" dirty="0"/>
          </a:p>
        </p:txBody>
      </p:sp>
      <p:sp>
        <p:nvSpPr>
          <p:cNvPr id="22" name="Text 19"/>
          <p:cNvSpPr txBox="1"/>
          <p:nvPr/>
        </p:nvSpPr>
        <p:spPr>
          <a:xfrm>
            <a:off x="2112264" y="42611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VM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2112264" y="451713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air-gapped server; SQLite → PostGIS to scale</a:t>
            </a:r>
            <a:endParaRPr lang="en-US" sz="700" dirty="0"/>
          </a:p>
        </p:txBody>
      </p:sp>
      <p:sp>
        <p:nvSpPr>
          <p:cNvPr id="24" name="Text 21"/>
          <p:cNvSpPr txBox="1"/>
          <p:nvPr/>
        </p:nvSpPr>
        <p:spPr>
          <a:xfrm>
            <a:off x="3813048" y="42611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~7 s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3813048" y="451713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classify a 90-day national archive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5513832" y="42611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env var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5513832" y="451713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switches offline archive → live NASA FIRMS</a:t>
            </a:r>
            <a:endParaRPr lang="en-US" sz="700" dirty="0"/>
          </a:p>
        </p:txBody>
      </p:sp>
      <p:sp>
        <p:nvSpPr>
          <p:cNvPr id="28" name="Text 25"/>
          <p:cNvSpPr txBox="1"/>
          <p:nvPr/>
        </p:nvSpPr>
        <p:spPr>
          <a:xfrm>
            <a:off x="7214616" y="4261104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7214616" y="4517136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GeoJSON / API — plugs into any GIS NTRO runs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64592"/>
            <a:ext cx="96012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4A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28600" y="164592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FireOrbit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3716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IMPACT AND BENEFITS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274320" y="89611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impact on the target audience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74320" y="1170432"/>
            <a:ext cx="4206240" cy="173736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5760" y="1243584"/>
            <a:ext cx="4023360" cy="162763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Disaster management (NDMA / SDMAs / fire services): alerts only on abnormal industrial heat → faster, correctly-targeted response to plant fires &amp; explosions.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NTRO &amp; security agencies: national registry of persistent thermal sources with activity history; detects undeclared industrial activity; change detection (shutdowns, restarts, surges).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CPCB / MoEFCC: attribute district fires to stubble burning vs industry; flaring inventories.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Insurers &amp; industry: verified incident records; compliance evidence.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89611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50" b="1" dirty="0">
                <a:solidFill>
                  <a:srgbClr val="1580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 of the solution (social, economic, environmental, etc.)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663440" y="1170432"/>
            <a:ext cx="4206240" cy="173736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754880" y="1243584"/>
            <a:ext cx="4023360" cy="1627632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/>
          <a:lstStyle/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Social: earlier warning for communities near refineries, steel plants, chemical complexes; better use of fire-service capacity.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Economic: 99 % fewer hotspots to triage; ₹0 data licensing; lower losses through early detection; runs on one VM.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Environmental: separates agricultural burning from industrial emissions; flaring and coal-fire monitoring for climate reporting.</a:t>
            </a:r>
            <a:endParaRPr lang="en-US" sz="850" dirty="0"/>
          </a:p>
          <a:p>
            <a:pPr marL="127000" indent="-1270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Strategic: open, explainable, auditable — deployable on sovereign / air-gapped infrastructure.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274320" y="3017520"/>
            <a:ext cx="8595360" cy="1755648"/>
          </a:xfrm>
          <a:prstGeom prst="roundRect">
            <a:avLst>
              <a:gd name="adj" fmla="val 2604"/>
            </a:avLst>
          </a:prstGeom>
          <a:solidFill>
            <a:srgbClr val="0F172A"/>
          </a:solidFill>
          <a:ln w="9525">
            <a:solidFill>
              <a:srgbClr val="0F172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11480" y="306324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— results of the working prototype (90-day labelled archive over real Indian sites)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411480" y="333756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22,179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463040" y="33375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FIRMS detections classified in ~7 s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3200400" y="333756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114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4251960" y="33375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sources registered</a:t>
            </a:r>
            <a:endParaRPr lang="en-US" sz="800" dirty="0"/>
          </a:p>
        </p:txBody>
      </p:sp>
      <p:sp>
        <p:nvSpPr>
          <p:cNvPr id="21" name="Text 18"/>
          <p:cNvSpPr txBox="1"/>
          <p:nvPr/>
        </p:nvSpPr>
        <p:spPr>
          <a:xfrm>
            <a:off x="5989320" y="333756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138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333756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candidates (0.6 % of detections)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411480" y="394106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99.9 %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1463040" y="394106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accuracy (group-aware test split)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3200400" y="394106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98.4 %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251960" y="394106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rules-only accuracy (explainable baseline)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5989320" y="394106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B92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040880" y="3941064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E5E7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classes: industrial, flare, mining, agri, wildfire, other</a:t>
            </a:r>
            <a:endParaRPr lang="en-US" sz="800" dirty="0"/>
          </a:p>
        </p:txBody>
      </p:sp>
      <p:sp>
        <p:nvSpPr>
          <p:cNvPr id="29" name="Text 26"/>
          <p:cNvSpPr txBox="1"/>
          <p:nvPr/>
        </p:nvSpPr>
        <p:spPr>
          <a:xfrm>
            <a:off x="411480" y="44805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 alerts: Bhilai Steel 414 MW vs 32 MW baseline · Jamnagar 207 MW vs 19 MW · Tata Steel 101 MW vs 26 MW.  Note: archive is physically simulated &amp; labelled; real-world accuracy will be lower — validating on real incidents is the next-round goal.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" y="164592"/>
            <a:ext cx="960120" cy="56692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8064A2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28600" y="164592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FireOrbit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3716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AND REFERENCES</a:t>
            </a:r>
            <a:endParaRPr lang="en-US" sz="24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9480" y="45720"/>
            <a:ext cx="1691640" cy="79552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0070C0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@SIH Idea submission- Template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4846320"/>
            <a:ext cx="8229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 Narrow" pitchFamily="34" charset="0"/>
                <a:ea typeface="Arial Narrow" pitchFamily="34" charset="-122"/>
                <a:cs typeface="Arial Narrow" pitchFamily="34" charset="-120"/>
              </a:rPr>
              <a:t>6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274320" y="896112"/>
            <a:ext cx="8595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</a:t>
            </a:r>
            <a:pPr indent="0" marL="0">
              <a:buNone/>
            </a:pPr>
            <a:r>
              <a:rPr lang="en-US" sz="10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Details / Links of the reference and research work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120700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1207008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 FIRMS — Fire Information for Resource Management System; Area API &amp; VIIRS 375 m active-fire product (VNP14IMG / VJ114IMG)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1389888"/>
            <a:ext cx="8183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https://firms.modaps.eosdis.nasa.gov/api/area/</a:t>
            </a:r>
            <a:endParaRPr lang="en-US" sz="750" dirty="0"/>
          </a:p>
        </p:txBody>
      </p:sp>
      <p:sp>
        <p:nvSpPr>
          <p:cNvPr id="13" name="Text 10"/>
          <p:cNvSpPr txBox="1"/>
          <p:nvPr/>
        </p:nvSpPr>
        <p:spPr>
          <a:xfrm>
            <a:off x="365760" y="160020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8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1600200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Schroeder, W. et al. (2014). The New VIIRS 375 m active fire detection data product. Remote Sensing of Environment, 143, 85–96.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1783080"/>
            <a:ext cx="8183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https://doi.org/10.1016/j.rse.2013.12.008</a:t>
            </a:r>
            <a:endParaRPr lang="en-US" sz="750" dirty="0"/>
          </a:p>
        </p:txBody>
      </p:sp>
      <p:sp>
        <p:nvSpPr>
          <p:cNvPr id="16" name="Text 13"/>
          <p:cNvSpPr txBox="1"/>
          <p:nvPr/>
        </p:nvSpPr>
        <p:spPr>
          <a:xfrm>
            <a:off x="365760" y="199339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640080" y="1993392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Elvidge, C. D. et al. (2013). VIIRS Nightfire: Satellite Pyrometry at Night. Remote Sensing, 5(9), 4423–4449 — basis for gas-flare signatures.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176272"/>
            <a:ext cx="8183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https://doi.org/10.3390/rs5094423</a:t>
            </a:r>
            <a:endParaRPr lang="en-US" sz="750" dirty="0"/>
          </a:p>
        </p:txBody>
      </p:sp>
      <p:sp>
        <p:nvSpPr>
          <p:cNvPr id="19" name="Text 16"/>
          <p:cNvSpPr txBox="1"/>
          <p:nvPr/>
        </p:nvSpPr>
        <p:spPr>
          <a:xfrm>
            <a:off x="365760" y="2386584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2386584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Liu, Y. et al. (2018). Identifying industrial heat sources using time-series of the VIIRS Nightfire product. Remote Sensing of Environment, 204.</a:t>
            </a:r>
            <a:endParaRPr lang="en-US" sz="85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2569464"/>
            <a:ext cx="8183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https://www.sciencedirect.com/journal/remote-sensing-of-environment</a:t>
            </a:r>
            <a:endParaRPr lang="en-US" sz="750" dirty="0"/>
          </a:p>
        </p:txBody>
      </p:sp>
      <p:sp>
        <p:nvSpPr>
          <p:cNvPr id="22" name="Text 19"/>
          <p:cNvSpPr txBox="1"/>
          <p:nvPr/>
        </p:nvSpPr>
        <p:spPr>
          <a:xfrm>
            <a:off x="365760" y="277977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640080" y="2779776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OpenStreetMap Overpass API &amp; tagging: landuse=industrial, man_made=flare|works, power=plant, landuse=quarry|farmland|forest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640080" y="2962656"/>
            <a:ext cx="8183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https://wiki.openstreetmap.org/wiki/Overpass_API</a:t>
            </a:r>
            <a:endParaRPr lang="en-US" sz="750" dirty="0"/>
          </a:p>
        </p:txBody>
      </p:sp>
      <p:sp>
        <p:nvSpPr>
          <p:cNvPr id="25" name="Text 22"/>
          <p:cNvSpPr txBox="1"/>
          <p:nvPr/>
        </p:nvSpPr>
        <p:spPr>
          <a:xfrm>
            <a:off x="365760" y="317296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640080" y="3172968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Copernicus Data Space — Sentinel-2 L2A SWIR (B11/B12) for hotspot verification; ESA WorldCover 10 m land cover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3355848"/>
            <a:ext cx="8183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https://dataspace.copernicus.eu · https://esa-worldcover.org</a:t>
            </a:r>
            <a:endParaRPr lang="en-US" sz="750" dirty="0"/>
          </a:p>
        </p:txBody>
      </p:sp>
      <p:sp>
        <p:nvSpPr>
          <p:cNvPr id="28" name="Text 25"/>
          <p:cNvSpPr txBox="1"/>
          <p:nvPr/>
        </p:nvSpPr>
        <p:spPr>
          <a:xfrm>
            <a:off x="365760" y="3566160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</a:t>
            </a:r>
            <a:endParaRPr lang="en-US" sz="850" dirty="0"/>
          </a:p>
        </p:txBody>
      </p:sp>
      <p:sp>
        <p:nvSpPr>
          <p:cNvPr id="29" name="Text 26"/>
          <p:cNvSpPr txBox="1"/>
          <p:nvPr/>
        </p:nvSpPr>
        <p:spPr>
          <a:xfrm>
            <a:off x="640080" y="3566160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ICAR-IARI CREAMS / CPCB — crop-residue burning bulletins (Oct–Nov, Apr–May seasonality used as a prior)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3749040"/>
            <a:ext cx="8183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https://creams.iari.res.in</a:t>
            </a:r>
            <a:endParaRPr lang="en-US" sz="750" dirty="0"/>
          </a:p>
        </p:txBody>
      </p:sp>
      <p:sp>
        <p:nvSpPr>
          <p:cNvPr id="31" name="Text 28"/>
          <p:cNvSpPr txBox="1"/>
          <p:nvPr/>
        </p:nvSpPr>
        <p:spPr>
          <a:xfrm>
            <a:off x="365760" y="39593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</a:t>
            </a:r>
            <a:endParaRPr lang="en-US" sz="850" dirty="0"/>
          </a:p>
        </p:txBody>
      </p:sp>
      <p:sp>
        <p:nvSpPr>
          <p:cNvPr id="32" name="Text 29"/>
          <p:cNvSpPr txBox="1"/>
          <p:nvPr/>
        </p:nvSpPr>
        <p:spPr>
          <a:xfrm>
            <a:off x="640080" y="3959352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Ester, M. et al. (1996). DBSCAN. KDD-96 · scikit-learn HistGradientBoostingClassifier documentation</a:t>
            </a:r>
            <a:endParaRPr lang="en-US" sz="850" dirty="0"/>
          </a:p>
        </p:txBody>
      </p:sp>
      <p:sp>
        <p:nvSpPr>
          <p:cNvPr id="33" name="Text 30"/>
          <p:cNvSpPr txBox="1"/>
          <p:nvPr/>
        </p:nvSpPr>
        <p:spPr>
          <a:xfrm>
            <a:off x="640080" y="4142232"/>
            <a:ext cx="8183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https://scikit-learn.org</a:t>
            </a:r>
            <a:endParaRPr lang="en-US" sz="750" dirty="0"/>
          </a:p>
        </p:txBody>
      </p:sp>
      <p:sp>
        <p:nvSpPr>
          <p:cNvPr id="34" name="Text 31"/>
          <p:cNvSpPr txBox="1"/>
          <p:nvPr/>
        </p:nvSpPr>
        <p:spPr>
          <a:xfrm>
            <a:off x="365760" y="4352544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E859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640080" y="4352544"/>
            <a:ext cx="8183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prototype — live demo &amp; source code (Team FireOrbit)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0080" y="4535424"/>
            <a:ext cx="8183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https://rahulskandagal.github.io/thermal-sentinel/ · https://github.com/rahulskandagal/thermal-sentinel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SIH 2026 Idea — SIH26162 ThermalSentinel (Team FireOrbit)</dc:title>
  <dc:subject>PptxGenJS Presentation</dc:subject>
  <dc:creator>PptxGenJS</dc:creator>
  <cp:lastModifiedBy>PptxGenJS</cp:lastModifiedBy>
  <cp:revision>1</cp:revision>
  <dcterms:created xsi:type="dcterms:W3CDTF">2026-09-16T16:47:37Z</dcterms:created>
  <dcterms:modified xsi:type="dcterms:W3CDTF">2026-09-16T16:47:37Z</dcterms:modified>
</cp:coreProperties>
</file>