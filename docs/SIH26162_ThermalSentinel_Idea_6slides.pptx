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3792" y="859536"/>
            <a:ext cx="3950208" cy="369417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371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1371600" y="868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 PAGE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320040" y="141732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–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SIH26162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Title-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Detection and Classification of Industrial Fires and Persistent Thermal Sources Using NASA FIRMS, OSM &amp; Satellite Data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Theme-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Management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Category-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ID-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&lt;TEAM ID&gt;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(Registered on portal)-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FireOrbit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960120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64A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16459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FireOrbit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371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ThermalSentinel — Know WHAT is burning, and whether it should be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846320"/>
            <a:ext cx="822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274320" y="89611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64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</a:t>
            </a:r>
            <a:pPr indent="0" marL="0">
              <a:buNone/>
            </a:pPr>
            <a:r>
              <a:rPr lang="en-US" sz="1200" b="1" u="sng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(Describe your Idea/Solution/Prototype)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11887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explanation of the proposed solution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" y="1472184"/>
            <a:ext cx="237744" cy="237744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5760" y="14721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1444752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Ingest:  </a:t>
            </a:r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FIRMS VIIRS 375 m + MODIS hotspots (NRT ≤ 3 h + archive), both sensors normalised to one schema.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65760" y="1801368"/>
            <a:ext cx="237744" cy="23774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5760" y="1801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17739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Track:  </a:t>
            </a:r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 (750 m) groups pixel-jittered detections into thermal SOURCES; 90-day history → active days, night %, FRP baseline μ/σ, persistence score.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65760" y="2130552"/>
            <a:ext cx="237744" cy="237744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5760" y="2130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210312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Contextualise:  </a:t>
            </a:r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OpenStreetMap: nearest refinery / steel / power / flare / kiln / mine (type + distance) and land cover (cropland, forest, industrial).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65760" y="2459736"/>
            <a:ext cx="237744" cy="23774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65760" y="2459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24323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Classify:  </a:t>
            </a:r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AI = explainable rule engine + gradient-boosted trees on 34 features → 6 classes with confidence and plain-language reasons.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365760" y="2788920"/>
            <a:ext cx="237744" cy="23774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5760" y="27889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" y="276148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Alert:  </a:t>
            </a:r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Baseline-relative anomaly: FRP ≥ 2.5 μ and z ≥ 3 at a known source → incident candidate. Routine heat stays silent.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65760" y="3118104"/>
            <a:ext cx="237744" cy="23774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65760" y="31181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3090672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Serve:  </a:t>
            </a:r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DB → GeoJSON REST API → Leaflet GIS dashboard; QGIS / ArcGIS / Bhuvan-ready export.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74320" y="3438144"/>
            <a:ext cx="5394960" cy="512064"/>
          </a:xfrm>
          <a:prstGeom prst="roundRect">
            <a:avLst>
              <a:gd name="adj" fmla="val 8929"/>
            </a:avLst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65760" y="3438144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detection, end-to-end:  </a:t>
            </a:r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FIRMS pixel 22.352° N 70.049° E, FRP 207 MW, 21 Apr 08:06 UTC  →  </a:t>
            </a:r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fire · Jamnagar Refinery (30 m from OSM polygon) · persistent 86/90 days · 10× its 19 MW baseline · ⚠ incident candidate · confidence 0.97 · verify: Sentinel-2 SWIR link</a:t>
            </a:r>
            <a:endParaRPr lang="en-US" sz="720" dirty="0"/>
          </a:p>
        </p:txBody>
      </p:sp>
      <p:sp>
        <p:nvSpPr>
          <p:cNvPr id="31" name="Text 28"/>
          <p:cNvSpPr txBox="1"/>
          <p:nvPr/>
        </p:nvSpPr>
        <p:spPr>
          <a:xfrm>
            <a:off x="274320" y="398678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addresses the problem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411480" y="4242816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asks: segregate industrial fires from forest &amp; natural fires </a:t>
            </a:r>
            <a:pPr indent="0" marL="0">
              <a:buNone/>
            </a:pPr>
            <a:r>
              <a:rPr lang="en-US" sz="7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6-class AI: industrial · wildfire · crop burn · flare · mine</a:t>
            </a:r>
            <a:endParaRPr lang="en-US" sz="700" dirty="0"/>
          </a:p>
        </p:txBody>
      </p:sp>
      <p:sp>
        <p:nvSpPr>
          <p:cNvPr id="33" name="Text 30"/>
          <p:cNvSpPr txBox="1"/>
          <p:nvPr/>
        </p:nvSpPr>
        <p:spPr>
          <a:xfrm>
            <a:off x="411480" y="4425696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asks: GIS storage + map overlay </a:t>
            </a:r>
            <a:pPr indent="0" marL="0">
              <a:buNone/>
            </a:pPr>
            <a:r>
              <a:rPr lang="en-US" sz="7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spatial DB, GeoJSON API, dashboard, QGIS export (live now)</a:t>
            </a:r>
            <a:endParaRPr lang="en-US" sz="700" dirty="0"/>
          </a:p>
        </p:txBody>
      </p:sp>
      <p:sp>
        <p:nvSpPr>
          <p:cNvPr id="34" name="Text 31"/>
          <p:cNvSpPr txBox="1"/>
          <p:nvPr/>
        </p:nvSpPr>
        <p:spPr>
          <a:xfrm>
            <a:off x="411480" y="4608576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management needs: act only on real incidents </a:t>
            </a:r>
            <a:pPr indent="0" marL="0">
              <a:buNone/>
            </a:pPr>
            <a:r>
              <a:rPr lang="en-US" sz="7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138 of 22,179 detections flagged (0.6 %) — 99 % less to triage</a:t>
            </a:r>
            <a:endParaRPr lang="en-US" sz="700" dirty="0"/>
          </a:p>
        </p:txBody>
      </p:sp>
      <p:sp>
        <p:nvSpPr>
          <p:cNvPr id="35" name="Text 32"/>
          <p:cNvSpPr txBox="1"/>
          <p:nvPr/>
        </p:nvSpPr>
        <p:spPr>
          <a:xfrm>
            <a:off x="5806440" y="1188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and uniqueness of the solution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5852160" y="1463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Source-level persistence fingerprint — </a:t>
            </a:r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the SOURCE over 90 days, not a single pixel</a:t>
            </a:r>
            <a:endParaRPr lang="en-US" sz="750" dirty="0"/>
          </a:p>
        </p:txBody>
      </p:sp>
      <p:sp>
        <p:nvSpPr>
          <p:cNvPr id="37" name="Text 34"/>
          <p:cNvSpPr txBox="1"/>
          <p:nvPr/>
        </p:nvSpPr>
        <p:spPr>
          <a:xfrm>
            <a:off x="5852160" y="17373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Baseline-relative anomaly alerts — </a:t>
            </a:r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site compared with its own normal → "operating" vs "on fire"</a:t>
            </a:r>
            <a:endParaRPr lang="en-US" sz="750" dirty="0"/>
          </a:p>
        </p:txBody>
      </p:sp>
      <p:sp>
        <p:nvSpPr>
          <p:cNvPr id="38" name="Text 35"/>
          <p:cNvSpPr txBox="1"/>
          <p:nvPr/>
        </p:nvSpPr>
        <p:spPr>
          <a:xfrm>
            <a:off x="5852160" y="2011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OSM infrastructure fusion — </a:t>
            </a:r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type + distance + land cover as features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5852160" y="2286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Explainable hybrid AI — </a:t>
            </a:r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label ships with human-readable reasons — auditable</a:t>
            </a:r>
            <a:endParaRPr lang="en-US" sz="750" dirty="0"/>
          </a:p>
        </p:txBody>
      </p:sp>
      <p:sp>
        <p:nvSpPr>
          <p:cNvPr id="40" name="Text 37"/>
          <p:cNvSpPr txBox="1"/>
          <p:nvPr/>
        </p:nvSpPr>
        <p:spPr>
          <a:xfrm>
            <a:off x="5852160" y="2560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Unregistered-source discovery — </a:t>
            </a:r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heat with no mapped facility is itself a finding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5852160" y="28346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Open &amp; sovereign — </a:t>
            </a:r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 data, self-hostable, prototype live on GitHub Pages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3154680"/>
          <a:ext cx="3108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48640"/>
                <a:gridCol w="594360"/>
                <a:gridCol w="502920"/>
              </a:tblGrid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existing tools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FIRMS map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GFW / EFFIS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Tells WHAT is burning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Industrial vs wildfire vs crop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B453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◐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Persistent-source registry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 vs own baseline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OSM context + explanations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India-specific priors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Text 39"/>
          <p:cNvSpPr txBox="1"/>
          <p:nvPr/>
        </p:nvSpPr>
        <p:spPr>
          <a:xfrm>
            <a:off x="5806440" y="461772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GFW = Global Forest Watch Fires · EFFIS = Copernicus fire information system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960120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64A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16459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FireOrbit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371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846320"/>
            <a:ext cx="822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274320" y="89611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to be used (e.g. programming languages, frameworks, hardware)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1161288"/>
            <a:ext cx="8321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</a:t>
            </a:r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FIRMS Area API (VIIRS SNPP / NOAA-20 / NOAA-21 375 m, MODIS 1 km) · OpenStreetMap Overpass · Copernicus Sentinel-2 SWIR · NASA Worldview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353312"/>
            <a:ext cx="8321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ML: </a:t>
            </a:r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3, scikit-learn — DBSCAN (haversine), HistGradientBoosting, group-aware validation; rule engine; NumPy / pandas / shapely (STRtree point-in-polygon)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1545336"/>
            <a:ext cx="8321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/ GIS: </a:t>
            </a:r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REST (GeoJSON), SQLite → PostGIS; OGC-standard outputs for QGIS / ArcGIS / ISRO Bhuvan; Docker-ready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1737360"/>
            <a:ext cx="8321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/ hosting: </a:t>
            </a:r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Vite, Leaflet canvas renderer (40 k+ points); runs on a laptop, one Linux VM, NIC cloud or air-gapped server; static demo on GitHub Pages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" y="19476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and process for implementation (Flow Charts/Images/ working prototype)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74320" y="2212848"/>
            <a:ext cx="896112" cy="384048"/>
          </a:xfrm>
          <a:prstGeom prst="roundRect">
            <a:avLst>
              <a:gd name="adj" fmla="val 11905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01752" y="223113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FIRMS</a:t>
            </a:r>
            <a:endParaRPr lang="en-US" sz="650" dirty="0"/>
          </a:p>
        </p:txBody>
      </p:sp>
      <p:sp>
        <p:nvSpPr>
          <p:cNvPr id="17" name="Text 14"/>
          <p:cNvSpPr txBox="1"/>
          <p:nvPr/>
        </p:nvSpPr>
        <p:spPr>
          <a:xfrm>
            <a:off x="301752" y="239572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anomalies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1234440" y="2212848"/>
            <a:ext cx="896112" cy="384048"/>
          </a:xfrm>
          <a:prstGeom prst="roundRect">
            <a:avLst>
              <a:gd name="adj" fmla="val 11905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61872" y="223113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</a:t>
            </a:r>
            <a:endParaRPr lang="en-US" sz="650" dirty="0"/>
          </a:p>
        </p:txBody>
      </p:sp>
      <p:sp>
        <p:nvSpPr>
          <p:cNvPr id="20" name="Text 17"/>
          <p:cNvSpPr txBox="1"/>
          <p:nvPr/>
        </p:nvSpPr>
        <p:spPr>
          <a:xfrm>
            <a:off x="1261872" y="239572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+ land use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2194560" y="2212848"/>
            <a:ext cx="896112" cy="384048"/>
          </a:xfrm>
          <a:prstGeom prst="roundRect">
            <a:avLst>
              <a:gd name="adj" fmla="val 11905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221992" y="223113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Sentinel-2 · Worldview</a:t>
            </a:r>
            <a:endParaRPr lang="en-US" sz="650" dirty="0"/>
          </a:p>
        </p:txBody>
      </p:sp>
      <p:sp>
        <p:nvSpPr>
          <p:cNvPr id="23" name="Text 20"/>
          <p:cNvSpPr txBox="1"/>
          <p:nvPr/>
        </p:nvSpPr>
        <p:spPr>
          <a:xfrm>
            <a:off x="2221992" y="239572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verification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3154680" y="2404872"/>
            <a:ext cx="1828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3383280" y="2176272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590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83280" y="2176272"/>
            <a:ext cx="1005840" cy="155448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419856" y="2176272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Ingest</a:t>
            </a:r>
            <a:endParaRPr lang="en-US" sz="700" dirty="0"/>
          </a:p>
        </p:txBody>
      </p:sp>
      <p:sp>
        <p:nvSpPr>
          <p:cNvPr id="28" name="Text 25"/>
          <p:cNvSpPr txBox="1"/>
          <p:nvPr/>
        </p:nvSpPr>
        <p:spPr>
          <a:xfrm>
            <a:off x="3429000" y="23408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 VIIRS +</a:t>
            </a:r>
            <a:endParaRPr lang="en-US" sz="580" dirty="0"/>
          </a:p>
          <a:p>
            <a:pPr algn="l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MODIS, de-dup passes</a:t>
            </a:r>
            <a:endParaRPr lang="en-US" sz="580" dirty="0"/>
          </a:p>
        </p:txBody>
      </p:sp>
      <p:sp>
        <p:nvSpPr>
          <p:cNvPr id="29" name="Shape 26"/>
          <p:cNvSpPr/>
          <p:nvPr/>
        </p:nvSpPr>
        <p:spPr>
          <a:xfrm>
            <a:off x="4389120" y="2404872"/>
            <a:ext cx="10972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4498848" y="2176272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498848" y="2176272"/>
            <a:ext cx="1005840" cy="1554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535424" y="2176272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Cluster</a:t>
            </a:r>
            <a:endParaRPr lang="en-US" sz="700" dirty="0"/>
          </a:p>
        </p:txBody>
      </p:sp>
      <p:sp>
        <p:nvSpPr>
          <p:cNvPr id="33" name="Text 30"/>
          <p:cNvSpPr txBox="1"/>
          <p:nvPr/>
        </p:nvSpPr>
        <p:spPr>
          <a:xfrm>
            <a:off x="4544568" y="23408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 750 m →</a:t>
            </a:r>
            <a:endParaRPr lang="en-US" sz="580" dirty="0"/>
          </a:p>
          <a:p>
            <a:pPr algn="l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sources</a:t>
            </a:r>
            <a:endParaRPr lang="en-US" sz="580" dirty="0"/>
          </a:p>
        </p:txBody>
      </p:sp>
      <p:sp>
        <p:nvSpPr>
          <p:cNvPr id="34" name="Shape 31"/>
          <p:cNvSpPr/>
          <p:nvPr/>
        </p:nvSpPr>
        <p:spPr>
          <a:xfrm>
            <a:off x="5504688" y="2404872"/>
            <a:ext cx="10972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5614416" y="2176272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614416" y="2176272"/>
            <a:ext cx="1005840" cy="1554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650992" y="2176272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Persistence</a:t>
            </a:r>
            <a:endParaRPr lang="en-US" sz="700" dirty="0"/>
          </a:p>
        </p:txBody>
      </p:sp>
      <p:sp>
        <p:nvSpPr>
          <p:cNvPr id="38" name="Text 35"/>
          <p:cNvSpPr txBox="1"/>
          <p:nvPr/>
        </p:nvSpPr>
        <p:spPr>
          <a:xfrm>
            <a:off x="5660136" y="23408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days, span, night %,</a:t>
            </a:r>
            <a:endParaRPr lang="en-US" sz="580" dirty="0"/>
          </a:p>
          <a:p>
            <a:pPr algn="l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FRP μ / σ / z</a:t>
            </a:r>
            <a:endParaRPr lang="en-US" sz="580" dirty="0"/>
          </a:p>
        </p:txBody>
      </p:sp>
      <p:sp>
        <p:nvSpPr>
          <p:cNvPr id="39" name="Shape 36"/>
          <p:cNvSpPr/>
          <p:nvPr/>
        </p:nvSpPr>
        <p:spPr>
          <a:xfrm>
            <a:off x="6620256" y="2404872"/>
            <a:ext cx="10972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6729984" y="2176272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729984" y="2176272"/>
            <a:ext cx="1005840" cy="1554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766560" y="2176272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Context</a:t>
            </a:r>
            <a:endParaRPr lang="en-US" sz="700" dirty="0"/>
          </a:p>
        </p:txBody>
      </p:sp>
      <p:sp>
        <p:nvSpPr>
          <p:cNvPr id="43" name="Text 40"/>
          <p:cNvSpPr txBox="1"/>
          <p:nvPr/>
        </p:nvSpPr>
        <p:spPr>
          <a:xfrm>
            <a:off x="6775704" y="23408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facility,</a:t>
            </a:r>
            <a:endParaRPr lang="en-US" sz="580" dirty="0"/>
          </a:p>
          <a:p>
            <a:pPr algn="l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cover</a:t>
            </a:r>
            <a:endParaRPr lang="en-US" sz="580" dirty="0"/>
          </a:p>
        </p:txBody>
      </p:sp>
      <p:sp>
        <p:nvSpPr>
          <p:cNvPr id="44" name="Shape 41"/>
          <p:cNvSpPr/>
          <p:nvPr/>
        </p:nvSpPr>
        <p:spPr>
          <a:xfrm>
            <a:off x="7735824" y="2404872"/>
            <a:ext cx="10972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7845552" y="2176272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845552" y="2176272"/>
            <a:ext cx="1005840" cy="1554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882128" y="2176272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Classify</a:t>
            </a:r>
            <a:endParaRPr lang="en-US" sz="700" dirty="0"/>
          </a:p>
        </p:txBody>
      </p:sp>
      <p:sp>
        <p:nvSpPr>
          <p:cNvPr id="48" name="Text 45"/>
          <p:cNvSpPr txBox="1"/>
          <p:nvPr/>
        </p:nvSpPr>
        <p:spPr>
          <a:xfrm>
            <a:off x="7891272" y="23408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+ GBM →</a:t>
            </a:r>
            <a:endParaRPr lang="en-US" sz="580" dirty="0"/>
          </a:p>
          <a:p>
            <a:pPr algn="l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class, conf., reasons</a:t>
            </a:r>
            <a:endParaRPr lang="en-US" sz="580" dirty="0"/>
          </a:p>
        </p:txBody>
      </p:sp>
      <p:sp>
        <p:nvSpPr>
          <p:cNvPr id="49" name="Shape 46"/>
          <p:cNvSpPr/>
          <p:nvPr/>
        </p:nvSpPr>
        <p:spPr>
          <a:xfrm>
            <a:off x="1645920" y="2651760"/>
            <a:ext cx="0" cy="109728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274320" y="2761488"/>
            <a:ext cx="2788920" cy="384048"/>
          </a:xfrm>
          <a:prstGeom prst="roundRect">
            <a:avLst>
              <a:gd name="adj" fmla="val 11905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47472" y="27614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layers: </a:t>
            </a:r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detections, persistent-source registry, GeoJSON API</a:t>
            </a:r>
            <a:endParaRPr lang="en-US" sz="700" dirty="0"/>
          </a:p>
        </p:txBody>
      </p:sp>
      <p:sp>
        <p:nvSpPr>
          <p:cNvPr id="52" name="Shape 49"/>
          <p:cNvSpPr/>
          <p:nvPr/>
        </p:nvSpPr>
        <p:spPr>
          <a:xfrm>
            <a:off x="4526280" y="2651760"/>
            <a:ext cx="0" cy="109728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3154680" y="2761488"/>
            <a:ext cx="2788920" cy="384048"/>
          </a:xfrm>
          <a:prstGeom prst="roundRect">
            <a:avLst>
              <a:gd name="adj" fmla="val 11905"/>
            </a:avLst>
          </a:prstGeom>
          <a:solidFill>
            <a:srgbClr val="FEF2F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27614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Incident alerts: </a:t>
            </a:r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FRP ≥ 2.5 μ &amp; z ≥ 3 at a known source → webhook / SMS / e-mail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406640" y="2651760"/>
            <a:ext cx="0" cy="109728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56" name="Shape 53"/>
          <p:cNvSpPr/>
          <p:nvPr/>
        </p:nvSpPr>
        <p:spPr>
          <a:xfrm>
            <a:off x="6035040" y="2761488"/>
            <a:ext cx="2788920" cy="384048"/>
          </a:xfrm>
          <a:prstGeom prst="roundRect">
            <a:avLst>
              <a:gd name="adj" fmla="val 11905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6108192" y="27614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loop: </a:t>
            </a:r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reasons shown → confirm / override → labels retrain the model</a:t>
            </a:r>
            <a:endParaRPr lang="en-US" sz="700" dirty="0"/>
          </a:p>
        </p:txBody>
      </p:sp>
      <p:sp>
        <p:nvSpPr>
          <p:cNvPr id="58" name="Shape 55"/>
          <p:cNvSpPr/>
          <p:nvPr/>
        </p:nvSpPr>
        <p:spPr>
          <a:xfrm>
            <a:off x="274320" y="3218688"/>
            <a:ext cx="8595360" cy="329184"/>
          </a:xfrm>
          <a:prstGeom prst="roundRect">
            <a:avLst>
              <a:gd name="adj" fmla="val 13889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384048" y="321868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core:  </a:t>
            </a:r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features (radiometry · persistence · OSM context · land cover · calendar priors: Oct–Nov &amp; Apr–May residue burning)  ·  rules give auditable priors, GBM resolves ambiguous cases, agreement raises confidence  ·  trained/tested with a group-aware split so no source leaks between train and test.</a:t>
            </a:r>
            <a:endParaRPr lang="en-US" sz="700" dirty="0"/>
          </a:p>
        </p:txBody>
      </p:sp>
      <p:sp>
        <p:nvSpPr>
          <p:cNvPr id="60" name="Text 57"/>
          <p:cNvSpPr txBox="1"/>
          <p:nvPr/>
        </p:nvSpPr>
        <p:spPr>
          <a:xfrm>
            <a:off x="274320" y="3611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(real screenshots)</a:t>
            </a:r>
            <a:endParaRPr lang="en-US" sz="900" dirty="0"/>
          </a:p>
        </p:txBody>
      </p:sp>
      <p:pic>
        <p:nvPicPr>
          <p:cNvPr id="6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813048"/>
            <a:ext cx="1783080" cy="1005840"/>
          </a:xfrm>
          <a:prstGeom prst="rect">
            <a:avLst/>
          </a:prstGeom>
        </p:spPr>
      </p:pic>
      <p:pic>
        <p:nvPicPr>
          <p:cNvPr id="62" name="Image 2" descr="preencoded.png">    </p:cNvPr>
          <p:cNvPicPr>
            <a:picLocks noChangeAspect="1"/>
          </p:cNvPicPr>
          <p:nvPr/>
        </p:nvPicPr>
        <p:blipFill>
          <a:blip r:embed="rId3"/>
          <a:srcRect l="56410" r="7692" t="7273" b="42727"/>
          <a:stretch/>
        </p:blipFill>
        <p:spPr>
          <a:xfrm>
            <a:off x="2148840" y="3813048"/>
            <a:ext cx="1280160" cy="1005840"/>
          </a:xfrm>
          <a:prstGeom prst="rect">
            <a:avLst/>
          </a:prstGeom>
        </p:spPr>
      </p:pic>
      <p:sp>
        <p:nvSpPr>
          <p:cNvPr id="63" name="Text 58"/>
          <p:cNvSpPr txBox="1"/>
          <p:nvPr/>
        </p:nvSpPr>
        <p:spPr>
          <a:xfrm>
            <a:off x="3566160" y="3794760"/>
            <a:ext cx="5303520" cy="1051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27000" indent="-127000">
              <a:spcAft>
                <a:spcPts val="150"/>
              </a:spcAft>
              <a:buSzPct val="100000"/>
              <a:buChar char="•"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22,179 FIRMS detections classified in ~7 s · 114 persistent sources · 138 incident candidates (0.6 %)</a:t>
            </a:r>
            <a:endParaRPr lang="en-US" sz="750" dirty="0"/>
          </a:p>
          <a:p>
            <a:pPr marL="127000" indent="-127000">
              <a:spcAft>
                <a:spcPts val="150"/>
              </a:spcAft>
              <a:buSzPct val="100000"/>
              <a:buChar char="•"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accuracy 99.9 % vs rules-only 98.4 % on the labelled archive (group-aware split)</a:t>
            </a:r>
            <a:endParaRPr lang="en-US" sz="750" dirty="0"/>
          </a:p>
          <a:p>
            <a:pPr marL="127000" indent="-127000">
              <a:spcAft>
                <a:spcPts val="150"/>
              </a:spcAft>
              <a:buSzPct val="100000"/>
              <a:buChar char="•"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Scales: India ≈ 5–15 k detections / day → seconds of compute; OSM queried only around hotspot cells</a:t>
            </a:r>
            <a:endParaRPr lang="en-US" sz="750" dirty="0"/>
          </a:p>
          <a:p>
            <a:pPr marL="127000" indent="-127000">
              <a:spcAft>
                <a:spcPts val="150"/>
              </a:spcAft>
              <a:buSzPct val="100000"/>
              <a:buChar char="•"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rahulskandagal.github.io/thermal-sentinel  ·  Code: github.com/rahulskandagal/thermal-sentinel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960120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64A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16459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FireOrbit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371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846320"/>
            <a:ext cx="822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274320" y="8961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of the feasibility of the idea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1170432"/>
            <a:ext cx="2788920" cy="2487168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5760" y="1234440"/>
            <a:ext cx="2633472" cy="23774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Technical: end-to-end prototype already runs — 22 k detections → classified in 7 s on a laptop; model trains in seconds; deployed static demo online.</a:t>
            </a:r>
            <a:endParaRPr lang="en-US" sz="8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every input is free, open and API-accessible (FIRMS key issued instantly; OSM Overpass; Copernicus). No procurement, no licence.</a:t>
            </a:r>
            <a:endParaRPr lang="en-US" sz="8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Operational: one env variable switches offline archive → live FIRMS; Overpass queried only around hotspot cells → India-wide refresh in minutes.</a:t>
            </a:r>
            <a:endParaRPr lang="en-US" sz="8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Deployment: SQLite / FastAPI / React on one VM, NIC cloud or an air-gapped NTRO server; GeoJSON fits existing GIS (QGIS, ArcGIS, Bhuvan).</a:t>
            </a:r>
            <a:endParaRPr lang="en-US" sz="8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timeline: 4-week pilot plan (live ingest → validation → alerting) is realistic with the current code base.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3154680" y="8961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challenges and risks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54680" y="1170432"/>
            <a:ext cx="2788920" cy="2487168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46120" y="1234440"/>
            <a:ext cx="2633472" cy="23774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 under-maps Indian industry (small kilns, sponge-iron units) → missed context.</a:t>
            </a:r>
            <a:endParaRPr lang="en-US" sz="8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cover &amp; 375 m pixel offsets between passes → gaps / jitter.</a:t>
            </a:r>
            <a:endParaRPr lang="en-US" sz="8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labelled real incidents; our archive is physically simulated → optimistic accuracy.</a:t>
            </a:r>
            <a:endParaRPr lang="en-US" sz="8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 from legitimate process changes (furnace restart, maintenance flaring).</a:t>
            </a:r>
            <a:endParaRPr lang="en-US" sz="8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Sub-pixel sources (small flares) below VIIRS threshold; Overpass rate limits at national, multi-year scale.</a:t>
            </a:r>
            <a:endParaRPr lang="en-US" sz="8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Adoption: agencies need trust in an AI label before acting on it.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035040" y="8961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 for overcoming these challenges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35040" y="1170432"/>
            <a:ext cx="2788920" cy="2487168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26480" y="1234440"/>
            <a:ext cx="2633472" cy="23774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fingerprint flags unregistered sources even with no OSM facility; curated facility list; Sentinel-2 chip verification.</a:t>
            </a:r>
            <a:endParaRPr lang="en-US" sz="8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window, 4 passes/day from 3 VIIRS satellites; DBSCAN absorbs jitter; anomalies require an established baseline.</a:t>
            </a:r>
            <a:endParaRPr lang="en-US" sz="8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on documented incidents (PESO / CPCB / news); analyst confirm-or-override → labels retrain the model.</a:t>
            </a:r>
            <a:endParaRPr lang="en-US" sz="8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Baseline-relative thresholds + confidence on every alert; tunable per site class.</a:t>
            </a:r>
            <a:endParaRPr lang="en-US" sz="8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VIIRS Nightfire &amp; Landsat TIRS; self-hosted Overpass or ESA WorldCover raster for scale.</a:t>
            </a:r>
            <a:endParaRPr lang="en-US" sz="8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first: every decision shows its reasons — auditable, not a black box.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74320" y="3749040"/>
            <a:ext cx="8595360" cy="1024128"/>
          </a:xfrm>
          <a:prstGeom prst="roundRect">
            <a:avLst>
              <a:gd name="adj" fmla="val 4464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11480" y="37856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VIABILITY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4041648"/>
            <a:ext cx="146304" cy="146304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7784" y="4114800"/>
            <a:ext cx="198424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12648" y="39867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BB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Done</a:t>
            </a:r>
            <a:endParaRPr lang="en-US" sz="700" dirty="0"/>
          </a:p>
        </p:txBody>
      </p:sp>
      <p:sp>
        <p:nvSpPr>
          <p:cNvPr id="23" name="Text 20"/>
          <p:cNvSpPr txBox="1"/>
          <p:nvPr/>
        </p:nvSpPr>
        <p:spPr>
          <a:xfrm>
            <a:off x="411480" y="4224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+ working prototype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411480" y="4389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pipeline, 6-class AI, alerts, GIS dashboard, public demo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2542032" y="4041648"/>
            <a:ext cx="146304" cy="146304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688336" y="4114800"/>
            <a:ext cx="198424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743200" y="39867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4 weeks</a:t>
            </a:r>
            <a:endParaRPr lang="en-US" sz="700" dirty="0"/>
          </a:p>
        </p:txBody>
      </p:sp>
      <p:sp>
        <p:nvSpPr>
          <p:cNvPr id="28" name="Text 25"/>
          <p:cNvSpPr txBox="1"/>
          <p:nvPr/>
        </p:nvSpPr>
        <p:spPr>
          <a:xfrm>
            <a:off x="2542032" y="4224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with live FIRMS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2542032" y="4389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India-wide ingest, validation against real incidents, analyst loop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4672584" y="4041648"/>
            <a:ext cx="146304" cy="14630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818888" y="4114800"/>
            <a:ext cx="198424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873752" y="39867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finale</a:t>
            </a:r>
            <a:endParaRPr lang="en-US" sz="700" dirty="0"/>
          </a:p>
        </p:txBody>
      </p:sp>
      <p:sp>
        <p:nvSpPr>
          <p:cNvPr id="33" name="Text 30"/>
          <p:cNvSpPr txBox="1"/>
          <p:nvPr/>
        </p:nvSpPr>
        <p:spPr>
          <a:xfrm>
            <a:off x="4672584" y="4224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harden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4672584" y="4389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 + tiles, SMS / webhook alerts, Sentinel-2 chip CNN, WorldCover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6803136" y="4041648"/>
            <a:ext cx="146304" cy="146304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04304" y="39867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700" dirty="0"/>
          </a:p>
        </p:txBody>
      </p:sp>
      <p:sp>
        <p:nvSpPr>
          <p:cNvPr id="37" name="Text 34"/>
          <p:cNvSpPr txBox="1"/>
          <p:nvPr/>
        </p:nvSpPr>
        <p:spPr>
          <a:xfrm>
            <a:off x="6803136" y="4224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integration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6803136" y="4389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Bhuvan / NDEM layers, SDMA control-room pilot, SOP for alerts</a:t>
            </a:r>
            <a:endParaRPr lang="en-US" sz="650" dirty="0"/>
          </a:p>
        </p:txBody>
      </p:sp>
      <p:sp>
        <p:nvSpPr>
          <p:cNvPr id="39" name="Text 36"/>
          <p:cNvSpPr txBox="1"/>
          <p:nvPr/>
        </p:nvSpPr>
        <p:spPr>
          <a:xfrm>
            <a:off x="411480" y="4626864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to run: ₹0 data · one VM (≈ ₹3–5 k / month) · open-source stack — sustainable for any state or central agency.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960120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64A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16459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FireOrbit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371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846320"/>
            <a:ext cx="822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274320" y="8961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impact on the target audience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70432"/>
          <a:ext cx="49377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965960"/>
                <a:gridCol w="1737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they get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Measurable outcome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NDMA / SDMAs · fire services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Alerts only on abnormal industrial heat, with location, facility name and reasons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99 % fewer hotspots to triage; response targeted to the right plant, faster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NTRO &amp; security agencies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registry of persistent thermal sources with 90-day activity history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Undeclared / unregistered activity surfaced; shutdowns, restarts and surges detected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CPCB / MoEFCC / state boards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 attribution: stubble burning vs industry vs flaring, per district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Evidence-grade inventories for air-quality and emissions action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Industry &amp; insurers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Verified incident timeline for any site, with imagery links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Faster claims, compliance evidence, third-party monitoring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5394960" y="8961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88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the solution (social, economic, environmental, etc.)</a:t>
            </a:r>
            <a:endParaRPr lang="en-US" sz="880" dirty="0"/>
          </a:p>
        </p:txBody>
      </p:sp>
      <p:sp>
        <p:nvSpPr>
          <p:cNvPr id="12" name="Shape 8"/>
          <p:cNvSpPr/>
          <p:nvPr/>
        </p:nvSpPr>
        <p:spPr>
          <a:xfrm>
            <a:off x="5394960" y="1170432"/>
            <a:ext cx="54864" cy="40233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513832" y="117043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Social: </a:t>
            </a:r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warning for communities around refineries, steel and chemical complexes; fire-service capacity used where it matters.</a:t>
            </a:r>
            <a:endParaRPr lang="en-US" sz="720" dirty="0"/>
          </a:p>
        </p:txBody>
      </p:sp>
      <p:sp>
        <p:nvSpPr>
          <p:cNvPr id="14" name="Shape 10"/>
          <p:cNvSpPr/>
          <p:nvPr/>
        </p:nvSpPr>
        <p:spPr>
          <a:xfrm>
            <a:off x="5394960" y="1627632"/>
            <a:ext cx="54864" cy="402336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513832" y="162763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Economic: </a:t>
            </a:r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 data cost; one VM; losses cut by early detection; a sovereign, open alternative to paid geospatial platforms.</a:t>
            </a:r>
            <a:endParaRPr lang="en-US" sz="720" dirty="0"/>
          </a:p>
        </p:txBody>
      </p:sp>
      <p:sp>
        <p:nvSpPr>
          <p:cNvPr id="16" name="Shape 12"/>
          <p:cNvSpPr/>
          <p:nvPr/>
        </p:nvSpPr>
        <p:spPr>
          <a:xfrm>
            <a:off x="5394960" y="2084832"/>
            <a:ext cx="54864" cy="4023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513832" y="208483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Environmental: </a:t>
            </a:r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Separates agricultural burning from industrial emissions; flaring &amp; coal-fire monitoring feed climate and AQ reporting.</a:t>
            </a:r>
            <a:endParaRPr lang="en-US" sz="720" dirty="0"/>
          </a:p>
        </p:txBody>
      </p:sp>
      <p:sp>
        <p:nvSpPr>
          <p:cNvPr id="18" name="Shape 14"/>
          <p:cNvSpPr/>
          <p:nvPr/>
        </p:nvSpPr>
        <p:spPr>
          <a:xfrm>
            <a:off x="5394960" y="2542032"/>
            <a:ext cx="54864" cy="40233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513832" y="254203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Strategic: </a:t>
            </a:r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Explainable, auditable, air-gap deployable — fits NTRO / NDEM / Bhuvan ecosystems.</a:t>
            </a:r>
            <a:endParaRPr lang="en-US" sz="720" dirty="0"/>
          </a:p>
        </p:txBody>
      </p:sp>
      <p:sp>
        <p:nvSpPr>
          <p:cNvPr id="20" name="Shape 16"/>
          <p:cNvSpPr/>
          <p:nvPr/>
        </p:nvSpPr>
        <p:spPr>
          <a:xfrm>
            <a:off x="5394960" y="3017520"/>
            <a:ext cx="841248" cy="329184"/>
          </a:xfrm>
          <a:prstGeom prst="roundRect">
            <a:avLst>
              <a:gd name="adj" fmla="val 13889"/>
            </a:avLst>
          </a:prstGeom>
          <a:solidFill>
            <a:srgbClr val="F36D25"/>
          </a:solidFill>
          <a:ln w="9525">
            <a:solidFill>
              <a:srgbClr val="F36D25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394960" y="30266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9</a:t>
            </a:r>
            <a:endParaRPr lang="en-US" sz="700" dirty="0"/>
          </a:p>
        </p:txBody>
      </p:sp>
      <p:sp>
        <p:nvSpPr>
          <p:cNvPr id="22" name="Text 18"/>
          <p:cNvSpPr txBox="1"/>
          <p:nvPr/>
        </p:nvSpPr>
        <p:spPr>
          <a:xfrm>
            <a:off x="5394960" y="31729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&amp; infrastructure</a:t>
            </a:r>
            <a:endParaRPr lang="en-US" sz="520" dirty="0"/>
          </a:p>
        </p:txBody>
      </p:sp>
      <p:sp>
        <p:nvSpPr>
          <p:cNvPr id="23" name="Shape 19"/>
          <p:cNvSpPr/>
          <p:nvPr/>
        </p:nvSpPr>
        <p:spPr>
          <a:xfrm>
            <a:off x="6281928" y="3017520"/>
            <a:ext cx="841248" cy="329184"/>
          </a:xfrm>
          <a:prstGeom prst="roundRect">
            <a:avLst>
              <a:gd name="adj" fmla="val 13889"/>
            </a:avLst>
          </a:prstGeom>
          <a:solidFill>
            <a:srgbClr val="F99D26"/>
          </a:solidFill>
          <a:ln w="9525">
            <a:solidFill>
              <a:srgbClr val="F99D2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281928" y="30266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11</a:t>
            </a:r>
            <a:endParaRPr lang="en-US" sz="700" dirty="0"/>
          </a:p>
        </p:txBody>
      </p:sp>
      <p:sp>
        <p:nvSpPr>
          <p:cNvPr id="25" name="Text 21"/>
          <p:cNvSpPr txBox="1"/>
          <p:nvPr/>
        </p:nvSpPr>
        <p:spPr>
          <a:xfrm>
            <a:off x="6281928" y="31729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Safe, resilient cities</a:t>
            </a:r>
            <a:endParaRPr lang="en-US" sz="520" dirty="0"/>
          </a:p>
        </p:txBody>
      </p:sp>
      <p:sp>
        <p:nvSpPr>
          <p:cNvPr id="26" name="Shape 22"/>
          <p:cNvSpPr/>
          <p:nvPr/>
        </p:nvSpPr>
        <p:spPr>
          <a:xfrm>
            <a:off x="7168896" y="3017520"/>
            <a:ext cx="841248" cy="329184"/>
          </a:xfrm>
          <a:prstGeom prst="roundRect">
            <a:avLst>
              <a:gd name="adj" fmla="val 13889"/>
            </a:avLst>
          </a:prstGeom>
          <a:solidFill>
            <a:srgbClr val="3F7E44"/>
          </a:solidFill>
          <a:ln w="9525">
            <a:solidFill>
              <a:srgbClr val="3F7E44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168896" y="30266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13</a:t>
            </a:r>
            <a:endParaRPr lang="en-US" sz="700" dirty="0"/>
          </a:p>
        </p:txBody>
      </p:sp>
      <p:sp>
        <p:nvSpPr>
          <p:cNvPr id="28" name="Text 24"/>
          <p:cNvSpPr txBox="1"/>
          <p:nvPr/>
        </p:nvSpPr>
        <p:spPr>
          <a:xfrm>
            <a:off x="7168896" y="31729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action</a:t>
            </a:r>
            <a:endParaRPr lang="en-US" sz="520" dirty="0"/>
          </a:p>
        </p:txBody>
      </p:sp>
      <p:sp>
        <p:nvSpPr>
          <p:cNvPr id="29" name="Shape 25"/>
          <p:cNvSpPr/>
          <p:nvPr/>
        </p:nvSpPr>
        <p:spPr>
          <a:xfrm>
            <a:off x="8055864" y="3017520"/>
            <a:ext cx="841248" cy="329184"/>
          </a:xfrm>
          <a:prstGeom prst="roundRect">
            <a:avLst>
              <a:gd name="adj" fmla="val 13889"/>
            </a:avLst>
          </a:prstGeom>
          <a:solidFill>
            <a:srgbClr val="4C9F38"/>
          </a:solidFill>
          <a:ln w="9525">
            <a:solidFill>
              <a:srgbClr val="4C9F38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8055864" y="30266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3</a:t>
            </a:r>
            <a:endParaRPr lang="en-US" sz="700" dirty="0"/>
          </a:p>
        </p:txBody>
      </p:sp>
      <p:sp>
        <p:nvSpPr>
          <p:cNvPr id="31" name="Text 27"/>
          <p:cNvSpPr txBox="1"/>
          <p:nvPr/>
        </p:nvSpPr>
        <p:spPr>
          <a:xfrm>
            <a:off x="8055864" y="3172968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&amp; well-being</a:t>
            </a:r>
            <a:endParaRPr lang="en-US" sz="520" dirty="0"/>
          </a:p>
        </p:txBody>
      </p:sp>
      <p:sp>
        <p:nvSpPr>
          <p:cNvPr id="32" name="Shape 28"/>
          <p:cNvSpPr/>
          <p:nvPr/>
        </p:nvSpPr>
        <p:spPr>
          <a:xfrm>
            <a:off x="274320" y="3456432"/>
            <a:ext cx="8595360" cy="1316736"/>
          </a:xfrm>
          <a:prstGeom prst="roundRect">
            <a:avLst>
              <a:gd name="adj" fmla="val 3472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11480" y="34930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— what the working prototype already delivers (90-day labelled archive over real Indian industrial sites)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411480" y="373075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22,179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1417320" y="3730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detections classified in ~7 s</a:t>
            </a:r>
            <a:endParaRPr lang="en-US" sz="750" dirty="0"/>
          </a:p>
        </p:txBody>
      </p:sp>
      <p:sp>
        <p:nvSpPr>
          <p:cNvPr id="36" name="Text 32"/>
          <p:cNvSpPr txBox="1"/>
          <p:nvPr/>
        </p:nvSpPr>
        <p:spPr>
          <a:xfrm>
            <a:off x="3200400" y="373075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4206240" y="3730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sources registered</a:t>
            </a:r>
            <a:endParaRPr lang="en-US" sz="750" dirty="0"/>
          </a:p>
        </p:txBody>
      </p:sp>
      <p:sp>
        <p:nvSpPr>
          <p:cNvPr id="38" name="Text 34"/>
          <p:cNvSpPr txBox="1"/>
          <p:nvPr/>
        </p:nvSpPr>
        <p:spPr>
          <a:xfrm>
            <a:off x="5989320" y="373075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</a:t>
            </a:r>
            <a:endParaRPr lang="en-US" sz="1500" dirty="0"/>
          </a:p>
        </p:txBody>
      </p:sp>
      <p:sp>
        <p:nvSpPr>
          <p:cNvPr id="39" name="Text 35"/>
          <p:cNvSpPr txBox="1"/>
          <p:nvPr/>
        </p:nvSpPr>
        <p:spPr>
          <a:xfrm>
            <a:off x="6995160" y="37307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candidates (0.6 %)</a:t>
            </a:r>
            <a:endParaRPr lang="en-US" sz="750" dirty="0"/>
          </a:p>
        </p:txBody>
      </p:sp>
      <p:sp>
        <p:nvSpPr>
          <p:cNvPr id="40" name="Text 36"/>
          <p:cNvSpPr txBox="1"/>
          <p:nvPr/>
        </p:nvSpPr>
        <p:spPr>
          <a:xfrm>
            <a:off x="411480" y="413308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99.9 %</a:t>
            </a:r>
            <a:endParaRPr lang="en-US" sz="1500" dirty="0"/>
          </a:p>
        </p:txBody>
      </p:sp>
      <p:sp>
        <p:nvSpPr>
          <p:cNvPr id="41" name="Text 37"/>
          <p:cNvSpPr txBox="1"/>
          <p:nvPr/>
        </p:nvSpPr>
        <p:spPr>
          <a:xfrm>
            <a:off x="1417320" y="4133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accuracy, group-aware split</a:t>
            </a:r>
            <a:endParaRPr lang="en-US" sz="750" dirty="0"/>
          </a:p>
        </p:txBody>
      </p:sp>
      <p:sp>
        <p:nvSpPr>
          <p:cNvPr id="42" name="Text 38"/>
          <p:cNvSpPr txBox="1"/>
          <p:nvPr/>
        </p:nvSpPr>
        <p:spPr>
          <a:xfrm>
            <a:off x="3200400" y="413308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98.4 %</a:t>
            </a:r>
            <a:endParaRPr lang="en-US" sz="1500" dirty="0"/>
          </a:p>
        </p:txBody>
      </p:sp>
      <p:sp>
        <p:nvSpPr>
          <p:cNvPr id="43" name="Text 39"/>
          <p:cNvSpPr txBox="1"/>
          <p:nvPr/>
        </p:nvSpPr>
        <p:spPr>
          <a:xfrm>
            <a:off x="4206240" y="4133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rules-only (explainable baseline)</a:t>
            </a:r>
            <a:endParaRPr lang="en-US" sz="750" dirty="0"/>
          </a:p>
        </p:txBody>
      </p:sp>
      <p:sp>
        <p:nvSpPr>
          <p:cNvPr id="44" name="Text 40"/>
          <p:cNvSpPr txBox="1"/>
          <p:nvPr/>
        </p:nvSpPr>
        <p:spPr>
          <a:xfrm>
            <a:off x="5989320" y="413308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45" name="Text 41"/>
          <p:cNvSpPr txBox="1"/>
          <p:nvPr/>
        </p:nvSpPr>
        <p:spPr>
          <a:xfrm>
            <a:off x="6995160" y="4133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· 34 features · 3 data sources</a:t>
            </a:r>
            <a:endParaRPr lang="en-US" sz="750" dirty="0"/>
          </a:p>
        </p:txBody>
      </p:sp>
      <p:sp>
        <p:nvSpPr>
          <p:cNvPr id="46" name="Text 42"/>
          <p:cNvSpPr txBox="1"/>
          <p:nvPr/>
        </p:nvSpPr>
        <p:spPr>
          <a:xfrm>
            <a:off x="411480" y="45262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found: Bhilai Steel 414 MW vs 32 MW baseline · Jamnagar Refinery 207 MW vs 19 MW · Tata Steel 101 MW vs 26 MW.  Honest note: the archive is physically simulated &amp; labelled, so real-world accuracy will be lower — validating on confirmed incidents is the next-round goal.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64592"/>
            <a:ext cx="960120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64A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16459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FireOrbit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371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REFERENCES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45720"/>
            <a:ext cx="1691640" cy="795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@SIH Idea submission- Template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846320"/>
            <a:ext cx="8229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274320" y="89611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/ Links of the reference and research work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365760" y="12070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207008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FIRMS — Fire Information for Resource Management System; Area API &amp; VIIRS 375 m active-fire product (VNP14IMG / VJ114IMG)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1389888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https://firms.modaps.eosdis.nasa.gov/api/area/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16002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1600200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Schroeder, W. et al. (2014). The New VIIRS 375 m active fire detection data product. Remote Sensing of Environment, 143, 85–96.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1783080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https://doi.org/10.1016/j.rse.2013.12.008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365760" y="19933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1993392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Elvidge, C. D. et al. (2013). VIIRS Nightfire: Satellite Pyrometry at Night. Remote Sensing, 5(9), 4423–4449 — basis for gas-flare signatures.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176272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https://doi.org/10.3390/rs5094423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365760" y="23865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2386584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Liu, Y. et al. (2018). Identifying industrial heat sources using time-series of the VIIRS Nightfire product. Remote Sensing of Environment, 204.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2569464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https://www.sciencedirect.com/journal/remote-sensing-of-environment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365760" y="27797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2779776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 Overpass API &amp; tagging: landuse=industrial, man_made=flare|works, power=plant, landuse=quarry|farmland|forest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2962656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https://wiki.openstreetmap.org/wiki/Overpass_API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365760" y="3172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3172968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Copernicus Data Space — Sentinel-2 L2A SWIR (B11/B12) for hotspot verification; ESA WorldCover 10 m land cover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3355848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https://dataspace.copernicus.eu · https://esa-worldcover.org</a:t>
            </a:r>
            <a:endParaRPr lang="en-US" sz="750" dirty="0"/>
          </a:p>
        </p:txBody>
      </p:sp>
      <p:sp>
        <p:nvSpPr>
          <p:cNvPr id="28" name="Text 25"/>
          <p:cNvSpPr txBox="1"/>
          <p:nvPr/>
        </p:nvSpPr>
        <p:spPr>
          <a:xfrm>
            <a:off x="365760" y="35661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3566160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ICAR-IARI CREAMS / CPCB — crop-residue burning bulletins (Oct–Nov, Apr–May seasonality used as a prior)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3749040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https://creams.iari.res.in</a:t>
            </a:r>
            <a:endParaRPr lang="en-US" sz="750" dirty="0"/>
          </a:p>
        </p:txBody>
      </p:sp>
      <p:sp>
        <p:nvSpPr>
          <p:cNvPr id="31" name="Text 28"/>
          <p:cNvSpPr txBox="1"/>
          <p:nvPr/>
        </p:nvSpPr>
        <p:spPr>
          <a:xfrm>
            <a:off x="365760" y="39593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3959352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Ester, M. et al. (1996). DBSCAN. KDD-96 · scikit-learn HistGradientBoostingClassifier documentation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4142232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https://scikit-learn.org</a:t>
            </a:r>
            <a:endParaRPr lang="en-US" sz="750" dirty="0"/>
          </a:p>
        </p:txBody>
      </p:sp>
      <p:sp>
        <p:nvSpPr>
          <p:cNvPr id="34" name="Text 31"/>
          <p:cNvSpPr txBox="1"/>
          <p:nvPr/>
        </p:nvSpPr>
        <p:spPr>
          <a:xfrm>
            <a:off x="365760" y="435254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4352544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prototype — live demo &amp; source code (Team FireOrbit)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4535424"/>
            <a:ext cx="8183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https://rahulskandagal.github.io/thermal-sentinel/ · https://github.com/rahulskandagal/thermal-sentinel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 2026 Idea — SIH26162 ThermalSentinel (Team FireOrbit)</dc:title>
  <dc:subject>PptxGenJS Presentation</dc:subject>
  <dc:creator>PptxGenJS</dc:creator>
  <cp:lastModifiedBy>PptxGenJS</cp:lastModifiedBy>
  <cp:revision>1</cp:revision>
  <dcterms:created xsi:type="dcterms:W3CDTF">2026-09-19T14:19:02Z</dcterms:created>
  <dcterms:modified xsi:type="dcterms:W3CDTF">2026-09-19T14:19:02Z</dcterms:modified>
</cp:coreProperties>
</file>