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INDIA HACKATHON 2026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PAGE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49377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ID - </a:t>
            </a:r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SIH26162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Title - </a:t>
            </a:r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AI-Based Detection and Classification of Industrial Fires and Persistent Thermal Sources Using NASA FIRMS, OSM &amp; Satellite Data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 - </a:t>
            </a:r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Disaster Management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 Category - </a:t>
            </a:r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ID - </a:t>
            </a:r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&lt;TEAM ID&gt;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Name (Registered on portal) - </a:t>
            </a:r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FireOrbit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548640" y="4069080"/>
            <a:ext cx="4937760" cy="685800"/>
          </a:xfrm>
          <a:prstGeom prst="roundRect">
            <a:avLst>
              <a:gd name="adj" fmla="val 6667"/>
            </a:avLst>
          </a:prstGeom>
          <a:solidFill>
            <a:srgbClr val="F3F4F6"/>
          </a:solidFill>
          <a:ln w="9525">
            <a:solidFill>
              <a:srgbClr val="F3F4F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406908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 TITLE:  </a:t>
            </a:r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ThermalSentinel — an AI + GIS system that classifies every NASA FIRMS hotspot (industrial fire, gas flare, mine fire, crop burning, wildfire) and alerts only on abnormal industrial heat.</a:t>
            </a:r>
            <a:endParaRPr lang="en-US" sz="105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1371600"/>
            <a:ext cx="3108960" cy="1746504"/>
          </a:xfrm>
          <a:prstGeom prst="rect">
            <a:avLst/>
          </a:prstGeom>
        </p:spPr>
      </p:pic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rcRect l="55844" r="0" t="6928" b="48961"/>
          <a:stretch/>
        </p:blipFill>
        <p:spPr>
          <a:xfrm>
            <a:off x="5760720" y="3200400"/>
            <a:ext cx="3108960" cy="174650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760720" y="4956048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prototype (screenshots)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74320" y="13716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
</a:t>
            </a:r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FireOrbit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737360" y="13716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 TITLE / PROPOSED SOLUTION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274320" y="484632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@SIH Idea submission- Template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274320" y="621792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ThermalSentinel — AI classification of industrial fires &amp; persistent thermal sources on a GIS map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274320" y="960120"/>
            <a:ext cx="2743200" cy="214884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65760" y="100584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➤ The problem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365760" y="1261872"/>
            <a:ext cx="2560320" cy="18288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/>
          <a:lstStyle/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NASA FIRMS gives thousands of "hot pixels" over India daily — location, brightness, FRP only.</a:t>
            </a:r>
            <a:endParaRPr lang="en-US" sz="9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refinery flare, steel plant, coal-seam fire, stubble burn and forest fire look IDENTICAL.</a:t>
            </a:r>
            <a:endParaRPr lang="en-US" sz="9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Disaster managers cannot prioritise; a real plant fire hides among thousands of routine hotspots.</a:t>
            </a:r>
            <a:endParaRPr lang="en-US" sz="9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registry exists of persistent thermal sources or undeclared industrial activity.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108960" y="960120"/>
            <a:ext cx="3108960" cy="214884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200400" y="100584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➤ Detailed explanation of the proposed solution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3200400" y="1261872"/>
            <a:ext cx="2926080" cy="18288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/>
          <a:lstStyle/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 VIIRS/MODIS hotspots from the FIRMS API (NRT + archive).</a:t>
            </a:r>
            <a:endParaRPr lang="en-US" sz="8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detections into thermal SOURCES (DBSCAN) and track each over 90 days → persistence score.</a:t>
            </a:r>
            <a:endParaRPr lang="en-US" sz="8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context from OpenStreetMap: nearest refinery / steel / power / flare / kiln / mine + land cover.</a:t>
            </a:r>
            <a:endParaRPr lang="en-US" sz="8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classifier (explainable rules + gradient-boosted trees) → 6 classes with confidence &amp; reasons.</a:t>
            </a:r>
            <a:endParaRPr lang="en-US" sz="8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FRP-anomaly detector: a known source burning ≥ 2.5× its own baseline → incident alert.</a:t>
            </a:r>
            <a:endParaRPr lang="en-US" sz="8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stored in a spatial DB and served as GeoJSON to a Leaflet GIS dashboard; export to QGIS.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6309360" y="960120"/>
            <a:ext cx="2560320" cy="214884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0" y="100584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➤ How it addresses the problem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6400800" y="1261872"/>
            <a:ext cx="2377440" cy="18288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/>
          <a:lstStyle/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 fires are SEGREGATED from forest fires, crop burning, flares and mine fires — the PS requirement.</a:t>
            </a:r>
            <a:endParaRPr lang="en-US" sz="8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abnormal industrial heat raises an alert → 99 % fewer hotspots to triage.</a:t>
            </a:r>
            <a:endParaRPr lang="en-US" sz="8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result is a map overlay + stored record (GIS requirement).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274320" y="3200400"/>
            <a:ext cx="3108960" cy="155448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65760" y="324612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➤ Innovation and uniqueness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365760" y="3502152"/>
            <a:ext cx="2926080" cy="123444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/>
          <a:lstStyle/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to fuse temporal persistence + OSM infrastructure + physical signature in ONE explainable classifier.</a:t>
            </a:r>
            <a:endParaRPr lang="en-US" sz="8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Baseline-relative anomaly alerts distinguish "refinery operating" from "refinery on fire".</a:t>
            </a:r>
            <a:endParaRPr lang="en-US" sz="8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 UNREGISTERED sources: persistent heat where no facility is mapped.</a:t>
            </a:r>
            <a:endParaRPr lang="en-US" sz="8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data cost — all open sources; runs offline or live with one API key.</a:t>
            </a:r>
            <a:endParaRPr lang="en-US" sz="8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474720" y="3200400"/>
          <a:ext cx="53949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005840"/>
                <a:gridCol w="1005840"/>
                <a:gridCol w="1005840"/>
              </a:tblGrid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Comparison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FIRMS map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Fire dashboards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ThermalSentinel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Shows hotspots on a map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Tells WHAT is burning (6 classes)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✖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✖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Industrial vs wildfire vs crop burn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✖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◐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Persistent-source registry + history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✖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✖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Incident alert vs own baseline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✖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✖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Explains every decision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✖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✖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74320" y="13716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
</a:t>
            </a:r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FireOrbit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737360" y="13716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APPROACH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274320" y="484632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@SIH Idea submission- Template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274320" y="6400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➤ Technologies to be used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886968"/>
            <a:ext cx="85039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Data: </a:t>
            </a:r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NASA FIRMS Area API (VIIRS 375 m, MODIS), OpenStreetMap Overpass, Copernicus Sentinel-2 / NASA Worldview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1097280"/>
            <a:ext cx="85039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/ ML: </a:t>
            </a:r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3, FastAPI, pandas, NumPy, scikit-learn (DBSCAN, HistGradientBoosting), shapely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320040" y="1307592"/>
            <a:ext cx="85039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/ GIS: </a:t>
            </a:r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→ PostGIS, GeoJSON API, QGIS / ArcGIS export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320040" y="1517904"/>
            <a:ext cx="85039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Frontend: </a:t>
            </a:r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18, Vite, Leaflet (canvas), GitHub Pages / any VM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274320" y="17830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➤ Methodology and process for implementation (flow chart)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74320" y="2057400"/>
            <a:ext cx="1325880" cy="804672"/>
          </a:xfrm>
          <a:prstGeom prst="roundRect">
            <a:avLst>
              <a:gd name="adj" fmla="val 5682"/>
            </a:avLst>
          </a:prstGeom>
          <a:solidFill>
            <a:srgbClr val="FFFFFF"/>
          </a:solidFill>
          <a:ln w="9525">
            <a:solidFill>
              <a:srgbClr val="E8590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74320" y="2057400"/>
            <a:ext cx="1325880" cy="237744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20040" y="205740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Ingest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338328" y="2322576"/>
            <a:ext cx="12161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FIRMS hotspots</a:t>
            </a:r>
            <a:endParaRPr lang="en-US" sz="750" dirty="0"/>
          </a:p>
          <a:p>
            <a:pPr algn="l" indent="0" marL="0">
              <a:buNone/>
            </a:pPr>
            <a:r>
              <a:rPr lang="en-US" sz="7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10-day chunks,</a:t>
            </a:r>
            <a:endParaRPr lang="en-US" sz="750" dirty="0"/>
          </a:p>
          <a:p>
            <a:pPr algn="l" indent="0" marL="0">
              <a:buNone/>
            </a:pPr>
            <a:r>
              <a:rPr lang="en-US" sz="7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normalise, de-dup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1600200" y="2459736"/>
            <a:ext cx="137160" cy="0"/>
          </a:xfrm>
          <a:prstGeom prst="line">
            <a:avLst/>
          </a:prstGeom>
          <a:noFill/>
          <a:ln w="19050">
            <a:solidFill>
              <a:srgbClr val="9CA3AF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1737360" y="2057400"/>
            <a:ext cx="1325880" cy="804672"/>
          </a:xfrm>
          <a:prstGeom prst="roundRect">
            <a:avLst>
              <a:gd name="adj" fmla="val 5682"/>
            </a:avLst>
          </a:prstGeom>
          <a:solidFill>
            <a:srgbClr val="FFFFFF"/>
          </a:solidFill>
          <a:ln w="9525">
            <a:solidFill>
              <a:srgbClr val="1D4E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737360" y="2057400"/>
            <a:ext cx="1325880" cy="23774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783080" y="205740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Cluster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801368" y="2322576"/>
            <a:ext cx="12161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Haversine DBSCAN</a:t>
            </a:r>
            <a:endParaRPr lang="en-US" sz="750" dirty="0"/>
          </a:p>
          <a:p>
            <a:pPr algn="l" indent="0" marL="0">
              <a:buNone/>
            </a:pPr>
            <a:r>
              <a:rPr lang="en-US" sz="7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750 m → thermal</a:t>
            </a:r>
            <a:endParaRPr lang="en-US" sz="750" dirty="0"/>
          </a:p>
          <a:p>
            <a:pPr algn="l" indent="0" marL="0">
              <a:buNone/>
            </a:pPr>
            <a:r>
              <a:rPr lang="en-US" sz="7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3063240" y="2459736"/>
            <a:ext cx="137160" cy="0"/>
          </a:xfrm>
          <a:prstGeom prst="line">
            <a:avLst/>
          </a:prstGeom>
          <a:noFill/>
          <a:ln w="19050">
            <a:solidFill>
              <a:srgbClr val="9CA3AF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3200400" y="2057400"/>
            <a:ext cx="1325880" cy="804672"/>
          </a:xfrm>
          <a:prstGeom prst="roundRect">
            <a:avLst>
              <a:gd name="adj" fmla="val 5682"/>
            </a:avLst>
          </a:prstGeom>
          <a:solidFill>
            <a:srgbClr val="FFFFFF"/>
          </a:solidFill>
          <a:ln w="9525">
            <a:solidFill>
              <a:srgbClr val="6D28D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2057400"/>
            <a:ext cx="1325880" cy="237744"/>
          </a:xfrm>
          <a:prstGeom prst="rect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246120" y="205740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Persistence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3264408" y="2322576"/>
            <a:ext cx="12161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days, span,</a:t>
            </a:r>
            <a:endParaRPr lang="en-US" sz="750" dirty="0"/>
          </a:p>
          <a:p>
            <a:pPr algn="l" indent="0" marL="0">
              <a:buNone/>
            </a:pPr>
            <a:r>
              <a:rPr lang="en-US" sz="7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 %, FRP mean</a:t>
            </a:r>
            <a:endParaRPr lang="en-US" sz="750" dirty="0"/>
          </a:p>
          <a:p>
            <a:pPr algn="l" indent="0" marL="0">
              <a:buNone/>
            </a:pPr>
            <a:r>
              <a:rPr lang="en-US" sz="7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CV / z-score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4526280" y="2459736"/>
            <a:ext cx="137160" cy="0"/>
          </a:xfrm>
          <a:prstGeom prst="line">
            <a:avLst/>
          </a:prstGeom>
          <a:noFill/>
          <a:ln w="19050">
            <a:solidFill>
              <a:srgbClr val="9CA3AF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4663440" y="2057400"/>
            <a:ext cx="1325880" cy="804672"/>
          </a:xfrm>
          <a:prstGeom prst="roundRect">
            <a:avLst>
              <a:gd name="adj" fmla="val 5682"/>
            </a:avLst>
          </a:prstGeom>
          <a:solidFill>
            <a:srgbClr val="FFFFFF"/>
          </a:solidFill>
          <a:ln w="9525">
            <a:solidFill>
              <a:srgbClr val="15803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663440" y="2057400"/>
            <a:ext cx="1325880" cy="237744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709160" y="205740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OSM context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4727448" y="2322576"/>
            <a:ext cx="12161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nearest facility</a:t>
            </a:r>
            <a:endParaRPr lang="en-US" sz="750" dirty="0"/>
          </a:p>
          <a:p>
            <a:pPr algn="l" indent="0" marL="0">
              <a:buNone/>
            </a:pPr>
            <a:r>
              <a:rPr lang="en-US" sz="7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+ distance,</a:t>
            </a:r>
            <a:endParaRPr lang="en-US" sz="750" dirty="0"/>
          </a:p>
          <a:p>
            <a:pPr algn="l" indent="0" marL="0">
              <a:buNone/>
            </a:pPr>
            <a:r>
              <a:rPr lang="en-US" sz="7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 cover (PIP)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5989320" y="2459736"/>
            <a:ext cx="137160" cy="0"/>
          </a:xfrm>
          <a:prstGeom prst="line">
            <a:avLst/>
          </a:prstGeom>
          <a:noFill/>
          <a:ln w="19050">
            <a:solidFill>
              <a:srgbClr val="9CA3AF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6126480" y="2057400"/>
            <a:ext cx="1325880" cy="804672"/>
          </a:xfrm>
          <a:prstGeom prst="roundRect">
            <a:avLst>
              <a:gd name="adj" fmla="val 5682"/>
            </a:avLst>
          </a:prstGeom>
          <a:solidFill>
            <a:srgbClr val="FFFFFF"/>
          </a:solidFill>
          <a:ln w="9525">
            <a:solidFill>
              <a:srgbClr val="B91C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126480" y="2057400"/>
            <a:ext cx="1325880" cy="237744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172200" y="205740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Classify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6190488" y="2322576"/>
            <a:ext cx="12161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+ GBM vote</a:t>
            </a:r>
            <a:endParaRPr lang="en-US" sz="750" dirty="0"/>
          </a:p>
          <a:p>
            <a:pPr algn="l" indent="0" marL="0">
              <a:buNone/>
            </a:pPr>
            <a:r>
              <a:rPr lang="en-US" sz="7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6 classes,</a:t>
            </a:r>
            <a:endParaRPr lang="en-US" sz="750" dirty="0"/>
          </a:p>
          <a:p>
            <a:pPr algn="l" indent="0" marL="0">
              <a:buNone/>
            </a:pPr>
            <a:r>
              <a:rPr lang="en-US" sz="7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confidence, reasons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7452360" y="2459736"/>
            <a:ext cx="137160" cy="0"/>
          </a:xfrm>
          <a:prstGeom prst="line">
            <a:avLst/>
          </a:prstGeom>
          <a:noFill/>
          <a:ln w="19050">
            <a:solidFill>
              <a:srgbClr val="9CA3AF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7589520" y="2057400"/>
            <a:ext cx="1325880" cy="804672"/>
          </a:xfrm>
          <a:prstGeom prst="roundRect">
            <a:avLst>
              <a:gd name="adj" fmla="val 5682"/>
            </a:avLst>
          </a:prstGeom>
          <a:solidFill>
            <a:srgbClr val="FFFFFF"/>
          </a:solidFill>
          <a:ln w="9525">
            <a:solidFill>
              <a:srgbClr val="0F172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589520" y="2057400"/>
            <a:ext cx="1325880" cy="237744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635240" y="205740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Serve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7653528" y="2322576"/>
            <a:ext cx="12161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→ GeoJSON</a:t>
            </a:r>
            <a:endParaRPr lang="en-US" sz="750" dirty="0"/>
          </a:p>
          <a:p>
            <a:pPr algn="l" indent="0" marL="0">
              <a:buNone/>
            </a:pPr>
            <a:r>
              <a:rPr lang="en-US" sz="7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→ Leaflet GIS</a:t>
            </a:r>
            <a:endParaRPr lang="en-US" sz="750" dirty="0"/>
          </a:p>
          <a:p>
            <a:pPr algn="l" indent="0" marL="0">
              <a:buNone/>
            </a:pPr>
            <a:r>
              <a:rPr lang="en-US" sz="7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dashboard, export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6784848" y="2862072"/>
            <a:ext cx="0" cy="155448"/>
          </a:xfrm>
          <a:prstGeom prst="line">
            <a:avLst/>
          </a:prstGeom>
          <a:noFill/>
          <a:ln w="19050">
            <a:solidFill>
              <a:srgbClr val="B91C1C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5623560" y="3017520"/>
            <a:ext cx="2331720" cy="329184"/>
          </a:xfrm>
          <a:prstGeom prst="roundRect">
            <a:avLst>
              <a:gd name="adj" fmla="val 13889"/>
            </a:avLst>
          </a:prstGeom>
          <a:solidFill>
            <a:srgbClr val="FEF2F2"/>
          </a:solidFill>
          <a:ln w="9525">
            <a:solidFill>
              <a:srgbClr val="B91C1C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687568" y="3017520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Anomaly: FRP ≥ 2.5× source baseline &amp; z ≥ 3 → incident alert</a:t>
            </a:r>
            <a:endParaRPr lang="en-US" sz="750" dirty="0"/>
          </a:p>
        </p:txBody>
      </p:sp>
      <p:sp>
        <p:nvSpPr>
          <p:cNvPr id="44" name="Text 42"/>
          <p:cNvSpPr txBox="1"/>
          <p:nvPr/>
        </p:nvSpPr>
        <p:spPr>
          <a:xfrm>
            <a:off x="274320" y="2926080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Inputs: NASA FIRMS (thermal anomalies) · OSM (infrastructure &amp; land use) · Sentinel-2 / Worldview (visual verification)</a:t>
            </a:r>
            <a:endParaRPr lang="en-US" sz="800" dirty="0"/>
          </a:p>
        </p:txBody>
      </p:sp>
      <p:sp>
        <p:nvSpPr>
          <p:cNvPr id="45" name="Text 43"/>
          <p:cNvSpPr txBox="1"/>
          <p:nvPr/>
        </p:nvSpPr>
        <p:spPr>
          <a:xfrm>
            <a:off x="274320" y="340156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➤ Working prototype (real screenshots)</a:t>
            </a:r>
            <a:endParaRPr lang="en-US" sz="1050" dirty="0"/>
          </a:p>
        </p:txBody>
      </p:sp>
      <p:pic>
        <p:nvPicPr>
          <p:cNvPr id="4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3657600"/>
            <a:ext cx="2103120" cy="1179576"/>
          </a:xfrm>
          <a:prstGeom prst="rect">
            <a:avLst/>
          </a:prstGeom>
        </p:spPr>
      </p:pic>
      <p:pic>
        <p:nvPicPr>
          <p:cNvPr id="47" name="Image 1" descr="preencoded.png">    </p:cNvPr>
          <p:cNvPicPr>
            <a:picLocks noChangeAspect="1"/>
          </p:cNvPicPr>
          <p:nvPr/>
        </p:nvPicPr>
        <p:blipFill>
          <a:blip r:embed="rId2"/>
          <a:srcRect l="55682" r="7955" t="6883" b="40891"/>
          <a:stretch/>
        </p:blipFill>
        <p:spPr>
          <a:xfrm>
            <a:off x="2468880" y="3657600"/>
            <a:ext cx="1463040" cy="1179576"/>
          </a:xfrm>
          <a:prstGeom prst="rect">
            <a:avLst/>
          </a:prstGeom>
        </p:spPr>
      </p:pic>
      <p:sp>
        <p:nvSpPr>
          <p:cNvPr id="48" name="Text 44"/>
          <p:cNvSpPr txBox="1"/>
          <p:nvPr/>
        </p:nvSpPr>
        <p:spPr>
          <a:xfrm>
            <a:off x="4069080" y="3657600"/>
            <a:ext cx="4800600" cy="118872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/>
          <a:lstStyle/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22,179 FIRMS detections classified in ~7 s · 114 persistent sources · 138 incident candidates</a:t>
            </a:r>
            <a:endParaRPr lang="en-US" sz="8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accuracy 99.9 % on labelled archive (group-aware split); rules-only 98.4 %</a:t>
            </a:r>
            <a:endParaRPr lang="en-US" sz="8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demo: https://rahulskandagal.github.io/thermal-sentinel/  ·  code: github.com/rahulskandagal/thermal-sentinel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74320" y="13716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
</a:t>
            </a:r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FireOrbit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737360" y="13716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FEASIBILITY AND VIABILITY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274320" y="484632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@SIH Idea submission- Template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74320" y="685800"/>
            <a:ext cx="2788920" cy="3154680"/>
          </a:xfrm>
          <a:prstGeom prst="roundRect">
            <a:avLst>
              <a:gd name="adj" fmla="val 1639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5760" y="73152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➤ Analysis of the feasibility of the idea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365760" y="1005840"/>
            <a:ext cx="2606040" cy="278892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/>
          <a:lstStyle/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inputs are free &amp; open: FIRMS MAP_KEY (instant), OSM Overpass, Copernicus Sentinel-2, NASA Worldview.</a:t>
            </a:r>
            <a:endParaRPr lang="en-US" sz="9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end-to-end prototype already exists: 22 k detections → classified in 7 s on a laptop; model trains in seconds.</a:t>
            </a:r>
            <a:endParaRPr lang="en-US" sz="9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pipeline switches to live FIRMS with one env variable; Overpass is queried only around hotspot cells → India-wide in minutes.</a:t>
            </a:r>
            <a:endParaRPr lang="en-US" sz="9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 stack (SQLite / FastAPI / React) → one VM, NIC cloud or an air-gapped NTRO server.</a:t>
            </a:r>
            <a:endParaRPr lang="en-US" sz="9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rules let analysts audit and tune; ML improves as labelled incidents accumulate.</a:t>
            </a:r>
            <a:endParaRPr lang="en-US" sz="9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demo already live on GitHub Pages.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154680" y="685800"/>
            <a:ext cx="2788920" cy="3154680"/>
          </a:xfrm>
          <a:prstGeom prst="roundRect">
            <a:avLst>
              <a:gd name="adj" fmla="val 1639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46120" y="73152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➤ Potential challenges and risks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3246120" y="1005840"/>
            <a:ext cx="2606040" cy="278892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/>
          <a:lstStyle/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Incomplete OSM coverage of Indian industry (small kilns, sponge-iron units).</a:t>
            </a:r>
            <a:endParaRPr lang="en-US" sz="9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cover &amp; 375 m pixel offsets between passes.</a:t>
            </a:r>
            <a:endParaRPr lang="en-US" sz="9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 labelled real incidents for supervised ML; synthetic archive is cleaner than reality.</a:t>
            </a:r>
            <a:endParaRPr lang="en-US" sz="9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Overpass rate limits when scaling to national, multi-year archives.</a:t>
            </a:r>
            <a:endParaRPr lang="en-US" sz="9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alarms from legitimate process changes (furnace restart, flaring during maintenance).</a:t>
            </a:r>
            <a:endParaRPr lang="en-US" sz="9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Sub-pixel sources (small flares) below VIIRS detection threshold.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035040" y="685800"/>
            <a:ext cx="2834640" cy="3154680"/>
          </a:xfrm>
          <a:prstGeom prst="roundRect">
            <a:avLst>
              <a:gd name="adj" fmla="val 1613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126480" y="731520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➤ Strategies for overcoming these challenges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6126480" y="1005840"/>
            <a:ext cx="2651760" cy="278892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/>
          <a:lstStyle/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Persistence signature detects unregistered sources even with no OSM facility; curated facility list merged with OSM; Sentinel-2 chip verification.</a:t>
            </a:r>
            <a:endParaRPr lang="en-US" sz="9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90-day window + 4 passes/day from 3 VIIRS satellites; DBSCAN grouping absorbs pixel jitter.</a:t>
            </a:r>
            <a:endParaRPr lang="en-US" sz="9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as strong prior; validate on documented incidents (news / PESO / CPCB); analyst feedback loop → retrain.</a:t>
            </a:r>
            <a:endParaRPr lang="en-US" sz="9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Around-cell queries + disk cache; self-hosted Overpass or ESA WorldCover raster for scale.</a:t>
            </a:r>
            <a:endParaRPr lang="en-US" sz="9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Baseline-relative thresholds + analyst override; confidence shown on every alert.</a:t>
            </a:r>
            <a:endParaRPr lang="en-US" sz="9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VIIRS Nightfire (VNF) for flare temperature; Landsat TIRS for small sources.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74320" y="3950208"/>
            <a:ext cx="8595360" cy="804672"/>
          </a:xfrm>
          <a:prstGeom prst="roundRect">
            <a:avLst>
              <a:gd name="adj" fmla="val 5682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11480" y="400507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VIABILITY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411480" y="42062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 0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11480" y="44805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licensing — all open sources</a:t>
            </a:r>
            <a:endParaRPr lang="en-US" sz="750" dirty="0"/>
          </a:p>
        </p:txBody>
      </p:sp>
      <p:sp>
        <p:nvSpPr>
          <p:cNvPr id="19" name="Text 17"/>
          <p:cNvSpPr txBox="1"/>
          <p:nvPr/>
        </p:nvSpPr>
        <p:spPr>
          <a:xfrm>
            <a:off x="2112264" y="42062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VM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2112264" y="44805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air-gapped server; SQLite → PostGIS when scaling</a:t>
            </a:r>
            <a:endParaRPr lang="en-US" sz="750" dirty="0"/>
          </a:p>
        </p:txBody>
      </p:sp>
      <p:sp>
        <p:nvSpPr>
          <p:cNvPr id="21" name="Text 19"/>
          <p:cNvSpPr txBox="1"/>
          <p:nvPr/>
        </p:nvSpPr>
        <p:spPr>
          <a:xfrm>
            <a:off x="3813048" y="42062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 s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3813048" y="44805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classify a 90-day national archive</a:t>
            </a:r>
            <a:endParaRPr lang="en-US" sz="750" dirty="0"/>
          </a:p>
        </p:txBody>
      </p:sp>
      <p:sp>
        <p:nvSpPr>
          <p:cNvPr id="23" name="Text 21"/>
          <p:cNvSpPr txBox="1"/>
          <p:nvPr/>
        </p:nvSpPr>
        <p:spPr>
          <a:xfrm>
            <a:off x="5513832" y="42062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env var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5513832" y="44805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switches offline archive → live NASA FIRMS</a:t>
            </a:r>
            <a:endParaRPr lang="en-US" sz="750" dirty="0"/>
          </a:p>
        </p:txBody>
      </p:sp>
      <p:sp>
        <p:nvSpPr>
          <p:cNvPr id="25" name="Text 23"/>
          <p:cNvSpPr txBox="1"/>
          <p:nvPr/>
        </p:nvSpPr>
        <p:spPr>
          <a:xfrm>
            <a:off x="7214616" y="42062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7214616" y="44805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GeoJSON / API — plugs into any GIS NTRO runs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74320" y="13716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
</a:t>
            </a:r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FireOrbit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737360" y="13716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AND BENEFITS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274320" y="484632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@SIH Idea submission- Template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74320" y="685800"/>
            <a:ext cx="4206240" cy="2103120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5760" y="73152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➤ Potential impact on the target audience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365760" y="1005840"/>
            <a:ext cx="4023360" cy="173736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/>
          <a:lstStyle/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Disaster management (NDMA / SDMAs / fire services): alerts only on abnormal industrial heat → faster, correctly-targeted response to plant fires &amp; explosions.</a:t>
            </a:r>
            <a:endParaRPr lang="en-US" sz="9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NTRO &amp; security agencies: a national registry of persistent thermal sources with activity history; detects undeclared industrial activity; change detection (shutdowns, restarts, surges).</a:t>
            </a:r>
            <a:endParaRPr lang="en-US" sz="9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CPCB / MoEFCC: attribute district fires to stubble burning vs industry; flaring inventories.</a:t>
            </a:r>
            <a:endParaRPr lang="en-US" sz="9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Insurers &amp; industry: verified incident records; compliance evidence.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72000" y="685800"/>
            <a:ext cx="4297680" cy="2103120"/>
          </a:xfrm>
          <a:prstGeom prst="roundRect">
            <a:avLst>
              <a:gd name="adj" fmla="val 2174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63440" y="73152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➤ Benefits of the solution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4663440" y="1005840"/>
            <a:ext cx="4114800" cy="173736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/>
          <a:lstStyle/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Social: earlier warning for communities near refineries, steel plants, chemical complexes; better use of fire-service capacity.</a:t>
            </a:r>
            <a:endParaRPr lang="en-US" sz="9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Economic: 99 % fewer hotspots to triage; ₹0 data licensing; reduced losses through early detection; runs on one VM.</a:t>
            </a:r>
            <a:endParaRPr lang="en-US" sz="9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Environmental: separates agricultural burning from industrial emissions; flaring and coal-fire monitoring for climate reporting.</a:t>
            </a:r>
            <a:endParaRPr lang="en-US" sz="9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Strategic: open, explainable, auditable — deployable on sovereign / air-gapped infrastructure.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74320" y="2880360"/>
            <a:ext cx="8595360" cy="1874520"/>
          </a:xfrm>
          <a:prstGeom prst="roundRect">
            <a:avLst>
              <a:gd name="adj" fmla="val 2439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11480" y="2926080"/>
            <a:ext cx="8321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— results of the working prototype (90-day labelled archive over real Indian sites)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411480" y="3218688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22,179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321868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FIRMS detections classified in ~7 s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3200400" y="3218688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114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4251960" y="321868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sources registered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5989320" y="3218688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138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7040880" y="321868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 candidates (0.6 % of detections)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411480" y="3968496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99.9 %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3968496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accuracy (group-aware test split)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3200400" y="3968496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98.4 %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4251960" y="3968496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rules-only accuracy (explainable baseline)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5989320" y="3968496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B9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7040880" y="3968496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classes: industrial, flare, mining, agri, wildfire, other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411480" y="4407408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alerts found: Bhilai Steel 414 MW vs 32 MW baseline · Jamnagar 207 MW vs 19 MW · Tata Steel 101 MW vs 26 MW.  Note: archive is physically simulated and labelled; real-world accuracy will be lower — validation on real incidents is the next-round goal.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74320" y="13716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
</a:t>
            </a:r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FireOrbit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737360" y="13716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AND REFERENCES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274320" y="484632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@SIH Idea submission- Template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8412480" y="484632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274320" y="65836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➤ Details / Links of the reference and research work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960120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9601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NASA FIRMS — Fire Information for Resource Management System; Area API &amp; VIIRS 375 m active-fire product (VNP14IMG / VJ114IMG)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15214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https://firms.modaps.eosdis.nasa.gov/api/area/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320040" y="1380744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1380744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Schroeder, W. et al. (2014). The New VIIRS 375 m active fire detection data product. Remote Sensing of Environment, 143, 85–96.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1572768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https://doi.org/10.1016/j.rse.2013.12.008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320040" y="1801368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180136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Elvidge, C. D. et al. (2013). VIIRS Nightfire: Satellite Pyrometry at Night. Remote Sensing, 5(9), 4423–4449 — basis for gas-flare signatures.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" y="1993392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https://doi.org/10.3390/rs5094423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320040" y="2221992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594360" y="222199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Liu, Y. et al. (2018). Identifying industrial heat sources using time-series of the VIIRS Nightfire product. Remote Sensing of Environment, 204.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" y="2414016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https://www.sciencedirect.com/journal/remote-sensing-of-environment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320040" y="2642616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594360" y="2642616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OpenStreetMap Overpass API &amp; tagging: landuse=industrial, man_made=flare|works, power=plant, landuse=quarry|farmland|forest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283464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https://wiki.openstreetmap.org/wiki/Overpass_API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320040" y="3063240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" y="30632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Copernicus Data Space — Sentinel-2 L2A SWIR (B11/B12) for hotspot verification; ESA WorldCover 10 m land cover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325526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https://dataspace.copernicus.eu · https://esa-worldcover.org</a:t>
            </a:r>
            <a:endParaRPr lang="en-US" sz="800" dirty="0"/>
          </a:p>
        </p:txBody>
      </p:sp>
      <p:sp>
        <p:nvSpPr>
          <p:cNvPr id="25" name="Text 23"/>
          <p:cNvSpPr txBox="1"/>
          <p:nvPr/>
        </p:nvSpPr>
        <p:spPr>
          <a:xfrm>
            <a:off x="320040" y="3483864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594360" y="3483864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ICAR-IARI CREAMS / CPCB — crop-residue burning bulletins (Oct–Nov, Apr–May seasonality used as a prior)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594360" y="3675888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https://creams.iari.res.in</a:t>
            </a:r>
            <a:endParaRPr lang="en-US" sz="800" dirty="0"/>
          </a:p>
        </p:txBody>
      </p:sp>
      <p:sp>
        <p:nvSpPr>
          <p:cNvPr id="28" name="Text 26"/>
          <p:cNvSpPr txBox="1"/>
          <p:nvPr/>
        </p:nvSpPr>
        <p:spPr>
          <a:xfrm>
            <a:off x="320040" y="3904488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594360" y="390448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Ester, M. et al. (1996). DBSCAN. KDD-96 · scikit-learn HistGradientBoostingClassifier documentation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594360" y="4096512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https://scikit-learn.org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320040" y="4325112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859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594360" y="432511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prototype — live demo &amp; source code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594360" y="4517136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https://rahulskandagal.github.io/thermal-sentinel/ · https://github.com/rahulskandagal/thermal-sentinel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SIH 2026 Idea — SIH26162 ThermalSentinel</dc:title>
  <dc:subject>PptxGenJS Presentation</dc:subject>
  <dc:creator>PptxGenJS</dc:creator>
  <cp:lastModifiedBy>PptxGenJS</cp:lastModifiedBy>
  <cp:revision>1</cp:revision>
  <dcterms:created xsi:type="dcterms:W3CDTF">2026-09-16T16:26:27Z</dcterms:created>
  <dcterms:modified xsi:type="dcterms:W3CDTF">2026-09-16T16:26:27Z</dcterms:modified>
</cp:coreProperties>
</file>