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2BB67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BB67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6B80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6B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5484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Agricultural burn</c:v>
                  </c:pt>
                  <c:pt idx="1">
                    <c:v>Gas flare</c:v>
                  </c:pt>
                  <c:pt idx="2">
                    <c:v>Industrial fire / process heat</c:v>
                  </c:pt>
                  <c:pt idx="3">
                    <c:v>Mining / coal-seam fire</c:v>
                  </c:pt>
                  <c:pt idx="4">
                    <c:v>Wildfire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99.8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99.3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1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0"/>
        </c:scaling>
        <c:delete val="0"/>
        <c:axPos val="b"/>
        <c:majorGridlines>
          <c:spPr>
            <a:ln w="6350" cap="flat">
              <a:solidFill>
                <a:srgbClr val="E4E8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59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B21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land cover: cropland</c:v>
                  </c:pt>
                  <c:pt idx="1">
                    <c:v>land cover: industrial</c:v>
                  </c:pt>
                  <c:pt idx="2">
                    <c:v>night fraction</c:v>
                  </c:pt>
                  <c:pt idx="3">
                    <c:v>near mine/quarry</c:v>
                  </c:pt>
                  <c:pt idx="4">
                    <c:v>near gas flare</c:v>
                  </c:pt>
                  <c:pt idx="5">
                    <c:v>land cover unknown</c:v>
                  </c:pt>
                  <c:pt idx="6">
                    <c:v>distance to industry</c:v>
                  </c:pt>
                  <c:pt idx="7">
                    <c:v>source mean FRP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6.95</c:v>
                </c:pt>
                <c:pt idx="1">
                  <c:v>2.5</c:v>
                </c:pt>
                <c:pt idx="2">
                  <c:v>1.61</c:v>
                </c:pt>
                <c:pt idx="3">
                  <c:v>1.16</c:v>
                </c:pt>
                <c:pt idx="4">
                  <c:v>1.02</c:v>
                </c:pt>
                <c:pt idx="5">
                  <c:v>0.71</c:v>
                </c:pt>
                <c:pt idx="6">
                  <c:v>0.59</c:v>
                </c:pt>
                <c:pt idx="7">
                  <c:v>0.5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00" u="none">
                  <a:solidFill>
                    <a:srgbClr val="1B21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B21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(20 s): "Good morning. NASA already tells the world where the ground is hot — thousands of times a day over India. Nobody tells you WHAT is hot. We built the system that does." Then introduce the team in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data exists, the interpretation does not. FIRMS is a list of hot pixels. Point to the five cards: same pixel, five completely different situations — only one of them needs a fire brigade.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numbers to the story: satellites are good enough (375 m), frequent enough (4+ passes/day), but the signal is drowned — Jharia alone produces detections every single day, Punjab produces tens of thousands each season. Then read the PS requirements — we cover all three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verbs: classify, track, alert. Stress that "alert" is the disaster-management payoff — separating a refinery operating normally from a refinery on fire. Mention that everything on the right is running code, not a mock-up.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live demo works, switch to the browser here. Script: (1) zoom to Jamnagar — orange persistent footprint, 86 active days, the April incident spike in the timeline; (2) toggle "anomalies only"; (3) click a green dot in Punjab — cropland + season + low FRP reasons; (4) export GeoJSON. Fallback: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click in the dashboard. Walk top to bottom: what it is and how sure we are; why it is persistent; the context that made the decision; the timeline that shows the one abnormal day; and the imagery links an analyst uses to confirm. Emphasise: routine days are silent — only the spike alerts.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left-to-right, top-to-bottom. The two clever engineering decisions to call out: (a) DBSCAN clustering — without it, persistence cannot be computed because the satellite never puts the same factory on the same pixel twice; (b) Overpass "around hotspot cells" — makes OSM context feasible India-wide instead of downloading the whole country.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shows we understand the domain. No single clue works alone: a brick kiln on farmland, a forest fire next to a mine. The classifier sees all three at once — 34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Anticipated question: "why not a CNN on satellite images?" Answer: FIRMS gives us a point + FRP, not an image; the discriminating information is temporal and contextual, which tabular ML handles well and explainably. Imagery is the verification step (deep links), and a Sentinel-2 chip classifier is on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the archive is synthetic-but-physical (real coordinates, realistic behaviour, labelled). The point of this slide is that the pipeline is measurable and the model learns sensible things — land cover, night fraction, proximity to infrastructure, persistence. With a FIRMS key we run on live data; with analyst-labelled incidents we retrain.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incident column: 138 flagged out of 22,179 — that is a 99.4 % noise reduction for an operator. The Bhilai example: 414 MW against a 32 MW baseline, on one day, at a known steel plant. That is the alert you want at 3 a.m.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unless asked. If a judge is technical: SQLite is deliberate for the hackathon; the schema and API are PostGIS-ready and we would add a tile server for multi-year national archives.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published research: Liu et al. 2018 identified industrial heat sources from VIIRS Nightfire time-series; Elvidge et al. built global flare catalogues. We build on that idea but add OSM context, six-class discrimination, and operational alerting on a live GIS.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the beneficiary that matches the judge panel. For NTRO emphasise the middle column: a living registry of persistent heat sources — and the ability to spot activity where no facility is declared.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judges we know what is missing. The honest limitation is validation on real, confirmed incidents — say it before they do, and turn it into an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one-liner, then invite questions. Likely questions: clouds (answer: 90-day window + multiple passes; anomalies need persistence so one missed day does not matter), false alarms (answer: baseline-relative thresholds, explainable reasons, analyst override), scale (answer: around-cell OSM queries, PostGIS roadmap).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45720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4297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ThermalSentinel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INDIA HACKATHON 2026  ·  SIH26162  ·  NTRO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00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AI-based detection and classification of industrial fires and persistent thermal sources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 ×  OpenStreetMap  ×  Satellite imagery  →  a GIS system that tells you what is burning, and whether it should be.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11831"/>
          </a:solidFill>
          <a:ln w="9525">
            <a:solidFill>
              <a:srgbClr val="243055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FireOrbit      </a:t>
            </a:r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&lt;NAMES&gt;      </a:t>
            </a:r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&lt;COLLEGE&gt;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hotspot looks identical from space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1508760" cy="19202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51560" y="1371600"/>
            <a:ext cx="502920" cy="502920"/>
          </a:xfrm>
          <a:prstGeom prst="ellipse">
            <a:avLst/>
          </a:prstGeom>
          <a:solidFill>
            <a:srgbClr val="FF4D1F"/>
          </a:solidFill>
          <a:ln w="12700">
            <a:solidFill>
              <a:srgbClr val="FF4D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3852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hotspot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39696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lat/lon · FRP 18 MW · 08:06 UTC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98448" y="2395728"/>
            <a:ext cx="0" cy="256032"/>
          </a:xfrm>
          <a:prstGeom prst="line">
            <a:avLst/>
          </a:prstGeom>
          <a:noFill/>
          <a:ln w="19050">
            <a:solidFill>
              <a:srgbClr val="B8C0D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07008" y="2697480"/>
            <a:ext cx="182880" cy="182880"/>
          </a:xfrm>
          <a:prstGeom prst="ellipse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8036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Refinery flare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072384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Jamnagar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40280" y="1234440"/>
            <a:ext cx="1508760" cy="19202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0" y="1371600"/>
            <a:ext cx="502920" cy="502920"/>
          </a:xfrm>
          <a:prstGeom prst="ellipse">
            <a:avLst/>
          </a:prstGeom>
          <a:solidFill>
            <a:srgbClr val="FF4D1F"/>
          </a:solidFill>
          <a:ln w="12700">
            <a:solidFill>
              <a:srgbClr val="FF4D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31720" y="193852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hotspot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331720" y="2139696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lat/lon · FRP 18 MW · 08:06 UTC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990088" y="2395728"/>
            <a:ext cx="0" cy="256032"/>
          </a:xfrm>
          <a:prstGeom prst="line">
            <a:avLst/>
          </a:prstGeom>
          <a:noFill/>
          <a:ln w="19050">
            <a:solidFill>
              <a:srgbClr val="B8C0D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898648" y="2697480"/>
            <a:ext cx="182880" cy="18288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331720" y="288036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 plant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3072384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Bhilai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931920" y="1234440"/>
            <a:ext cx="1508760" cy="19202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434840" y="1371600"/>
            <a:ext cx="502920" cy="502920"/>
          </a:xfrm>
          <a:prstGeom prst="ellipse">
            <a:avLst/>
          </a:prstGeom>
          <a:solidFill>
            <a:srgbClr val="FF4D1F"/>
          </a:solidFill>
          <a:ln w="12700">
            <a:solidFill>
              <a:srgbClr val="FF4D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023360" y="193852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hotspot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23360" y="2139696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lat/lon · FRP 18 MW · 08:06 UTC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2395728"/>
            <a:ext cx="0" cy="256032"/>
          </a:xfrm>
          <a:prstGeom prst="line">
            <a:avLst/>
          </a:prstGeom>
          <a:noFill/>
          <a:ln w="19050">
            <a:solidFill>
              <a:srgbClr val="B8C0D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590288" y="2697480"/>
            <a:ext cx="182880" cy="182880"/>
          </a:xfrm>
          <a:prstGeom prst="ellipse">
            <a:avLst/>
          </a:prstGeom>
          <a:solidFill>
            <a:srgbClr val="9A6BFF"/>
          </a:solidFill>
          <a:ln w="12700">
            <a:solidFill>
              <a:srgbClr val="9A6B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023360" y="288036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Coal-seam fire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023360" y="3072384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Jharia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623560" y="1234440"/>
            <a:ext cx="1508760" cy="19202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26480" y="1371600"/>
            <a:ext cx="502920" cy="502920"/>
          </a:xfrm>
          <a:prstGeom prst="ellipse">
            <a:avLst/>
          </a:prstGeom>
          <a:solidFill>
            <a:srgbClr val="FF4D1F"/>
          </a:solidFill>
          <a:ln w="12700">
            <a:solidFill>
              <a:srgbClr val="FF4D1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715000" y="193852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hotspot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715000" y="2139696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lat/lon · FRP 18 MW · 08:06 UTC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373368" y="2395728"/>
            <a:ext cx="0" cy="256032"/>
          </a:xfrm>
          <a:prstGeom prst="line">
            <a:avLst/>
          </a:prstGeom>
          <a:noFill/>
          <a:ln w="19050">
            <a:solidFill>
              <a:srgbClr val="B8C0D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281928" y="2697480"/>
            <a:ext cx="182880" cy="182880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715000" y="288036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Stubble burning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715000" y="3072384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Sangrur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315200" y="1234440"/>
            <a:ext cx="1508760" cy="19202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818120" y="1371600"/>
            <a:ext cx="502920" cy="502920"/>
          </a:xfrm>
          <a:prstGeom prst="ellipse">
            <a:avLst/>
          </a:prstGeom>
          <a:solidFill>
            <a:srgbClr val="FF4D1F"/>
          </a:solidFill>
          <a:ln w="12700">
            <a:solidFill>
              <a:srgbClr val="FF4D1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406640" y="193852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hotspot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7406640" y="2139696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lat/lon · FRP 18 MW · 08:06 UTC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8065008" y="2395728"/>
            <a:ext cx="0" cy="256032"/>
          </a:xfrm>
          <a:prstGeom prst="line">
            <a:avLst/>
          </a:prstGeom>
          <a:noFill/>
          <a:ln w="19050">
            <a:solidFill>
              <a:srgbClr val="B8C0DA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7973568" y="2697480"/>
            <a:ext cx="182880" cy="18288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06640" y="288036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 fire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7406640" y="3072384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Uttarakhand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48640" y="338328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731520" y="3474720"/>
            <a:ext cx="768096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publishes every VIIRS / MODIS thermal anomaly within ~3 hours — location, brightness, FRP, day/night. It does NOT say what caused it.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gets thousands of detections a day: routine factory heat, flares and coal fires sit in the same list as wildfires, crop burning and real industrial accidents.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disaster managers cannot prioritise; a genuine refinery or steel-plant fire hides among thousands of "normal" hotspots.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India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94360" y="12984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375 m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VIIRS pixel — enough to see a single furnace, flare stack or field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0" y="123444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697480" y="12984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4+ / day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passes over India (Suomi-NPP, NOAA-20/21, day + night)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00600" y="12984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A6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100+ yrs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Jharia coal-seam fires burning — a permanent "hotspot" that is not an emergency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766560" y="1234440"/>
            <a:ext cx="1965960" cy="1417320"/>
          </a:xfrm>
          <a:prstGeom prst="roundRect">
            <a:avLst>
              <a:gd name="adj" fmla="val 5161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03720" y="12984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B6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30,000+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farm-fire detections in Punjab alone in a single Kharif season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008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NTRO asked for (PS SIH26162)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246120"/>
            <a:ext cx="3749040" cy="1325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&amp; segregation of industrial fires from forest fires and other natural fires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GIS-based solution: data storage + visualisation of the output as an overlay over maps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thermal anomaly data, land cover, industrial infrastructure databases and satellite imagery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6344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84632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hurt today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3246120"/>
            <a:ext cx="3749040" cy="1325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services &amp; SDMAs respond late or to the wrong hotspots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agencies have no registry of persistent thermal sources or undeclared industrial activity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 boards cannot separate stubble burning from industrial emissions in the same district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ThermalSentinel — what it does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206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371600"/>
            <a:ext cx="329184" cy="329184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13624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6916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FIRMS detection → one of 6 classes: industrial fire / process heat, gas flare, mining &amp; coal-seam fire, agricultural burn, wildfire, other. With a confidence and a plain-English reason.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4206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2514600"/>
            <a:ext cx="329184" cy="32918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5054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28346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detections into thermal sources and follows them over 90 days: active days, night fraction, FRP baseline → a persistence score and a registry of persistent sources.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4206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" y="3657600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36484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9776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FRP anomalies: a known source burning ≥ 2.5× its own normal is an incident candidate — a real industrial fire, not routine heat.</a:t>
            </a:r>
            <a:endParaRPr lang="en-US" sz="95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234440"/>
            <a:ext cx="3840480" cy="2157984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22" name="Text 19"/>
          <p:cNvSpPr txBox="1"/>
          <p:nvPr/>
        </p:nvSpPr>
        <p:spPr>
          <a:xfrm>
            <a:off x="4846320" y="3429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— interactive GIS dashboard, REST/GeoJSON API, runs on a laptop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846320" y="3749040"/>
            <a:ext cx="3840480" cy="868680"/>
          </a:xfrm>
          <a:prstGeom prst="roundRect">
            <a:avLst>
              <a:gd name="adj" fmla="val 8421"/>
            </a:avLst>
          </a:prstGeom>
          <a:solidFill>
            <a:srgbClr val="E9EDF7"/>
          </a:solidFill>
          <a:ln w="9525">
            <a:solidFill>
              <a:srgbClr val="E9EDF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983480" y="381304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free, open data: NASA FIRMS · OpenStreetMap (Overpass) · Copernicus Sentinel-2 · NASA Worldview.  No licences, no cost, works offline on an archive and live with one API key.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GIS dashboard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6217920" cy="34975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6858000" y="1115568"/>
            <a:ext cx="237744" cy="237744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0" y="1115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10789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&amp; daily timeline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1280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detections, persistent sources, incident candidates; stacked bars per class per day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858000" y="1700784"/>
            <a:ext cx="237744" cy="237744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16642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persistent sources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186537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persistence score, one click flies to the site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6858000" y="2286000"/>
            <a:ext cx="237744" cy="237744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0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7178040" y="224942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filters &amp; layers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7178040" y="245059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class, date range, min confidence, persistent-only, anomalies-only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858000" y="2871216"/>
            <a:ext cx="237744" cy="237744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0" y="2871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7178040" y="2834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overlays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178040" y="303580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coloured detections (size = FRP), dashed footprints = persistent sources, OSM factory icons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858000" y="3456432"/>
            <a:ext cx="237744" cy="237744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0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7178040" y="3419856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drawer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178040" y="362102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reasons, persistence stats, source time-series, links to Sentinel-2 / Worldview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858000" y="4041648"/>
            <a:ext cx="237744" cy="237744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0" y="40416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7178040" y="400507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export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178040" y="4206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GeoJSON → QGIS / ArcGIS; full REST API at /docs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365760" y="1298448"/>
            <a:ext cx="219456" cy="219456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65760" y="129844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2761488"/>
            <a:ext cx="219456" cy="219456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27614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65760" y="3703320"/>
            <a:ext cx="219456" cy="219456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65760" y="37033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3657600" y="3520440"/>
            <a:ext cx="219456" cy="219456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657600" y="35204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persistent source — Jamnagar Refinery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56250" r="0" t="6667" b="8889"/>
          <a:stretch/>
        </p:blipFill>
        <p:spPr>
          <a:xfrm>
            <a:off x="548640" y="1143000"/>
            <a:ext cx="3200400" cy="347472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4023360" y="1188720"/>
            <a:ext cx="46634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142232" y="1335024"/>
            <a:ext cx="274320" cy="2743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42232" y="1335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1252728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+ confidence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146304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fire / process heat · persistent source · ⚠ 6 anomalies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023360" y="1874520"/>
            <a:ext cx="46634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142232" y="2020824"/>
            <a:ext cx="274320" cy="2743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42232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1938528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214884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active days of 90 · 469 detections · 59 % night · score 0.97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023360" y="2560320"/>
            <a:ext cx="46634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42232" y="2706624"/>
            <a:ext cx="274320" cy="274320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42232" y="2706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26280" y="2624328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26280" y="283464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cover industrial · 30 m from OSM refinery polygon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023360" y="3246120"/>
            <a:ext cx="46634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142232" y="3392424"/>
            <a:ext cx="274320" cy="27432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42232" y="3392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4526280" y="3310128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526280" y="352044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ΣFRP per day — steady baseline ~19 MW, one spike to 207 MW on 21 Apr → incident candidate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023360" y="3931920"/>
            <a:ext cx="46634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142232" y="4078224"/>
            <a:ext cx="274320" cy="274320"/>
          </a:xfrm>
          <a:prstGeom prst="ellipse">
            <a:avLst/>
          </a:prstGeom>
          <a:solidFill>
            <a:srgbClr val="9A6BFF"/>
          </a:solidFill>
          <a:ln w="12700">
            <a:solidFill>
              <a:srgbClr val="9A6B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142232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4526280" y="3995928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4526280" y="420624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to Sentinel-2 SWIR, NASA Worldview, FIRMS, OSM, Google Earth for that date &amp; place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 — the pipeline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371600"/>
            <a:ext cx="310896" cy="310896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36245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7830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Area API — VIIRS SNPP / NOAA-20 / 21 + MODIS. 10-day chunks, NRT + archive CSV. Normalise both sensors to one schema, de-dup overlapping passes.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08960" y="2011680"/>
            <a:ext cx="137160" cy="0"/>
          </a:xfrm>
          <a:prstGeom prst="line">
            <a:avLst/>
          </a:prstGeom>
          <a:noFill/>
          <a:ln w="19050">
            <a:solidFill>
              <a:srgbClr val="B8C0D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46120" y="12344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1371600"/>
            <a:ext cx="310896" cy="310896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136245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7830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DBSCAN (750 m). Pixel jitter between passes collapses into one "thermal source" — 22 k dots → 4.4 k sources.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897880" y="2011680"/>
            <a:ext cx="137160" cy="0"/>
          </a:xfrm>
          <a:prstGeom prst="line">
            <a:avLst/>
          </a:prstGeom>
          <a:noFill/>
          <a:ln w="19050">
            <a:solidFill>
              <a:srgbClr val="B8C0D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35040" y="12344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72200" y="1371600"/>
            <a:ext cx="310896" cy="310896"/>
          </a:xfrm>
          <a:prstGeom prst="ellipse">
            <a:avLst/>
          </a:prstGeom>
          <a:solidFill>
            <a:srgbClr val="9A6BFF"/>
          </a:solidFill>
          <a:ln w="12700">
            <a:solidFill>
              <a:srgbClr val="9A6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72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136245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17830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source over 90 d: active days, span, max gap, night fraction, FRP mean / CV / z-score → persistence score.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9718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94360" y="3108960"/>
            <a:ext cx="310896" cy="310896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0998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context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52044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Overpass queried only around hotspot cells: refineries, steel, power, flares, kilns, mines + land-use polygons (point-in-polygon).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108960" y="3749040"/>
            <a:ext cx="137160" cy="0"/>
          </a:xfrm>
          <a:prstGeom prst="line">
            <a:avLst/>
          </a:prstGeom>
          <a:noFill/>
          <a:ln w="19050">
            <a:solidFill>
              <a:srgbClr val="B8C0D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246120" y="29718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383280" y="3108960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83280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794760" y="30998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383280" y="352044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rule engine + gradient-boosted trees vote. Confidence, reasons, FRP-anomaly flag.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897880" y="3749040"/>
            <a:ext cx="137160" cy="0"/>
          </a:xfrm>
          <a:prstGeom prst="line">
            <a:avLst/>
          </a:prstGeom>
          <a:noFill/>
          <a:ln w="19050">
            <a:solidFill>
              <a:srgbClr val="B8C0D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035040" y="29718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72200" y="3108960"/>
            <a:ext cx="310896" cy="310896"/>
          </a:xfrm>
          <a:prstGeom prst="ellipse">
            <a:avLst/>
          </a:prstGeom>
          <a:solidFill>
            <a:srgbClr val="1B2140"/>
          </a:solidFill>
          <a:ln w="12700">
            <a:solidFill>
              <a:srgbClr val="1B214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309981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172200" y="352044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→ FastAPI GeoJSON API → React + Leaflet dashboard, QGIS export, imagery deep-links.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clues separate the classes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94360" y="1325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(time)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00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this exact spot been hot again and again?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0574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Refinery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417320" y="2093976"/>
            <a:ext cx="1223264" cy="155448"/>
          </a:xfrm>
          <a:prstGeom prst="rect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86304" y="20574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d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551176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flare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417320" y="2587752"/>
            <a:ext cx="1194816" cy="155448"/>
          </a:xfrm>
          <a:prstGeom prst="rect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57856" y="255117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d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04495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 fire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081528"/>
            <a:ext cx="1223264" cy="155448"/>
          </a:xfrm>
          <a:prstGeom prst="rect">
            <a:avLst/>
          </a:prstGeom>
          <a:solidFill>
            <a:srgbClr val="9A6BFF"/>
          </a:solidFill>
          <a:ln w="12700">
            <a:solidFill>
              <a:srgbClr val="9A6B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86304" y="3044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53872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Wildfire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417320" y="3575304"/>
            <a:ext cx="71120" cy="155448"/>
          </a:xfrm>
          <a:prstGeom prst="rect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534160" y="35387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03250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burn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417320" y="4069080"/>
            <a:ext cx="27432" cy="155448"/>
          </a:xfrm>
          <a:prstGeom prst="rect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477264" y="403250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4348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days in 90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46120" y="123444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383280" y="1325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(place)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1600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on the ground here, per OpenStreetMap?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383280" y="2103120"/>
            <a:ext cx="146304" cy="146304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11880" y="2057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≤1.5 km from refinery / steel / power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3280" y="2596896"/>
            <a:ext cx="146304" cy="146304"/>
          </a:xfrm>
          <a:prstGeom prst="ellipse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11880" y="255117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man_made=flare, oil &amp; gas field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3280" y="3090672"/>
            <a:ext cx="146304" cy="146304"/>
          </a:xfrm>
          <a:prstGeom prst="ellipse">
            <a:avLst/>
          </a:prstGeom>
          <a:solidFill>
            <a:srgbClr val="9A6BFF"/>
          </a:solidFill>
          <a:ln w="12700">
            <a:solidFill>
              <a:srgbClr val="9A6B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11880" y="30449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landuse=quarry, mine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383280" y="3584448"/>
            <a:ext cx="146304" cy="146304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611880" y="35387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landuse=farmland (+ Apr–May / Oct–Nov)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83280" y="4078224"/>
            <a:ext cx="146304" cy="14630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611880" y="403250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landuse=forest, natural=scrub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35040" y="123444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6172200" y="1325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(physics)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172200" y="1600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burn?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172200" y="2103120"/>
            <a:ext cx="146304" cy="146304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00800" y="2057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FRP, ~50 % night, daily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172200" y="2596896"/>
            <a:ext cx="146304" cy="146304"/>
          </a:xfrm>
          <a:prstGeom prst="ellipse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00800" y="255117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very steady, 80 %+ night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172200" y="3090672"/>
            <a:ext cx="146304" cy="146304"/>
          </a:xfrm>
          <a:prstGeom prst="ellipse">
            <a:avLst/>
          </a:prstGeom>
          <a:solidFill>
            <a:srgbClr val="9A6BFF"/>
          </a:solidFill>
          <a:ln w="12700">
            <a:solidFill>
              <a:srgbClr val="9A6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00800" y="30449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FRP, diffuse, day &amp; night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172200" y="3584448"/>
            <a:ext cx="146304" cy="14630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400800" y="35387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Huge, variable FRP, spreads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172200" y="4078224"/>
            <a:ext cx="146304" cy="146304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00800" y="403250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FRP, daytime, gone next day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classifier: explainable rules + ML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 (transparent)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645920"/>
            <a:ext cx="3703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A6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buNone/>
            </a:pPr>
            <a:r>
              <a:rPr lang="en-US" sz="850" dirty="0">
                <a:solidFill>
                  <a:srgbClr val="1B2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 ∧ night ≥ 60 % ∧ FRP-CV ≤ 0.9 ∧ near oil/gas </a:t>
            </a:r>
            <a:pPr indent="0" marL="0">
              <a:buNone/>
            </a:pPr>
            <a:r>
              <a:rPr lang="en-US" sz="850" b="1" dirty="0">
                <a:solidFill>
                  <a:srgbClr val="1B2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GAS_FLARE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9A6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buNone/>
            </a:pPr>
            <a:r>
              <a:rPr lang="en-US" sz="850" dirty="0">
                <a:solidFill>
                  <a:srgbClr val="1B2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dist(refinery|steel|power) ≤ 1.5 km </a:t>
            </a:r>
            <a:pPr indent="0" marL="0">
              <a:buNone/>
            </a:pPr>
            <a:r>
              <a:rPr lang="en-US" sz="850" b="1" dirty="0">
                <a:solidFill>
                  <a:srgbClr val="1B2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INDUSTRIAL_FIRE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9A6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buNone/>
            </a:pPr>
            <a:r>
              <a:rPr lang="en-US" sz="850" dirty="0">
                <a:solidFill>
                  <a:srgbClr val="1B2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cropland ∧ Apr–May|Oct–Nov ∧ day ∧ FRP &lt; 25 ∧ ≤ 2 days </a:t>
            </a:r>
            <a:pPr indent="0" marL="0">
              <a:buNone/>
            </a:pPr>
            <a:r>
              <a:rPr lang="en-US" sz="850" b="1" dirty="0">
                <a:solidFill>
                  <a:srgbClr val="1B2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AGRI_BURN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9A6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buNone/>
            </a:pPr>
            <a:r>
              <a:rPr lang="en-US" sz="850" dirty="0">
                <a:solidFill>
                  <a:srgbClr val="1B2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forest|scrub ∧ not persistent ∧ &gt; 3 km from industry </a:t>
            </a:r>
            <a:pPr indent="0" marL="0">
              <a:buNone/>
            </a:pPr>
            <a:r>
              <a:rPr lang="en-US" sz="850" b="1" dirty="0">
                <a:solidFill>
                  <a:srgbClr val="1B2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WILDFIRE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889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returns human-readable reasons → shown in the UI, auditable by analysts.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84632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 (learned)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645920"/>
            <a:ext cx="3703320" cy="1508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HistGradientBoosting on 34 features (radiometry, persistence, OSM context, land cover, calendar)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16,772 labelled detections, tested on 5,407 — group-aware split: all detections of one source stay on one side, so nothing leaks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label used when probability ≥ 0.55, else rules; agreement raises confidence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0080" y="34107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FRP-anomaly detector — the disaster-management trigger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703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persistent source with baseline FRP μ and σ: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anomaly  ⇔  FRP ≥ 2.5 μ  and  (FRP − μ)/σ ≥ 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138 incident candidates in the 90-day archive — e.g. Bhilai Steel 414 MW vs 32 MW baseline, Jamnagar 207 MW vs 19 MW. Routine operation is silent; only the abnormal day raises an alert.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the labelled 90-day archive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94360" y="1216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99.9 %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ML + rules accuracy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18872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697480" y="1216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98.4 %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rules-only accuracy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00600" y="1216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B6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22,179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detections classified in ~7 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66560" y="118872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03720" y="1216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sources registered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19456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0080" y="2258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F1 (held-out sources)</a:t>
            </a:r>
            <a:endParaRPr lang="en-US" sz="11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48640" y="2514600"/>
          <a:ext cx="38404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4663440" y="219456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46320" y="2258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decision (permutation importance)</a:t>
            </a:r>
            <a:endParaRPr lang="en-US" sz="115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4754880" y="2514600"/>
          <a:ext cx="38404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457200" y="459028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archive is physically-simulated over real sites, so it is clean; real-world accuracy will be lower. "Other" class had no held-out sources. Split = 16,772 / 5,407 detections.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system found in 90 days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371600"/>
                <a:gridCol w="457200"/>
                <a:gridCol w="685800"/>
                <a:gridCol w="411480"/>
                <a:gridCol w="2286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source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FRP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Paradip Refinery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fire / process heat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Jamnagar Refinery Complex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fire / process heat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Mangala Oil Field, Barmer (flare)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A88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flare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5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Visakhapatnam Steel Plant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fire / process heat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Jharia Coalfield (coal-seam fires)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6B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Mining / coal-seam fire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Bellary sponge-iron 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fire / process heat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Mehsana ONGC Field (flare)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A88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flare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5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Mangala Oil Field, Barmer (flare)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A88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flare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5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365760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persistent sources by persistence score (Mar–May 2025 archive).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31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how the flares show 82–87 % night detections and a steady ~6 MW — exactly the signature the classifier keys on.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760720" y="1188720"/>
            <a:ext cx="2926080" cy="3429000"/>
          </a:xfrm>
          <a:prstGeom prst="roundRect">
            <a:avLst>
              <a:gd name="adj" fmla="val 2500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943600" y="1280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Incident candidates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15544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FRP spikes far above the source's own baseline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9202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Jharia Coalfield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21031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MW peak vs 6 MW normal · 10 days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28600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Steel Jamshedpur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246888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 MW peak vs 26 MW normal · 7 days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6517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Bokaro Steel Plant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283464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MW peak vs 25 MW normal · 7 days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0" y="30175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Jamnagar Refinery Complex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20040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 MW peak vs 19 MW normal · 6 days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3832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JSW Vijayanagar Steel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943600" y="356616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 MW peak vs 30 MW normal · 6 days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0" y="37490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Bhilai Steel Plant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0" y="39319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414 MW peak vs 32 MW normal · 6 days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41605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of 22,179 detections flagged (0.6 %) — the short list a control room actually needs to look at.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&amp; technology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435608"/>
            <a:ext cx="274320" cy="2743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126187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1243584"/>
            <a:ext cx="301752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Area API (VIIRS 375 m, MODIS 1 km)</a:t>
            </a:r>
            <a:endParaRPr lang="en-US" sz="85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via Overpass</a:t>
            </a:r>
            <a:endParaRPr lang="en-US" sz="85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Copernicus Sentinel-2 / NASA Worldview (verification)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05740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4360" y="2304288"/>
            <a:ext cx="274320" cy="2743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213055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(Python)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112264"/>
            <a:ext cx="301752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· numpy · scikit-learn (DBSCAN, HistGradientBoosting)</a:t>
            </a:r>
            <a:endParaRPr lang="en-US" sz="85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shapely STRtree point-in-polygon</a:t>
            </a:r>
            <a:endParaRPr lang="en-US" sz="85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 + anomaly detector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4360" y="3172968"/>
            <a:ext cx="274320" cy="274320"/>
          </a:xfrm>
          <a:prstGeom prst="ellipse">
            <a:avLst/>
          </a:prstGeom>
          <a:solidFill>
            <a:srgbClr val="9A6BFF"/>
          </a:solidFill>
          <a:ln w="12700">
            <a:solidFill>
              <a:srgbClr val="9A6B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299923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&amp; API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2980944"/>
            <a:ext cx="301752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(PostGIS-ready schema)</a:t>
            </a:r>
            <a:endParaRPr lang="en-US" sz="85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GeoJSON endpoints, background jobs</a:t>
            </a:r>
            <a:endParaRPr lang="en-US" sz="85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docs at /docs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4360" y="4041648"/>
            <a:ext cx="274320" cy="274320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386791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468880" y="3849624"/>
            <a:ext cx="301752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</a:t>
            </a:r>
            <a:endParaRPr lang="en-US" sz="85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with canvas renderer (40 k+ points)</a:t>
            </a:r>
            <a:endParaRPr lang="en-US" sz="85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GeoJSON export → QGIS / ArcGIS / Google Earth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760720" y="1188720"/>
            <a:ext cx="2926080" cy="3429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5943600" y="1280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1600200"/>
            <a:ext cx="2651760" cy="2926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Around-cell Overpass queries + disk cache → OSM context scales India-wide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rendering, not DOM markers → smooth with tens of thousands of points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demo archive + live mode share one code path → one env variable to go live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GeoJSON → plugs into any GIS NTRO already runs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first → analysts can audit, override, and feed corrections back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this differs from what exists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  <a:gridCol w="1463040"/>
                <a:gridCol w="14630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FIRMS map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fire dashboards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ThermalSentinel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thermal anomalies on a map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B6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B6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B6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Says what caused the anomaly (6 classes)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B6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Separates industrial fire from wildfire / agri burning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88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B6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 of persistent sources with history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B6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 alert: FRP anomaly vs own baseline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B6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 OSM infrastructure + land cover as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B6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every decision (reasons)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B6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GeoJSON API, GIS export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88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88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B6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&amp; open data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B6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884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B6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Novelty: combining temporal persistence, OSM infrastructure context and physical signature in one explainable classifier, with baseline-relative anomaly alerts — none of the existing public tools do this.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beneficiaries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6517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298448"/>
            <a:ext cx="201168" cy="201168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2527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management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150876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NDMA / SDMAs · fire services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783080"/>
            <a:ext cx="237744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only on abnormal industrial heat — 99 % fewer hotspots to triage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correctly-targeted response to plant fires and explosions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watch on coal-seam fires (Jharia, Raniganj)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188720"/>
            <a:ext cx="26517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1298448"/>
            <a:ext cx="201168" cy="20116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7600" y="12527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strategic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50876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NTRO and partner agencies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1783080"/>
            <a:ext cx="237744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registry of persistent thermal sources with activity history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unregistered or undeclared industrial activity (persistent heat with no OSM facility)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detection: shutdowns, restarts, capacity surges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1188720"/>
            <a:ext cx="26517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1298448"/>
            <a:ext cx="201168" cy="201168"/>
          </a:xfrm>
          <a:prstGeom prst="ellipse">
            <a:avLst/>
          </a:prstGeom>
          <a:solidFill>
            <a:srgbClr val="9A6BFF"/>
          </a:solidFill>
          <a:ln w="12700">
            <a:solidFill>
              <a:srgbClr val="9A6B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46520" y="12527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&amp; economy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150876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 · MoEFCC · insurers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1783080"/>
            <a:ext cx="237744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district-level fires: stubble burning vs industry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Flaring inventories for emissions reporting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incident records for insurance and compliance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0080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cost · deployable on one VM or an air-gapped server · outputs plug into existing GIS · improves as analysts label real incidents.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take it next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· SIH26162 · NTRO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316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6517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298448"/>
            <a:ext cx="237744" cy="237744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2618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— prototype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691640"/>
            <a:ext cx="237744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pipeline, 6-class hybrid classifier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Persistent-source registry + FRP-anomaly alerts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dashboard, GeoJSON API, QGIS export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labelled archive; live-FIRMS switch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08960" y="2331720"/>
            <a:ext cx="137160" cy="0"/>
          </a:xfrm>
          <a:prstGeom prst="line">
            <a:avLst/>
          </a:prstGeom>
          <a:noFill/>
          <a:ln w="19050">
            <a:solidFill>
              <a:srgbClr val="B8C0D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246120" y="1188720"/>
            <a:ext cx="26517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1298448"/>
            <a:ext cx="237744" cy="237744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03320" y="12618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round — validation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1691640"/>
            <a:ext cx="237744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FIRMS ingestion for all India (MAP_KEY)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documented incidents (news / PESO / CPCB records)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feedback loop: label → retrain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facility list to fill OSM gaps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97880" y="2331720"/>
            <a:ext cx="137160" cy="0"/>
          </a:xfrm>
          <a:prstGeom prst="line">
            <a:avLst/>
          </a:prstGeom>
          <a:noFill/>
          <a:ln w="19050">
            <a:solidFill>
              <a:srgbClr val="B8C0D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35040" y="1188720"/>
            <a:ext cx="26517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1298448"/>
            <a:ext cx="237744" cy="23774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12618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Finals — scale &amp; depth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1691640"/>
            <a:ext cx="237744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 SWIR chip classifier (CNN) per persistent source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WorldCover 10 m raster where OSM is sparse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PostGIS + tile server, multi-year archive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Alerting: e-mail / SMS / webhook on anomalies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7033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0080" y="37033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 for the next round: access to any historical incident records NTRO / partner agencies can share, so we can validate against confirmed events.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45720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4297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ThermalSentinel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FIRMS tells you where it is hot.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tell you what is burning — and whether it should be.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337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114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3337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sources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3337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alerts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99.9 %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3337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http://localhost:5173  ·  API docs · http://127.0.0.1:8000/docs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ThermalSentinel — SIH26162 presentation</dc:title>
  <dc:subject>PptxGenJS Presentation</dc:subject>
  <dc:creator>PptxGenJS</dc:creator>
  <cp:lastModifiedBy>PptxGenJS</cp:lastModifiedBy>
  <cp:revision>1</cp:revision>
  <dcterms:created xsi:type="dcterms:W3CDTF">2026-09-16T16:26:35Z</dcterms:created>
  <dcterms:modified xsi:type="dcterms:W3CDTF">2026-09-16T16:26:35Z</dcterms:modified>
</cp:coreProperties>
</file>