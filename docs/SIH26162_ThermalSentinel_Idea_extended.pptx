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91C1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Agricultural burn</c:v>
                  </c:pt>
                  <c:pt idx="1">
                    <c:v>Gas flare</c:v>
                  </c:pt>
                  <c:pt idx="2">
                    <c:v>Industrial fire</c:v>
                  </c:pt>
                  <c:pt idx="3">
                    <c:v>Mining / coal fire</c:v>
                  </c:pt>
                  <c:pt idx="4">
                    <c:v>Wildfire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99.8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99.3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land cover: cropland</c:v>
                  </c:pt>
                  <c:pt idx="1">
                    <c:v>land cover: industrial</c:v>
                  </c:pt>
                  <c:pt idx="2">
                    <c:v>night fraction</c:v>
                  </c:pt>
                  <c:pt idx="3">
                    <c:v>near mine/quarry</c:v>
                  </c:pt>
                  <c:pt idx="4">
                    <c:v>near gas flare</c:v>
                  </c:pt>
                  <c:pt idx="5">
                    <c:v>land cover unknown</c:v>
                  </c:pt>
                  <c:pt idx="6">
                    <c:v>distance to industry</c:v>
                  </c:pt>
                  <c:pt idx="7">
                    <c:v>source mean FRP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6.95</c:v>
                </c:pt>
                <c:pt idx="1">
                  <c:v>2.5</c:v>
                </c:pt>
                <c:pt idx="2">
                  <c:v>1.61</c:v>
                </c:pt>
                <c:pt idx="3">
                  <c:v>1.16</c:v>
                </c:pt>
                <c:pt idx="4">
                  <c:v>1.02</c:v>
                </c:pt>
                <c:pt idx="5">
                  <c:v>0.71</c:v>
                </c:pt>
                <c:pt idx="6">
                  <c:v>0.59</c:v>
                </c:pt>
                <c:pt idx="7">
                  <c:v>0.5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3792" y="859536"/>
            <a:ext cx="3950208" cy="369417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37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1371600" y="868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141732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SIH26162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AI-Based Detection and Classification of Industrial Fires and Persistent Thermal Sources Using NASA FIRMS, OSM &amp; Satellite Data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Management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&lt;TEAM ID&gt;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ThermalSentinel — AI Classification of Industrial Fires &amp; Persistent Thermal Sources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6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indent="0" marL="0">
              <a:buNone/>
            </a:pPr>
            <a:r>
              <a:rPr lang="en-US" sz="1200" b="1" u="sng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(Describe your Idea/Solution/Prototype)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74320" y="120700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explanation of the proposed solution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11480" y="1463040"/>
            <a:ext cx="5257800" cy="2057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VIIRS / MODIS hotspots from the NASA FIRMS API (near-real-time + archive), normalise both sensors to one schema.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detections into thermal SOURCES (haversine DBSCAN, 750 m) and track each over 90 days → active days, night fraction, FRP baseline, persistence score.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context from OpenStreetMap: nearest refinery / steel / power plant / gas flare / kiln / mine and land cover (cropland, forest, industrial).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classifier — explainable rules + gradient-boosted trees — labels every detection: Industrial fire · Gas flare · Mining / coal-seam fire · Agricultural burn · Wildfire · Other, with confidence and reasons.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FRP-anomaly detector: a known source burning ≥ 2.5× its own baseline → incident alert (a real fire, not routine heat).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in a spatial DB, served as GeoJSON to a Leaflet GIS dashboard; export to QGIS / ArcGIS.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274320" y="354787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addresses the problem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" y="3794760"/>
            <a:ext cx="5257800" cy="10058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Segregates industrial fires from forest fires, crop burning, flares and mine fires — exactly the PS requirement.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abnormal industrial heat raises an alert → 99 % fewer hotspots for a control room to triage.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is a map overlay + stored record → the GIS storage / visualisation requirement.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1207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and uniqueness of the solution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1463040"/>
            <a:ext cx="2971800" cy="1600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Fuses temporal persistence + OSM infrastructure + physical signature in ONE explainable classifier.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Baseline-relative alerts tell "refinery operating" from "refinery on fire".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UNREGISTERED sources: persistent heat where no facility is mapped.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data cost; offline archive or live with one API key; working prototype online.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312724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685800"/>
                <a:gridCol w="502920"/>
              </a:tblGrid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Comparison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 dashboards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Hotspots on a map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Tells WHAT is burning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vs wildfire vs crop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Persistent-source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 vs own baseline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decisions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COMPARISON WITH EXISTING SOLUTIONS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51560"/>
                <a:gridCol w="1188720"/>
                <a:gridCol w="1234440"/>
                <a:gridCol w="1234440"/>
                <a:gridCol w="114300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NASA FIRMS map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Forest Watch Fires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Copernicus EFFIS / GWIS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VIIRS Nightfire (VNF) / research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ThermalSentinel (FireOrbit)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purpose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hotspot map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forest / land fires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wildfire danger &amp; burnt area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flare &amp; industrial catalogue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 intelligence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Detects thermal anomalies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Classifies WHAT is burning (6 classes)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flares only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Separates industrial fire from wildfire / crop burn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Registry of persistent sources with history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annual, global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Incident alert vs source's own baseline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Uses OSM infrastructure + land-cover context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 cover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 cover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every decision (reasons)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Near-real-time (≤ 3 h latency)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India-specific priors (crop-residue seasons, kiln belts)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GeoJSON API / GIS export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CSV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&amp; open data / self-hostable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74320" y="4005072"/>
            <a:ext cx="4206240" cy="749808"/>
          </a:xfrm>
          <a:prstGeom prst="roundRect">
            <a:avLst>
              <a:gd name="adj" fmla="val 6098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84048" y="404164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Versus published research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384048" y="4233672"/>
            <a:ext cx="4023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Elvidge et al. (VIIRS Nightfire) catalogue flares globally; Liu et al. (2018) find industrial heat sources from Nightfire time-series — offline, global, single-class. We add OSM context, six-class discrimination, per-source baselines with operational alerts and a live GIS, for India.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4663440" y="4005072"/>
            <a:ext cx="4206240" cy="749808"/>
          </a:xfrm>
          <a:prstGeom prst="roundRect">
            <a:avLst>
              <a:gd name="adj" fmla="val 6098"/>
            </a:avLst>
          </a:prstGeom>
          <a:solidFill>
            <a:srgbClr val="ECFDF5"/>
          </a:solidFill>
          <a:ln w="9525">
            <a:solidFill>
              <a:srgbClr val="ECFDF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73168" y="404164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773168" y="4233672"/>
            <a:ext cx="4023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answer "where is it hot?". ThermalSentinel answers "what is it, is it normal, and should someone respond?" — the gap NTRO's problem statement describes.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to be used (e.g. programming languages, frameworks, hardware)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161288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Area API (VIIRS 375 m, MODIS 1 km), OpenStreetMap Overpass, Copernicus Sentinel-2 / NASA Worldview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353312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/ ML: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3, FastAPI, pandas, NumPy, scikit-learn (DBSCAN, HistGradientBoosting), shapely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545336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/ GIS: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→ PostGIS, GeoJSON API, QGIS / ArcGIS export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737360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/ hosting: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18, Vite, Leaflet (canvas renderer); any Linux VM or GitHub Pages for the static demo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274320" y="19659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and process for implementation (Flow Charts/Images/ working prototype)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7432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8590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" y="2258568"/>
            <a:ext cx="1325880" cy="2286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Ingest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3832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hotspots,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10-day chunks,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normalise, de-dup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160020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73736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37360" y="2258568"/>
            <a:ext cx="1325880" cy="2286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8308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Cluster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80136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Haversine DBSCAN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m → thermal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306324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20040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00400" y="2258568"/>
            <a:ext cx="1325880" cy="2286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24612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Persistence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6440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days, span,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%, FRP mean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CV / z-score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52628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466344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663440" y="2258568"/>
            <a:ext cx="1325880" cy="2286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70916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OSM context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facility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+ distance,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cover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598932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12648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26480" y="2258568"/>
            <a:ext cx="1325880" cy="2286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7220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Classify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619048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+ GBM vote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6 classes,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reasons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745236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758952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89520" y="2258568"/>
            <a:ext cx="1325880" cy="228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63524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Serve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765352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→ GeoJSON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→ Leaflet GIS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export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6784848" y="3044952"/>
            <a:ext cx="0" cy="13716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5623560" y="3182112"/>
            <a:ext cx="2331720" cy="310896"/>
          </a:xfrm>
          <a:prstGeom prst="roundRect">
            <a:avLst>
              <a:gd name="adj" fmla="val 14706"/>
            </a:avLst>
          </a:prstGeom>
          <a:solidFill>
            <a:srgbClr val="FEF2F2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87568" y="3182112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Anomaly: FRP ≥ 2.5× source baseline &amp; z ≥ 3 → incident alert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274320" y="310896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NASA FIRMS (thermal anomalies) · OSM (infrastructure &amp; land use) · Sentinel-2 / Worldview (visual verification)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27432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(real screenshots)</a:t>
            </a:r>
            <a:endParaRPr lang="en-US" sz="900" dirty="0"/>
          </a:p>
        </p:txBody>
      </p:sp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776472"/>
            <a:ext cx="1828800" cy="1024128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rcRect l="56250" r="7500" t="7111" b="43111"/>
          <a:stretch/>
        </p:blipFill>
        <p:spPr>
          <a:xfrm>
            <a:off x="2194560" y="3776472"/>
            <a:ext cx="1325880" cy="1024128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3657600" y="3749040"/>
            <a:ext cx="5212080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22,179 FIRMS detections classified in ~7 s · 114 persistent sources · 138 incident candidates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accuracy 99.9 % on labelled archive (group-aware split); rules-only 98.4 %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rahulskandagal.github.io/thermal-sentinel  ·  Code: github.com/rahulskandagal/thermal-sentinel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IMPLEMENTATION &amp; WORKING PROTOTYPE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120640" cy="2880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74320" y="3813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 dashboard: coloured detections by class, dashed footprints = persistent sources, OSM facility icons, class / date / confidence filters, per-day timeline, GeoJSON export.</a:t>
            </a:r>
            <a:endParaRPr lang="en-US" sz="8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56098" r="0" t="6941" b="24729"/>
          <a:stretch/>
        </p:blipFill>
        <p:spPr>
          <a:xfrm>
            <a:off x="5577840" y="914400"/>
            <a:ext cx="3291840" cy="2880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77840" y="381304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drawer — Jamnagar refinery: class + confidence, 86 active days, 59 % night, FRP baseline 19 MW with a 207 MW spike flagged as incident; one-click Sentinel-2 / Worldview verification.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7432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3832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Ingest → normalise VIIRS &amp; MODIS to one schema</a:t>
            </a:r>
            <a:endParaRPr 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01168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07568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DBSCAN clusters → per-source persistence statistics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374904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81304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Overpass around hotspot cells → facility + land cover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548640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5040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Rule engine + GBM → label, confidence, reasons, anomaly flag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722376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8776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SQLite + FastAPI GeoJSON → React / Leaflet; static demo on GitHub Pages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feasibility of the idea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74320" y="1170432"/>
            <a:ext cx="27889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1243584"/>
            <a:ext cx="2633472" cy="2670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inputs are free &amp; open: FIRMS MAP_KEY (instant), OSM Overpass, Copernicus Sentinel-2, NASA Worldview.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end-to-end prototype exists: 22 k detections classified in 7 s on a laptop; model trains in seconds.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pipeline switches to live FIRMS with one env variable; Overpass queried only around hotspot cells → India-wide in minutes.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stack (SQLite / FastAPI / React) → one VM, NIC cloud or an air-gapped NTRO server.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rules let analysts audit and tune; ML improves as labelled incidents accumulate.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demo already live on GitHub Pages.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15468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challenges and risks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54680" y="1170432"/>
            <a:ext cx="27889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46120" y="1243584"/>
            <a:ext cx="2633472" cy="2670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OSM coverage of Indian industry (small kilns, sponge-iron units).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cover &amp; 375 m pixel offsets between passes.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labelled real incidents for supervised ML; synthetic archive is cleaner than reality.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Overpass rate limits when scaling to national, multi-year archives.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 from legitimate process changes (furnace restart, maintenance flaring).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Sub-pixel sources (small flares) below VIIRS detection threshold.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Strategies for overcoming these challenges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35040" y="1170432"/>
            <a:ext cx="27889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26480" y="1243584"/>
            <a:ext cx="2633472" cy="2670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 signature detects unregistered sources even without an OSM facility; curated facility list merged with OSM; Sentinel-2 chip verification.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window + 4 passes/day from 3 VIIRS satellites; DBSCAN grouping absorbs pixel jitter.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as strong prior; validate on documented incidents (news / PESO / CPCB); analyst feedback loop → retrain.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Around-cell queries + disk cache; self-hosted Overpass or ESA WorldCover raster for scale.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Baseline-relative thresholds + analyst override; confidence shown on every alert.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VIIRS Nightfire (VNF) for flare temperature; Landsat TIRS for small sources.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74320" y="4041648"/>
            <a:ext cx="8595360" cy="731520"/>
          </a:xfrm>
          <a:prstGeom prst="roundRect">
            <a:avLst>
              <a:gd name="adj" fmla="val 625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1480" y="407822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VIABILITY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licensing — all open sources</a:t>
            </a:r>
            <a:endParaRPr lang="en-US" sz="700" dirty="0"/>
          </a:p>
        </p:txBody>
      </p:sp>
      <p:sp>
        <p:nvSpPr>
          <p:cNvPr id="22" name="Text 19"/>
          <p:cNvSpPr txBox="1"/>
          <p:nvPr/>
        </p:nvSpPr>
        <p:spPr>
          <a:xfrm>
            <a:off x="2112264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VM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12264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air-gapped server; SQLite → PostGIS to scale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3813048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 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3048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classify a 90-day national archive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5513832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env var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13832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offline archive → live NASA FIRMS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7214616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214616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GeoJSON / API — plugs into any GIS NTRO runs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impact on the target audience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74320" y="1170432"/>
            <a:ext cx="420624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1243584"/>
            <a:ext cx="4023360" cy="1627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management (NDMA / SDMAs / fire services): alerts only on abnormal industrial heat → faster, correctly-targeted response to plant fires &amp; explosions.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NTRO &amp; security agencies: national registry of persistent thermal sources with activity history; detects undeclared industrial activity; change detection (shutdowns, restarts, surges).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/ MoEFCC: attribute district fires to stubble burning vs industry; flaring inventories.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Insurers &amp; industry: verified incident records; compliance evidence.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8961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the solution (social, economic, environmental, etc.)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170432"/>
            <a:ext cx="420624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54880" y="1243584"/>
            <a:ext cx="4023360" cy="1627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Social: earlier warning for communities near refineries, steel plants, chemical complexes; better use of fire-service capacity.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Economic: 99 % fewer hotspots to triage; ₹0 data licensing; lower losses through early detection; runs on one VM.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Environmental: separates agricultural burning from industrial emissions; flaring and coal-fire monitoring for climate reporting.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Strategic: open, explainable, auditable — deployable on sovereign / air-gapped infrastructure.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74320" y="3017520"/>
            <a:ext cx="8595360" cy="1755648"/>
          </a:xfrm>
          <a:prstGeom prst="roundRect">
            <a:avLst>
              <a:gd name="adj" fmla="val 260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1480" y="30632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— results of the working prototype (90-day labelled archive over real Indian sites)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" y="33375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22,179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3375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detections classified in ~7 s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3200400" y="33375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4251960" y="33375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sources registered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5989320" y="33375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33375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candidates (0.6 % of detections)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11480" y="39410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99.9 %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3941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accuracy (group-aware test split)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39410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98.4 %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3941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rules-only accuracy (explainable baseline)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39410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941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classes: industrial, flare, mining, agri, wildfire, other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alerts: Bhilai Steel 414 MW vs 32 MW baseline · Jamnagar 207 MW vs 19 MW · Tata Steel 101 MW vs 26 MW.  Note: archive is physically simulated &amp; labelled; real-world accuracy will be lower — validating on real incidents is the next-round goal.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REPORT — EVALUATION OF THE PROTOTYPE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914400"/>
            <a:ext cx="4206240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9692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Per-class F1 score (held-out sources)</a:t>
            </a:r>
            <a:endParaRPr lang="en-US" sz="10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18872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4663440" y="914400"/>
            <a:ext cx="4206240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00600" y="9692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the decision (permutation importance)</a:t>
            </a:r>
            <a:endParaRPr lang="en-US" sz="10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4754880" y="118872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456432"/>
          <a:ext cx="8595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37360"/>
                <a:gridCol w="822960"/>
                <a:gridCol w="1097280"/>
                <a:gridCol w="91440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Persistent source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FRP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Paradip Refinery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Jamnagar Refinery Complex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19.4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Mangala Oil Field, Barmer (flare)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 flare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Visakhapatnam Steel Plant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Jharia Coalfield (coal-seam fires)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Mining / coal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Bellary sponge-iron units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 / Links of the reference and research work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2070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207008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— Fire Information for Resource Management System; Area API &amp; VIIRS 375 m active-fire product (VNP14IMG / VJ114IMG)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1389888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https://firms.modaps.eosdis.nasa.gov/api/area/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6002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1600200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Schroeder, W. et al. (2014). The New VIIRS 375 m active fire detection data product. Remote Sensing of Environment, 143, 85–96.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1783080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https://doi.org/10.1016/j.rse.2013.12.008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199339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Elvidge, C. D. et al. (2013). VIIRS Nightfire: Satellite Pyrometry at Night. Remote Sensing, 5(9), 4423–4449 — basis for gas-flare signatures.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176272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https://doi.org/10.3390/rs5094423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23865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238658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Liu, Y. et al. (2018). Identifying industrial heat sources using time-series of the VIIRS Nightfire product. Remote Sensing of Environment, 204.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2569464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https://www.sciencedirect.com/journal/remote-sensing-of-environment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7797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2779776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Overpass API &amp; tagging: landuse=industrial, man_made=flare|works, power=plant, landuse=quarry|farmland|forest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2962656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https://wiki.openstreetmap.org/wiki/Overpass_API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31729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3172968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Copernicus Data Space — Sentinel-2 L2A SWIR (B11/B12) for hotspot verification; ESA WorldCover 10 m land cover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3355848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https://dataspace.copernicus.eu · https://esa-worldcover.org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5661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3566160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ICAR-IARI CREAMS / CPCB — crop-residue burning bulletins (Oct–Nov, Apr–May seasonality used as a prior)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3749040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https://creams.iari.res.in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9593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395935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Ester, M. et al. (1996). DBSCAN. KDD-96 · scikit-learn HistGradientBoostingClassifier documentation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142232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https://scikit-learn.org</a:t>
            </a:r>
            <a:endParaRPr lang="en-US" sz="75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435254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435254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prototype — live demo &amp; source code (Team FireOrbit)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" y="4535424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https://rahulskandagal.github.io/thermal-sentinel/ · https://github.com/rahulskandagal/thermal-sentinel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Idea — SIH26162 ThermalSentinel (Team FireOrbit)</dc:title>
  <dc:subject>PptxGenJS Presentation</dc:subject>
  <dc:creator>PptxGenJS</dc:creator>
  <cp:lastModifiedBy>PptxGenJS</cp:lastModifiedBy>
  <cp:revision>1</cp:revision>
  <dcterms:created xsi:type="dcterms:W3CDTF">2026-09-16T16:47:38Z</dcterms:created>
  <dcterms:modified xsi:type="dcterms:W3CDTF">2026-09-16T16:47:38Z</dcterms:modified>
</cp:coreProperties>
</file>