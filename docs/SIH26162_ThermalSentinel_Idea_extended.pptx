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15803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4530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D28D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Agricultural burn</c:v>
                  </c:pt>
                  <c:pt idx="1">
                    <c:v>Gas flare</c:v>
                  </c:pt>
                  <c:pt idx="2">
                    <c:v>Industrial fire</c:v>
                  </c:pt>
                  <c:pt idx="3">
                    <c:v>Mining / coal fire</c:v>
                  </c:pt>
                  <c:pt idx="4">
                    <c:v>Wildfire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99.8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99.3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land cover: cropland</c:v>
                  </c:pt>
                  <c:pt idx="1">
                    <c:v>land cover: industrial</c:v>
                  </c:pt>
                  <c:pt idx="2">
                    <c:v>night fraction</c:v>
                  </c:pt>
                  <c:pt idx="3">
                    <c:v>near mine/quarry</c:v>
                  </c:pt>
                  <c:pt idx="4">
                    <c:v>near gas flare</c:v>
                  </c:pt>
                  <c:pt idx="5">
                    <c:v>land cover unknown</c:v>
                  </c:pt>
                  <c:pt idx="6">
                    <c:v>distance to industry</c:v>
                  </c:pt>
                  <c:pt idx="7">
                    <c:v>source mean FRP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6.95</c:v>
                </c:pt>
                <c:pt idx="1">
                  <c:v>2.5</c:v>
                </c:pt>
                <c:pt idx="2">
                  <c:v>1.61</c:v>
                </c:pt>
                <c:pt idx="3">
                  <c:v>1.16</c:v>
                </c:pt>
                <c:pt idx="4">
                  <c:v>1.02</c:v>
                </c:pt>
                <c:pt idx="5">
                  <c:v>0.71</c:v>
                </c:pt>
                <c:pt idx="6">
                  <c:v>0.59</c:v>
                </c:pt>
                <c:pt idx="7">
                  <c:v>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PAGE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 -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SIH26162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 -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Detection and Classification of Industrial Fires and Persistent Thermal Sources Using NASA FIRMS, OSM &amp; Satellite Data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-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Management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 -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-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&lt;TEAM ID&gt;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(Registered on portal) -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FireOrbit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4069080"/>
            <a:ext cx="4937760" cy="68580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40690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TITLE: 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— an AI + GIS system that classifies every NASA FIRMS hotspot (industrial fire, gas flare, mine fire, crop burning, wildfire) and alerts only on abnormal industrial heat.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371600"/>
            <a:ext cx="3108960" cy="1746504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55844" r="0" t="6928" b="48961"/>
          <a:stretch/>
        </p:blipFill>
        <p:spPr>
          <a:xfrm>
            <a:off x="5760720" y="3200400"/>
            <a:ext cx="3108960" cy="174650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760720" y="49560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(screenshots)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FireOrbit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37360" y="1371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TITLE / PROPOSED SOLUTION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6217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ThermalSentinel — AI classification of industrial fires &amp; persistent thermal sources on a GIS map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7432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005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The problem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261872"/>
            <a:ext cx="2560320" cy="1828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FIRMS gives thousands of "hot pixels" over India daily — location, brightness, FRP only.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refinery flare, steel plant, coal-seam fire, stubble burn and forest fire look IDENTICAL.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managers cannot prioritise; a real plant fire hides among thousands of routine hotspots.</a:t>
            </a:r>
            <a:endParaRPr lang="en-US" sz="9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registry exists of persistent thermal sources or undeclared industrial activity.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08960" y="960120"/>
            <a:ext cx="31089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1005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Detailed explanation of the proposed solution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1261872"/>
            <a:ext cx="2926080" cy="1828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VIIRS/MODIS hotspots from the FIRMS API (NRT + archive).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detections into thermal SOURCES (DBSCAN) and track each over 90 days → persistence score.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context from OpenStreetMap: nearest refinery / steel / power / flare / kiln / mine + land cover.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classifier (explainable rules + gradient-boosted trees) → 6 classes with confidence &amp; reasons.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FRP-anomaly detector: a known source burning ≥ 2.5× its own baseline → incident alert.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stored in a spatial DB and served as GeoJSON to a Leaflet GIS dashboard; export to QGIS.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309360" y="960120"/>
            <a:ext cx="256032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10058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How it addresses the problem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261872"/>
            <a:ext cx="2377440" cy="1828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fires are SEGREGATED from forest fires, crop burning, flares and mine fires — the PS requirement.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abnormal industrial heat raises an alert → 99 % fewer hotspots to triage.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is a map overlay + stored record (GIS requirement).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3200400"/>
            <a:ext cx="310896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" y="32461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Innovation and uniqueness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3502152"/>
            <a:ext cx="2926080" cy="12344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fuse temporal persistence + OSM infrastructure + physical signature in ONE explainable classifier.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Baseline-relative anomaly alerts distinguish "refinery operating" from "refinery on fire".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UNREGISTERED sources: persistent heat where no facility is mapped.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cost — all open sources; runs offline or live with one API key.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0" y="3200400"/>
          <a:ext cx="5394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1005840"/>
                <a:gridCol w="1005840"/>
              </a:tblGrid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FIRMS map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 dashboards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ThermalSentinel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hotspots on a map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Tells WHAT is burning (6 classes)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vs wildfire vs crop burn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Persistent-source registry + history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alert vs own baseline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Explains every decision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FireOrbit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37360" y="1371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EXISTING SOLUTIONS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85800"/>
          <a:ext cx="8595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51560"/>
                <a:gridCol w="1188720"/>
                <a:gridCol w="1234440"/>
                <a:gridCol w="1234440"/>
                <a:gridCol w="11430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 FIRMS map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Forest Watch Fires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Copernicus EFFIS / GWIS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VIIRS Nightfire (VNF) / research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ThermalSentinel (FireOrbit)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purpose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hotspot map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forest / land fires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wildfire danger &amp; burnt area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flare &amp; industrial catalogue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fire intelligence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thermal anomalies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Classifies WHAT is burning (6 classes)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flares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Separates industrial fire from wildfire / crop burn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 of persistent sources with history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annual, global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alert vs source's own baseline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OSM infrastructure + land-cover context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 cover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 cover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Explains every decision (reasons)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Near-real-time (≤ 3 h latency)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India-specific priors (crop-residue seasons, kiln belts)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✖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GeoJSON API / GIS export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&amp; open data / self-hostable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977640"/>
            <a:ext cx="4206240" cy="77724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84048" y="40233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Versus published research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384048" y="422452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Elvidge et al. (VIIRS Nightfire) catalogue flares globally; Liu et al. (2018) find industrial heat sources from Nightfire time-series. Both are offline, global, single-class studies. We add OSM context, six-class discrimination, per-source baselines with operational alerts, and a live GIS — for India.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663440" y="3977640"/>
            <a:ext cx="4206240" cy="777240"/>
          </a:xfrm>
          <a:prstGeom prst="roundRect">
            <a:avLst>
              <a:gd name="adj" fmla="val 5882"/>
            </a:avLst>
          </a:prstGeom>
          <a:solidFill>
            <a:srgbClr val="ECFDF5"/>
          </a:solidFill>
          <a:ln w="9525">
            <a:solidFill>
              <a:srgbClr val="ECFD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73168" y="40233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773168" y="422452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answer "where is it hot?". ThermalSentinel answers "what is it, is it normal, and should someone respond?" — the gap NTRO's problem statement describes.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FireOrbit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37360" y="1371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640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Technologies to be used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886968"/>
            <a:ext cx="8503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FIRMS Area API (VIIRS 375 m, MODIS), OpenStreetMap Overpass, Copernicus Sentinel-2 / NASA Worldview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1097280"/>
            <a:ext cx="8503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ML: 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3, FastAPI, pandas, NumPy, scikit-learn (DBSCAN, HistGradientBoosting), shapely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320040" y="1307592"/>
            <a:ext cx="8503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/ GIS: 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PostGIS, GeoJSON API, QGIS / ArcGIS export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320040" y="1517904"/>
            <a:ext cx="8503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</a:t>
            </a:r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Vite, Leaflet (canvas), GitHub Pages / any VM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74320" y="1783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Methodology and process for implementation (flow chart)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132588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E859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057400"/>
            <a:ext cx="1325880" cy="23774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" y="20574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Ingest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" y="2322576"/>
            <a:ext cx="1216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hotspots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10-day chunks,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normalise, de-dup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600200" y="2459736"/>
            <a:ext cx="13716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737360" y="2057400"/>
            <a:ext cx="132588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37360" y="2057400"/>
            <a:ext cx="1325880" cy="2377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783080" y="20574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Cluster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801368" y="2322576"/>
            <a:ext cx="1216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DBSCAN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m → thermal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063240" y="2459736"/>
            <a:ext cx="13716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200400" y="2057400"/>
            <a:ext cx="132588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057400"/>
            <a:ext cx="1325880" cy="23774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46120" y="20574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Persistence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264408" y="2322576"/>
            <a:ext cx="1216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days, span,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%, FRP mean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CV / z-score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26280" y="2459736"/>
            <a:ext cx="13716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663440" y="2057400"/>
            <a:ext cx="132588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057400"/>
            <a:ext cx="1325880" cy="2377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09160" y="20574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OSM context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727448" y="2322576"/>
            <a:ext cx="1216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facility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+ distance,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cover (PIP)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989320" y="2459736"/>
            <a:ext cx="13716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126480" y="2057400"/>
            <a:ext cx="132588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2057400"/>
            <a:ext cx="1325880" cy="23774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72200" y="20574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Classify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190488" y="2322576"/>
            <a:ext cx="1216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GBM vote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 classes,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confidence, reasons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452360" y="2459736"/>
            <a:ext cx="13716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589520" y="2057400"/>
            <a:ext cx="132588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89520" y="2057400"/>
            <a:ext cx="1325880" cy="2377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35240" y="20574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Serve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7653528" y="2322576"/>
            <a:ext cx="1216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GeoJSON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→ Leaflet GIS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export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784848" y="2862072"/>
            <a:ext cx="0" cy="155448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623560" y="3017520"/>
            <a:ext cx="2331720" cy="329184"/>
          </a:xfrm>
          <a:prstGeom prst="roundRect">
            <a:avLst>
              <a:gd name="adj" fmla="val 13889"/>
            </a:avLst>
          </a:prstGeom>
          <a:solidFill>
            <a:srgbClr val="FEF2F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687568" y="301752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Anomaly: FRP ≥ 2.5× source baseline &amp; z ≥ 3 → incident alert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274320" y="29260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NASA FIRMS (thermal anomalies) · OSM (infrastructure &amp; land use) · Sentinel-2 / Worldview (visual verification)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274320" y="34015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Working prototype (real screenshots)</a:t>
            </a:r>
            <a:endParaRPr lang="en-US" sz="105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657600"/>
            <a:ext cx="2103120" cy="1179576"/>
          </a:xfrm>
          <a:prstGeom prst="rect">
            <a:avLst/>
          </a:prstGeom>
        </p:spPr>
      </p:pic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2"/>
          <a:srcRect l="55682" r="7955" t="6883" b="40891"/>
          <a:stretch/>
        </p:blipFill>
        <p:spPr>
          <a:xfrm>
            <a:off x="2468880" y="3657600"/>
            <a:ext cx="1463040" cy="1179576"/>
          </a:xfrm>
          <a:prstGeom prst="rect">
            <a:avLst/>
          </a:prstGeom>
        </p:spPr>
      </p:pic>
      <p:sp>
        <p:nvSpPr>
          <p:cNvPr id="48" name="Text 44"/>
          <p:cNvSpPr txBox="1"/>
          <p:nvPr/>
        </p:nvSpPr>
        <p:spPr>
          <a:xfrm>
            <a:off x="4069080" y="3657600"/>
            <a:ext cx="4800600" cy="11887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22,179 FIRMS detections classified in ~7 s · 114 persistent sources · 138 incident candidates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accuracy 99.9 % on labelled archive (group-aware split); rules-only 98.4 %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https://rahulskandagal.github.io/thermal-sentinel/  ·  code: github.com/rahulskandagal/thermal-sentinel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FireOrbit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37360" y="1371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WORKING PROTOTYPE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85800"/>
            <a:ext cx="5120640" cy="2880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74320" y="35844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dashboard: coloured detections by class, dashed footprints = persistent sources, OSM facility icons, class/date/confidence filters, per-day timeline, GeoJSON export.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56098" r="0" t="6941" b="24729"/>
          <a:stretch/>
        </p:blipFill>
        <p:spPr>
          <a:xfrm>
            <a:off x="5577840" y="685800"/>
            <a:ext cx="3291840" cy="28803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577840" y="35844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drawer for Jamnagar refinery: class + confidence, 86 active days, 59 % night, FRP baseline 19 MW with a 207 MW spike flagged as incident; one-click Sentinel-2 / Worldview verification.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74320" y="416052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328" y="418795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Ingest → normalise VIIRS &amp; MODIS to one schema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2011680" y="416052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075688" y="418795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DBSCAN clusters → per-source persistence statistics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749040" y="416052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813048" y="418795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Overpass around hotspot cells → facility + land cover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486400" y="416052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550408" y="418795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Rule engine + GBM → label, confidence, reasons, anomaly flag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7223760" y="416052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F3F4F6"/>
          </a:solidFill>
          <a:ln w="9525">
            <a:solidFill>
              <a:srgbClr val="F3F4F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287768" y="418795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SQLite + FastAPI GeoJSON → React/Leaflet; GitHub Pages static demo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FireOrbit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37360" y="1371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2788920" cy="315468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7315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Analysis of the feasibility of the idea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005840"/>
            <a:ext cx="2606040" cy="2788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inputs are free &amp; open: FIRMS MAP_KEY (instant), OSM Overpass, Copernicus Sentinel-2, NASA Worldview.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end-to-end prototype already exists: 22 k detections → classified in 7 s on a laptop; model trains in seconds.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switches to live FIRMS with one env variable; Overpass is queried only around hotspot cells → India-wide in minutes.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stack (SQLite / FastAPI / React) → one VM, NIC cloud or an air-gapped NTRO server.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rules let analysts audit and tune; ML improves as labelled incidents accumulate.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demo already live on GitHub Pages.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685800"/>
            <a:ext cx="2788920" cy="315468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7315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Potential challenges and risks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1005840"/>
            <a:ext cx="2606040" cy="2788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OSM coverage of Indian industry (small kilns, sponge-iron units).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cover &amp; 375 m pixel offsets between passes.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labelled real incidents for supervised ML; synthetic archive is cleaner than reality.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Overpass rate limits when scaling to national, multi-year archives.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from legitimate process changes (furnace restart, flaring during maintenance).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Sub-pixel sources (small flares) below VIIRS detection threshold.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685800"/>
            <a:ext cx="2834640" cy="315468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7315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Strategies for overcoming these challenges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005840"/>
            <a:ext cx="2651760" cy="2788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signature detects unregistered sources even with no OSM facility; curated facility list merged with OSM; Sentinel-2 chip verification.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window + 4 passes/day from 3 VIIRS satellites; DBSCAN grouping absorbs pixel jitter.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as strong prior; validate on documented incidents (news / PESO / CPCB); analyst feedback loop → retrain.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Around-cell queries + disk cache; self-hosted Overpass or ESA WorldCover raster for scale.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Baseline-relative thresholds + analyst override; confidence shown on every alert.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VIIRS Nightfire (VNF) for flare temperature; Landsat TIRS for small sources.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950208"/>
            <a:ext cx="8595360" cy="804672"/>
          </a:xfrm>
          <a:prstGeom prst="roundRect">
            <a:avLst>
              <a:gd name="adj" fmla="val 5682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4005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0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4480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licensing — all open sources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2112264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VM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112264" y="4480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air-gapped server; SQLite → PostGIS when scaling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3813048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813048" y="4480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classify a 90-day national archive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5513832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env var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513832" y="4480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offline archive → live NASA FIRMS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7214616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214616" y="4480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 / API — plugs into any GIS NTRO runs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FireOrbit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37360" y="1371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420624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731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Potential impact on the target audience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005840"/>
            <a:ext cx="4023360" cy="1737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management (NDMA / SDMAs / fire services): alerts only on abnormal industrial heat → faster, correctly-targeted response to plant fires &amp; explosions.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NTRO &amp; security agencies: a national registry of persistent thermal sources with activity history; detects undeclared industrial activity; change detection (shutdowns, restarts, surges).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/ MoEFCC: attribute district fires to stubble burning vs industry; flaring inventories.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 &amp; industry: verified incident records; compliance evidence.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685800"/>
            <a:ext cx="4297680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7315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Benefits of the solution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005840"/>
            <a:ext cx="4114800" cy="1737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Social: earlier warning for communities near refineries, steel plants, chemical complexes; better use of fire-service capacity.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99 % fewer hotspots to triage; ₹0 data licensing; reduced losses through early detection; runs on one VM.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Environmental: separates agricultural burning from industrial emissions; flaring and coal-fire monitoring for climate reporting.</a:t>
            </a:r>
            <a:endParaRPr lang="en-US" sz="9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Strategic: open, explainable, auditable — deployable on sovereign / air-gapped infrastructure.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8595360" cy="1874520"/>
          </a:xfrm>
          <a:prstGeom prst="roundRect">
            <a:avLst>
              <a:gd name="adj" fmla="val 2439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29260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— results of the working prototype (90-day labelled archive over real Indian sites)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11480" y="321868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22,179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2186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detections classified in ~7 s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321868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251960" y="32186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sources registered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321868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32186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candidates (0.6 % of detections)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396849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99.9 %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96849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accuracy (group-aware test split)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396849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98.4 %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251960" y="396849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rules-only accuracy (explainable baseline)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396849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396849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industrial, flare, mining, agri, wildfire, other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11480" y="440740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alerts found: Bhilai Steel 414 MW vs 32 MW baseline · Jamnagar 207 MW vs 19 MW · Tata Steel 101 MW vs 26 MW.  Note: archive is physically simulated and labelled; real-world accuracy will be lower — validation on real incidents is the next-round goal.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FireOrbit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37360" y="1371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— EVALUATION OF THE PROTOTYPE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4206240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7498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score (held-out sources)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960120"/>
          <a:ext cx="40233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663440" y="685800"/>
            <a:ext cx="4206240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00600" y="7498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decision (permutation importance)</a:t>
            </a:r>
            <a:endParaRPr lang="en-US" sz="10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4754880" y="960120"/>
          <a:ext cx="40233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474720"/>
          <a:ext cx="8595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737360"/>
                <a:gridCol w="822960"/>
                <a:gridCol w="1097280"/>
                <a:gridCol w="914400"/>
                <a:gridCol w="91440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source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FRP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Paradip Refinery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fire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 MW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Jamnagar Refinery Complex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fire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 MW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Mangala Oil Field, Barmer (flare)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flare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 MW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Visakhapatnam Steel Plant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fire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 MW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Jharia Coalfield (coal-seam fires)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Mining / coal fire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 MW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Bellary sponge-iron units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fire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 MW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37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
</a:t>
            </a:r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FireOrbit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737360" y="1371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submission- Template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6583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 Details / Links of the reference and research work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9601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960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FIRMS — Fire Information for Resource Management System; Area API &amp; VIIRS 375 m active-fire product (VNP14IMG / VJ114IMG)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1521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https://firms.modaps.eosdis.nasa.gov/api/area/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320040" y="138074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38074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Schroeder, W. et al. (2014). The New VIIRS 375 m active fire detection data product. Remote Sensing of Environment, 143, 85–96.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15727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https://doi.org/10.1016/j.rse.2013.12.008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18013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18013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Elvidge, C. D. et al. (2013). VIIRS Nightfire: Satellite Pyrometry at Night. Remote Sensing, 5(9), 4423–4449 — basis for gas-flare signatures.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19933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https://doi.org/10.3390/rs5094423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22219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2219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Liu, Y. et al. (2018). Identifying industrial heat sources using time-series of the VIIRS Nightfire product. Remote Sensing of Environment, 204.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4140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https://www.sciencedirect.com/journal/remote-sensing-of-environment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" y="264261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26426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Overpass API &amp; tagging: landuse=industrial, man_made=flare|works, power=plant, landuse=quarry|farmland|forest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28346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https://wiki.openstreetmap.org/wiki/Overpass_API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30632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063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Copernicus Data Space — Sentinel-2 L2A SWIR (B11/B12) for hotspot verification; ESA WorldCover 10 m land cover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32552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https://dataspace.copernicus.eu · https://esa-worldcover.org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320040" y="348386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348386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ICAR-IARI CREAMS / CPCB — crop-residue burning bulletins (Oct–Nov, Apr–May seasonality used as a prior)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36758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https://creams.iari.res.in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320040" y="390448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39044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Ester, M. et al. (1996). DBSCAN. KDD-96 · scikit-learn HistGradientBoostingClassifier documentation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409651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https://scikit-learn.org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320040" y="43251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43251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prototype — live demo &amp; source code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45171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https://rahulskandagal.github.io/thermal-sentinel/ · https://github.com/rahulskandagal/thermal-sentinel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 2026 Idea — SIH26162 ThermalSentinel</dc:title>
  <dc:subject>PptxGenJS Presentation</dc:subject>
  <dc:creator>PptxGenJS</dc:creator>
  <cp:lastModifiedBy>PptxGenJS</cp:lastModifiedBy>
  <cp:revision>1</cp:revision>
  <dcterms:created xsi:type="dcterms:W3CDTF">2026-09-16T16:26:27Z</dcterms:created>
  <dcterms:modified xsi:type="dcterms:W3CDTF">2026-09-16T16:26:27Z</dcterms:modified>
</cp:coreProperties>
</file>