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ahulskandagal.github.io/thermal-sentinel/" TargetMode="External"/><Relationship Id="rId3" Type="http://schemas.openxmlformats.org/officeDocument/2006/relationships/hyperlink" Target="https://github.com/rahulskandagal/thermal-sentinel" TargetMode="Externa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859536"/>
            <a:ext cx="3950208" cy="369417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7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274320" y="12344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ID –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SIH26162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Title-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Detection and Classification of Industrial Fires and Persistent Thermal Sources Using NASA FIRMS, OSM &amp; Satellite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Disaster Management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 Category-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ID- </a:t>
            </a:r>
            <a:pPr indent="0" marL="0">
              <a:spcAft>
                <a:spcPts val="1000"/>
              </a:spcAft>
              <a:buNone/>
            </a:pP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 (Registered on portal) 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 Orbit</a:t>
            </a:r>
            <a:endParaRPr lang="en-US" sz="135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Organisation: National Technical Research Organisation (NTRO)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8686800" cy="749808"/>
          </a:xfrm>
          <a:prstGeom prst="roundRect">
            <a:avLst>
              <a:gd name="adj" fmla="val 4878"/>
            </a:avLst>
          </a:prstGeom>
          <a:solidFill>
            <a:srgbClr val="2E4C7E"/>
          </a:solidFill>
          <a:ln w="12700">
            <a:solidFill>
              <a:srgbClr val="1B37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194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THERMALSENTINEL — CORE SOLUTION OVERVIEW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shows where the ground is hot; ThermalSentinel says what is burning and whether it is abnormal — classifying every thermal anomaly and alerting only on real industrial incidents.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90688" y="219456"/>
            <a:ext cx="106070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46888"/>
            <a:ext cx="950976" cy="429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05840"/>
            <a:ext cx="2743200" cy="420624"/>
          </a:xfrm>
          <a:prstGeom prst="roundRect">
            <a:avLst>
              <a:gd name="adj" fmla="val 6522"/>
            </a:avLst>
          </a:prstGeom>
          <a:solidFill>
            <a:srgbClr val="8D9DC0"/>
          </a:solidFill>
          <a:ln w="12700">
            <a:solidFill>
              <a:srgbClr val="7B8B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[OUR SOLUTION]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08960" y="1005840"/>
            <a:ext cx="2743200" cy="420624"/>
          </a:xfrm>
          <a:prstGeom prst="roundRect">
            <a:avLst>
              <a:gd name="adj" fmla="val 6522"/>
            </a:avLst>
          </a:prstGeom>
          <a:solidFill>
            <a:srgbClr val="8D9DC0"/>
          </a:solidFill>
          <a:ln w="12700">
            <a:solidFill>
              <a:srgbClr val="7B8BB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468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WORKS &amp; ARCHITECTURE]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2926080" cy="420624"/>
          </a:xfrm>
          <a:prstGeom prst="roundRect">
            <a:avLst>
              <a:gd name="adj" fmla="val 6522"/>
            </a:avLst>
          </a:prstGeom>
          <a:solidFill>
            <a:srgbClr val="8D9DC0"/>
          </a:solidFill>
          <a:ln w="12700">
            <a:solidFill>
              <a:srgbClr val="7B8BB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10058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[UNIQUE DIFFERENTIATORS]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1499616"/>
            <a:ext cx="2560320" cy="224028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1572768"/>
            <a:ext cx="2395728" cy="2103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reports thousands of hot pixels over India every day — a refinery flare, a steel plant, a coal-seam fire, a stubble burn and a forest fire look identical.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ThermalSentinel classifies every detection into 6 classes with a confidence and plain-language reasons.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tracks each thermal SOURCE for 90 days and builds a persistent-source registry.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alerts only when a known site burns far above its own baseline — a real incident, not routine heat.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a GIS map layer + GeoJSON API: the PS asks for segregation of industrial fires and GIS storage/visualisation; both are live today.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3200400" y="1499616"/>
            <a:ext cx="2560320" cy="224028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73552" y="1591056"/>
            <a:ext cx="45720" cy="310896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64992" y="1572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INGEST: </a:t>
            </a:r>
            <a:pPr indent="0" marL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VIIRS 375 m + MODIS (NRT ≤ 3 h + archive), both sensors normalised, passes de-duplicated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3273552" y="1956816"/>
            <a:ext cx="45720" cy="310896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64992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CLUSTER: </a:t>
            </a:r>
            <a:pPr indent="0" marL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DBSCAN 750 m groups pixel-jittered detections into thermal sources (22 k → 4.4 k)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3273552" y="2322576"/>
            <a:ext cx="45720" cy="310896"/>
          </a:xfrm>
          <a:prstGeom prst="rect">
            <a:avLst/>
          </a:prstGeom>
          <a:solidFill>
            <a:srgbClr val="7A5FA8"/>
          </a:solidFill>
          <a:ln w="12700">
            <a:solidFill>
              <a:srgbClr val="7A5F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64992" y="2304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7A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PERSISTENCE: </a:t>
            </a:r>
            <a:pPr indent="0" marL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history per source: active days, span, night %, FRP mean / CV / z-score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3273552" y="2688336"/>
            <a:ext cx="45720" cy="3108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64992" y="2670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</a:t>
            </a:r>
            <a:pPr indent="0" marL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facility type + distance and land cover (STRtree point-in-polygon)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3273552" y="3054096"/>
            <a:ext cx="45720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64992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CLASSIFY: </a:t>
            </a:r>
            <a:pPr indent="0" marL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rules + gradient-boosted trees on 34 features; FRP-anomaly detector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3273552" y="3419856"/>
            <a:ext cx="45720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64992" y="3401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SERVE: </a:t>
            </a:r>
            <a:pPr indent="0" marL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→ FastAPI GeoJSON → React/Leaflet GIS dashboard; QGIS / ArcGIS export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6080760" y="1517904"/>
            <a:ext cx="274320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72200" y="1563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Source-level persistence fingerprint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617220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the source over 90 days, not a single pixel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080760" y="2084832"/>
            <a:ext cx="274320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72200" y="2130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Baseline-relative incident alerts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617220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FRP ≥ 2.5× the site's own normal &amp; z ≥ 3 → 0.6 % of data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080760" y="2651760"/>
            <a:ext cx="274320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72200" y="2697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OSM infrastructure + land-cover fusion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17220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type, distance and land use as model features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080760" y="3218688"/>
            <a:ext cx="274320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72200" y="32644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Explainable hybrid AI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6172200" y="3438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label carries human-readable reasons — auditable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228600" y="3858768"/>
            <a:ext cx="8686800" cy="941832"/>
          </a:xfrm>
          <a:prstGeom prst="roundRect">
            <a:avLst>
              <a:gd name="adj" fmla="val 2913"/>
            </a:avLst>
          </a:prstGeom>
          <a:solidFill>
            <a:srgbClr val="EDF0F7"/>
          </a:solidFill>
          <a:ln w="12700">
            <a:solidFill>
              <a:srgbClr val="8D9DC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28600" y="3858768"/>
            <a:ext cx="8686800" cy="256032"/>
          </a:xfrm>
          <a:prstGeom prst="rect">
            <a:avLst/>
          </a:prstGeom>
          <a:solidFill>
            <a:srgbClr val="8D9DC0"/>
          </a:solidFill>
          <a:ln w="12700">
            <a:solidFill>
              <a:srgbClr val="8D9DC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28600" y="38587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[OPERATIONAL PROCESS FLOW &amp; PROTOTYPE WORKFLOW]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0040" y="4169664"/>
            <a:ext cx="1554480" cy="23774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A5A8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47472" y="416966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1: DATA CAPTURE]</a:t>
            </a:r>
            <a:endParaRPr lang="en-US" sz="660" dirty="0"/>
          </a:p>
        </p:txBody>
      </p:sp>
      <p:sp>
        <p:nvSpPr>
          <p:cNvPr id="45" name="Shape 42"/>
          <p:cNvSpPr/>
          <p:nvPr/>
        </p:nvSpPr>
        <p:spPr>
          <a:xfrm>
            <a:off x="320040" y="4443984"/>
            <a:ext cx="1554480" cy="30175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6576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API pulled in 10-day chunks; 22,179 detections in the 90-day archive</a:t>
            </a:r>
            <a:endParaRPr lang="en-US" sz="580" dirty="0"/>
          </a:p>
        </p:txBody>
      </p:sp>
      <p:sp>
        <p:nvSpPr>
          <p:cNvPr id="47" name="Shape 44"/>
          <p:cNvSpPr/>
          <p:nvPr/>
        </p:nvSpPr>
        <p:spPr>
          <a:xfrm>
            <a:off x="1892808" y="4288536"/>
            <a:ext cx="12801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2039112" y="4169664"/>
            <a:ext cx="1554480" cy="23774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A5A8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066544" y="416966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2: SOURCE CONTEXT]</a:t>
            </a:r>
            <a:endParaRPr lang="en-US" sz="660" dirty="0"/>
          </a:p>
        </p:txBody>
      </p:sp>
      <p:sp>
        <p:nvSpPr>
          <p:cNvPr id="50" name="Shape 47"/>
          <p:cNvSpPr/>
          <p:nvPr/>
        </p:nvSpPr>
        <p:spPr>
          <a:xfrm>
            <a:off x="2039112" y="4443984"/>
            <a:ext cx="1554480" cy="30175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084832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clusters + OSM facilities &amp; land cover around hotspot cells</a:t>
            </a:r>
            <a:endParaRPr lang="en-US" sz="580" dirty="0"/>
          </a:p>
        </p:txBody>
      </p:sp>
      <p:sp>
        <p:nvSpPr>
          <p:cNvPr id="52" name="Shape 49"/>
          <p:cNvSpPr/>
          <p:nvPr/>
        </p:nvSpPr>
        <p:spPr>
          <a:xfrm>
            <a:off x="3611880" y="4288536"/>
            <a:ext cx="12801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3758184" y="4169664"/>
            <a:ext cx="1554480" cy="23774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A5A8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785616" y="416966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3: ANALYSIS &amp; AI]</a:t>
            </a:r>
            <a:endParaRPr lang="en-US" sz="660" dirty="0"/>
          </a:p>
        </p:txBody>
      </p:sp>
      <p:sp>
        <p:nvSpPr>
          <p:cNvPr id="55" name="Shape 52"/>
          <p:cNvSpPr/>
          <p:nvPr/>
        </p:nvSpPr>
        <p:spPr>
          <a:xfrm>
            <a:off x="3758184" y="4443984"/>
            <a:ext cx="1554480" cy="30175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803904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features → rules + GBM vote → class, confidence, reasons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5330952" y="4288536"/>
            <a:ext cx="12801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5477256" y="4169664"/>
            <a:ext cx="1554480" cy="23774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A5A8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504688" y="416966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4: ACTIONABLE OUTPUT]</a:t>
            </a:r>
            <a:endParaRPr lang="en-US" sz="660" dirty="0"/>
          </a:p>
        </p:txBody>
      </p:sp>
      <p:sp>
        <p:nvSpPr>
          <p:cNvPr id="60" name="Shape 57"/>
          <p:cNvSpPr/>
          <p:nvPr/>
        </p:nvSpPr>
        <p:spPr>
          <a:xfrm>
            <a:off x="5477256" y="4443984"/>
            <a:ext cx="1554480" cy="30175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522976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incident candidates (0.6 %) on the GIS map with FRP evidence</a:t>
            </a:r>
            <a:endParaRPr lang="en-US" sz="580" dirty="0"/>
          </a:p>
        </p:txBody>
      </p:sp>
      <p:sp>
        <p:nvSpPr>
          <p:cNvPr id="62" name="Shape 59"/>
          <p:cNvSpPr/>
          <p:nvPr/>
        </p:nvSpPr>
        <p:spPr>
          <a:xfrm>
            <a:off x="7050024" y="4288536"/>
            <a:ext cx="12801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7196328" y="4169664"/>
            <a:ext cx="1554480" cy="23774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A5A8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223760" y="416966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5: VALIDATION]</a:t>
            </a:r>
            <a:endParaRPr lang="en-US" sz="660" dirty="0"/>
          </a:p>
        </p:txBody>
      </p:sp>
      <p:sp>
        <p:nvSpPr>
          <p:cNvPr id="65" name="Shape 62"/>
          <p:cNvSpPr/>
          <p:nvPr/>
        </p:nvSpPr>
        <p:spPr>
          <a:xfrm>
            <a:off x="7196328" y="4443984"/>
            <a:ext cx="1554480" cy="30175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242048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SWIR / Worldview verification; analyst override retrains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09728"/>
            <a:ext cx="914400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09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91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6576"/>
            <a:ext cx="160020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676656"/>
            <a:ext cx="8869680" cy="13716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4592" y="777240"/>
            <a:ext cx="5989320" cy="3977640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9144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" y="95097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[INPUT] NASA FIRMS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374904" y="1133856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 375 m · MODIS 1 km</a:t>
            </a:r>
            <a:endParaRPr lang="en-US" sz="640" dirty="0"/>
          </a:p>
        </p:txBody>
      </p:sp>
      <p:sp>
        <p:nvSpPr>
          <p:cNvPr id="13" name="Shape 10"/>
          <p:cNvSpPr/>
          <p:nvPr/>
        </p:nvSpPr>
        <p:spPr>
          <a:xfrm>
            <a:off x="1115568" y="1417320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20040" y="164592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" y="16824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 INGESTION]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11480" y="1901952"/>
            <a:ext cx="1417320" cy="329184"/>
          </a:xfrm>
          <a:prstGeom prst="roundRect">
            <a:avLst>
              <a:gd name="adj" fmla="val 27778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912" y="193852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API · 10-day chunks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1115568" y="2249424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11480" y="2414016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" y="245059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 VIIRS + MODIS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de-duplicate passes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1115568" y="2880360"/>
            <a:ext cx="0" cy="1828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20040" y="3090672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" y="312724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11480" y="3346704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8912" y="3401568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facilities (Overpass)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411480" y="3730752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8912" y="3785616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Land-cover polygons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411480" y="4114800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" y="416966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/ Worldview links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1920240" y="1170432"/>
            <a:ext cx="256032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2194560" y="91440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58568" y="978408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258568" y="9784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2852928" y="978408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852928" y="9784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3447288" y="978408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447288" y="9784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3127248" y="1481328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2194560" y="1709928"/>
            <a:ext cx="1874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231136" y="174650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[CORE PROCESSING]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2286000" y="1975104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313432" y="201168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750 m → thermal sources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stats: active days, span,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%, FRP μ / CV / z-score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persistence score</a:t>
            </a:r>
            <a:endParaRPr lang="en-US" sz="620" dirty="0"/>
          </a:p>
        </p:txBody>
      </p:sp>
      <p:sp>
        <p:nvSpPr>
          <p:cNvPr id="43" name="Shape 40"/>
          <p:cNvSpPr/>
          <p:nvPr/>
        </p:nvSpPr>
        <p:spPr>
          <a:xfrm>
            <a:off x="3127248" y="2734056"/>
            <a:ext cx="0" cy="1828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2194560" y="2944368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231136" y="298094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[FEATURE MATRIX]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2249424" y="3163824"/>
            <a:ext cx="17647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features: radiometry · persistence ·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context · land cover · season priors</a:t>
            </a:r>
            <a:endParaRPr lang="en-US" sz="640" dirty="0"/>
          </a:p>
        </p:txBody>
      </p:sp>
      <p:sp>
        <p:nvSpPr>
          <p:cNvPr id="47" name="Shape 44"/>
          <p:cNvSpPr/>
          <p:nvPr/>
        </p:nvSpPr>
        <p:spPr>
          <a:xfrm>
            <a:off x="3127248" y="372160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2194560" y="3904488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231136" y="394106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[VALIDATION]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2249424" y="412394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group-aware split · analyst override → retrain</a:t>
            </a:r>
            <a:endParaRPr lang="en-US" sz="640" dirty="0"/>
          </a:p>
        </p:txBody>
      </p:sp>
      <p:sp>
        <p:nvSpPr>
          <p:cNvPr id="51" name="Shape 48"/>
          <p:cNvSpPr/>
          <p:nvPr/>
        </p:nvSpPr>
        <p:spPr>
          <a:xfrm>
            <a:off x="4069080" y="1170432"/>
            <a:ext cx="22860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4315968" y="91440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52544" y="95097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2A] RULE ENGINE</a:t>
            </a: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4370832" y="1133856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∧ night ≥60 % ∧ steady FRP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GAS FLARE  (auditable priors)</a:t>
            </a:r>
            <a:endParaRPr lang="en-US" sz="640" dirty="0"/>
          </a:p>
        </p:txBody>
      </p:sp>
      <p:sp>
        <p:nvSpPr>
          <p:cNvPr id="55" name="Shape 52"/>
          <p:cNvSpPr/>
          <p:nvPr/>
        </p:nvSpPr>
        <p:spPr>
          <a:xfrm>
            <a:off x="5157216" y="1572768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4315968" y="1737360"/>
            <a:ext cx="16916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352544" y="177393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2B] GBM MODEL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4370832" y="1956816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 · 6 classes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≥ 0.55 wins</a:t>
            </a:r>
            <a:endParaRPr lang="en-US" sz="640" dirty="0"/>
          </a:p>
        </p:txBody>
      </p:sp>
      <p:sp>
        <p:nvSpPr>
          <p:cNvPr id="59" name="Shape 56"/>
          <p:cNvSpPr/>
          <p:nvPr/>
        </p:nvSpPr>
        <p:spPr>
          <a:xfrm>
            <a:off x="5157216" y="2340864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4315968" y="2505456"/>
            <a:ext cx="1691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352544" y="2542032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3: AI / ML OUTPUT]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4370832" y="2724912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· confidence · reasons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· flare · mining ·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 · wildfire · other</a:t>
            </a:r>
            <a:endParaRPr lang="en-US" sz="640" dirty="0"/>
          </a:p>
        </p:txBody>
      </p:sp>
      <p:sp>
        <p:nvSpPr>
          <p:cNvPr id="63" name="Shape 60"/>
          <p:cNvSpPr/>
          <p:nvPr/>
        </p:nvSpPr>
        <p:spPr>
          <a:xfrm>
            <a:off x="5157216" y="3273552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4315968" y="343814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B91C1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352544" y="3474720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ANOMALY ALERT</a:t>
            </a: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4370832" y="36576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FRP ≥ 2.5 μ and z ≥ 3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incident candidate</a:t>
            </a:r>
            <a:endParaRPr lang="en-US" sz="640" dirty="0"/>
          </a:p>
        </p:txBody>
      </p:sp>
      <p:sp>
        <p:nvSpPr>
          <p:cNvPr id="67" name="Shape 64"/>
          <p:cNvSpPr/>
          <p:nvPr/>
        </p:nvSpPr>
        <p:spPr>
          <a:xfrm>
            <a:off x="5157216" y="4005072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8" name="Shape 65"/>
          <p:cNvSpPr/>
          <p:nvPr/>
        </p:nvSpPr>
        <p:spPr>
          <a:xfrm>
            <a:off x="4315968" y="4169664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F766E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4352544" y="4206240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5] GIS SERVE</a:t>
            </a:r>
            <a:endParaRPr lang="en-US" sz="750" dirty="0"/>
          </a:p>
        </p:txBody>
      </p:sp>
      <p:sp>
        <p:nvSpPr>
          <p:cNvPr id="70" name="Text 67"/>
          <p:cNvSpPr txBox="1"/>
          <p:nvPr/>
        </p:nvSpPr>
        <p:spPr>
          <a:xfrm>
            <a:off x="4370832" y="43891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 API · dashboard · QGIS</a:t>
            </a:r>
            <a:endParaRPr lang="en-US" sz="640" dirty="0"/>
          </a:p>
        </p:txBody>
      </p:sp>
      <p:sp>
        <p:nvSpPr>
          <p:cNvPr id="71" name="Shape 68"/>
          <p:cNvSpPr/>
          <p:nvPr/>
        </p:nvSpPr>
        <p:spPr>
          <a:xfrm>
            <a:off x="6263640" y="777240"/>
            <a:ext cx="2743200" cy="2487168"/>
          </a:xfrm>
          <a:prstGeom prst="roundRect">
            <a:avLst>
              <a:gd name="adj" fmla="val 1103"/>
            </a:avLst>
          </a:prstGeom>
          <a:solidFill>
            <a:srgbClr val="DDE4F2"/>
          </a:solidFill>
          <a:ln w="12700">
            <a:solidFill>
              <a:srgbClr val="B9C6E0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6263640" y="804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 STACK TAG]</a:t>
            </a:r>
            <a:endParaRPr lang="en-US" sz="1100" dirty="0"/>
          </a:p>
        </p:txBody>
      </p:sp>
      <p:sp>
        <p:nvSpPr>
          <p:cNvPr id="73" name="Text 70"/>
          <p:cNvSpPr txBox="1"/>
          <p:nvPr/>
        </p:nvSpPr>
        <p:spPr>
          <a:xfrm>
            <a:off x="6355080" y="10789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 INGESTION &amp; GEOSPATIAL]</a:t>
            </a:r>
            <a:endParaRPr lang="en-US" sz="760" dirty="0"/>
          </a:p>
        </p:txBody>
      </p:sp>
      <p:sp>
        <p:nvSpPr>
          <p:cNvPr id="74" name="Text 71"/>
          <p:cNvSpPr txBox="1"/>
          <p:nvPr/>
        </p:nvSpPr>
        <p:spPr>
          <a:xfrm>
            <a:off x="6382512" y="126187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NASA FIRMS Area API (VIIRS/MODIS)</a:t>
            </a:r>
            <a:endParaRPr lang="en-US" sz="640" dirty="0"/>
          </a:p>
        </p:txBody>
      </p:sp>
      <p:sp>
        <p:nvSpPr>
          <p:cNvPr id="75" name="Shape 72"/>
          <p:cNvSpPr/>
          <p:nvPr/>
        </p:nvSpPr>
        <p:spPr>
          <a:xfrm>
            <a:off x="6382512" y="140817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382512" y="141732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OpenStreetMap Overpass · shapely STRtree</a:t>
            </a:r>
            <a:endParaRPr lang="en-US" sz="640" dirty="0"/>
          </a:p>
        </p:txBody>
      </p:sp>
      <p:sp>
        <p:nvSpPr>
          <p:cNvPr id="77" name="Shape 74"/>
          <p:cNvSpPr/>
          <p:nvPr/>
        </p:nvSpPr>
        <p:spPr>
          <a:xfrm>
            <a:off x="6382512" y="1563624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6355080" y="16276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[BACKEND &amp; DATABASE]</a:t>
            </a:r>
            <a:endParaRPr lang="en-US" sz="760" dirty="0"/>
          </a:p>
        </p:txBody>
      </p:sp>
      <p:sp>
        <p:nvSpPr>
          <p:cNvPr id="79" name="Text 76"/>
          <p:cNvSpPr txBox="1"/>
          <p:nvPr/>
        </p:nvSpPr>
        <p:spPr>
          <a:xfrm>
            <a:off x="6382512" y="181051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3 · FastAPI (GeoJSON REST)</a:t>
            </a:r>
            <a:endParaRPr lang="en-US" sz="640" dirty="0"/>
          </a:p>
        </p:txBody>
      </p:sp>
      <p:sp>
        <p:nvSpPr>
          <p:cNvPr id="80" name="Shape 77"/>
          <p:cNvSpPr/>
          <p:nvPr/>
        </p:nvSpPr>
        <p:spPr>
          <a:xfrm>
            <a:off x="6382512" y="195681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382512" y="196596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 → PostGIS-ready schema</a:t>
            </a:r>
            <a:endParaRPr lang="en-US" sz="640" dirty="0"/>
          </a:p>
        </p:txBody>
      </p:sp>
      <p:sp>
        <p:nvSpPr>
          <p:cNvPr id="82" name="Shape 79"/>
          <p:cNvSpPr/>
          <p:nvPr/>
        </p:nvSpPr>
        <p:spPr>
          <a:xfrm>
            <a:off x="6382512" y="2112264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6355080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[FRONTEND &amp; GIS INTERFACE]</a:t>
            </a:r>
            <a:endParaRPr lang="en-US" sz="760" dirty="0"/>
          </a:p>
        </p:txBody>
      </p:sp>
      <p:sp>
        <p:nvSpPr>
          <p:cNvPr id="84" name="Text 81"/>
          <p:cNvSpPr txBox="1"/>
          <p:nvPr/>
        </p:nvSpPr>
        <p:spPr>
          <a:xfrm>
            <a:off x="6382512" y="235915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+ Vite · Leaflet canvas (40 k+ pts)</a:t>
            </a:r>
            <a:endParaRPr lang="en-US" sz="640" dirty="0"/>
          </a:p>
        </p:txBody>
      </p:sp>
      <p:sp>
        <p:nvSpPr>
          <p:cNvPr id="85" name="Shape 82"/>
          <p:cNvSpPr/>
          <p:nvPr/>
        </p:nvSpPr>
        <p:spPr>
          <a:xfrm>
            <a:off x="6382512" y="250545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6382512" y="251460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QGIS / ArcGIS export · GitHub Pages demo</a:t>
            </a:r>
            <a:endParaRPr lang="en-US" sz="640" dirty="0"/>
          </a:p>
        </p:txBody>
      </p:sp>
      <p:sp>
        <p:nvSpPr>
          <p:cNvPr id="87" name="Shape 84"/>
          <p:cNvSpPr/>
          <p:nvPr/>
        </p:nvSpPr>
        <p:spPr>
          <a:xfrm>
            <a:off x="6382512" y="2660904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355080" y="27249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[INTELLIGENCE &amp; MODELING]</a:t>
            </a:r>
            <a:endParaRPr lang="en-US" sz="760" dirty="0"/>
          </a:p>
        </p:txBody>
      </p:sp>
      <p:sp>
        <p:nvSpPr>
          <p:cNvPr id="89" name="Text 86"/>
          <p:cNvSpPr txBox="1"/>
          <p:nvPr/>
        </p:nvSpPr>
        <p:spPr>
          <a:xfrm>
            <a:off x="6382512" y="290779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scikit-learn: DBSCAN, HistGradientBoosting</a:t>
            </a:r>
            <a:endParaRPr lang="en-US" sz="640" dirty="0"/>
          </a:p>
        </p:txBody>
      </p:sp>
      <p:sp>
        <p:nvSpPr>
          <p:cNvPr id="90" name="Shape 87"/>
          <p:cNvSpPr/>
          <p:nvPr/>
        </p:nvSpPr>
        <p:spPr>
          <a:xfrm>
            <a:off x="6382512" y="305409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382512" y="3063240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engine + FRP-anomaly detector</a:t>
            </a:r>
            <a:endParaRPr lang="en-US" sz="640" dirty="0"/>
          </a:p>
        </p:txBody>
      </p:sp>
      <p:sp>
        <p:nvSpPr>
          <p:cNvPr id="92" name="Shape 89"/>
          <p:cNvSpPr/>
          <p:nvPr/>
        </p:nvSpPr>
        <p:spPr>
          <a:xfrm>
            <a:off x="6382512" y="3209544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263640" y="334670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300216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100" dirty="0"/>
          </a:p>
        </p:txBody>
      </p:sp>
      <p:sp>
        <p:nvSpPr>
          <p:cNvPr id="95" name="Text 92"/>
          <p:cNvSpPr txBox="1"/>
          <p:nvPr/>
        </p:nvSpPr>
        <p:spPr>
          <a:xfrm>
            <a:off x="6556248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[Dataset Metric]</a:t>
            </a:r>
            <a:endParaRPr lang="en-US" sz="620" dirty="0"/>
          </a:p>
        </p:txBody>
      </p:sp>
      <p:sp>
        <p:nvSpPr>
          <p:cNvPr id="96" name="Text 93"/>
          <p:cNvSpPr txBox="1"/>
          <p:nvPr/>
        </p:nvSpPr>
        <p:spPr>
          <a:xfrm>
            <a:off x="6318504" y="363016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22,179 detections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6318504" y="379476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in ~7 s</a:t>
            </a:r>
            <a:endParaRPr lang="en-US" sz="600" dirty="0"/>
          </a:p>
        </p:txBody>
      </p:sp>
      <p:sp>
        <p:nvSpPr>
          <p:cNvPr id="98" name="Shape 95"/>
          <p:cNvSpPr/>
          <p:nvPr/>
        </p:nvSpPr>
        <p:spPr>
          <a:xfrm>
            <a:off x="7680960" y="334670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7717536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🕒</a:t>
            </a:r>
            <a:endParaRPr lang="en-US" sz="1100" dirty="0"/>
          </a:p>
        </p:txBody>
      </p:sp>
      <p:sp>
        <p:nvSpPr>
          <p:cNvPr id="100" name="Text 97"/>
          <p:cNvSpPr txBox="1"/>
          <p:nvPr/>
        </p:nvSpPr>
        <p:spPr>
          <a:xfrm>
            <a:off x="7973568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[Temporal Metric]</a:t>
            </a:r>
            <a:endParaRPr lang="en-US" sz="620" dirty="0"/>
          </a:p>
        </p:txBody>
      </p:sp>
      <p:sp>
        <p:nvSpPr>
          <p:cNvPr id="101" name="Text 98"/>
          <p:cNvSpPr txBox="1"/>
          <p:nvPr/>
        </p:nvSpPr>
        <p:spPr>
          <a:xfrm>
            <a:off x="7735824" y="363016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window</a:t>
            </a:r>
            <a:endParaRPr lang="en-US" sz="800" dirty="0"/>
          </a:p>
        </p:txBody>
      </p:sp>
      <p:sp>
        <p:nvSpPr>
          <p:cNvPr id="102" name="Text 99"/>
          <p:cNvSpPr txBox="1"/>
          <p:nvPr/>
        </p:nvSpPr>
        <p:spPr>
          <a:xfrm>
            <a:off x="7735824" y="379476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baseline per source</a:t>
            </a:r>
            <a:endParaRPr lang="en-US" sz="600" dirty="0"/>
          </a:p>
        </p:txBody>
      </p:sp>
      <p:sp>
        <p:nvSpPr>
          <p:cNvPr id="103" name="Shape 100"/>
          <p:cNvSpPr/>
          <p:nvPr/>
        </p:nvSpPr>
        <p:spPr>
          <a:xfrm>
            <a:off x="6263640" y="407822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6300216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100" dirty="0"/>
          </a:p>
        </p:txBody>
      </p:sp>
      <p:sp>
        <p:nvSpPr>
          <p:cNvPr id="105" name="Text 102"/>
          <p:cNvSpPr txBox="1"/>
          <p:nvPr/>
        </p:nvSpPr>
        <p:spPr>
          <a:xfrm>
            <a:off x="6556248" y="4114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[Spatial Metric]</a:t>
            </a:r>
            <a:endParaRPr lang="en-US" sz="620" dirty="0"/>
          </a:p>
        </p:txBody>
      </p:sp>
      <p:sp>
        <p:nvSpPr>
          <p:cNvPr id="106" name="Text 103"/>
          <p:cNvSpPr txBox="1"/>
          <p:nvPr/>
        </p:nvSpPr>
        <p:spPr>
          <a:xfrm>
            <a:off x="6318504" y="436168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m / 1.5 km</a:t>
            </a:r>
            <a:endParaRPr lang="en-US" sz="800" dirty="0"/>
          </a:p>
        </p:txBody>
      </p:sp>
      <p:sp>
        <p:nvSpPr>
          <p:cNvPr id="107" name="Text 104"/>
          <p:cNvSpPr txBox="1"/>
          <p:nvPr/>
        </p:nvSpPr>
        <p:spPr>
          <a:xfrm>
            <a:off x="6318504" y="452628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radius · facility match</a:t>
            </a:r>
            <a:endParaRPr lang="en-US" sz="600" dirty="0"/>
          </a:p>
        </p:txBody>
      </p:sp>
      <p:sp>
        <p:nvSpPr>
          <p:cNvPr id="108" name="Shape 105"/>
          <p:cNvSpPr/>
          <p:nvPr/>
        </p:nvSpPr>
        <p:spPr>
          <a:xfrm>
            <a:off x="7680960" y="407822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7717536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100" dirty="0"/>
          </a:p>
        </p:txBody>
      </p:sp>
      <p:sp>
        <p:nvSpPr>
          <p:cNvPr id="110" name="Text 107"/>
          <p:cNvSpPr txBox="1"/>
          <p:nvPr/>
        </p:nvSpPr>
        <p:spPr>
          <a:xfrm>
            <a:off x="7973568" y="4114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[Review Metric]</a:t>
            </a:r>
            <a:endParaRPr lang="en-US" sz="620" dirty="0"/>
          </a:p>
        </p:txBody>
      </p:sp>
      <p:sp>
        <p:nvSpPr>
          <p:cNvPr id="111" name="Text 108"/>
          <p:cNvSpPr txBox="1"/>
          <p:nvPr/>
        </p:nvSpPr>
        <p:spPr>
          <a:xfrm>
            <a:off x="7735824" y="436168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alerts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7735824" y="452628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verification step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09728"/>
            <a:ext cx="914400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09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91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6576"/>
            <a:ext cx="160020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676656"/>
            <a:ext cx="8869680" cy="13716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4592" y="777240"/>
            <a:ext cx="5989320" cy="3977640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608" y="896112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9A9A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" y="960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[TECHNICAL FEASIBILITY]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02336" y="1216152"/>
            <a:ext cx="2523744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NASA FIRMS (free MAP_KEY)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OSM / Overpass context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Sentinel-2 &amp; NASA Worldview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Software-only · one VM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Incremental 10-day ingest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3127248" y="896112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9A9A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18688" y="960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[OPERATIONAL VIABILITY]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236976" y="1216152"/>
            <a:ext cx="2523744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Disaster-management fit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Analyst confirm / override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Alert prioritisation (0.6 %)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GIS investigation workflow</a:t>
            </a:r>
            <a:endParaRPr lang="en-US" sz="78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Human-in-the-loop verification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92608" y="23957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9A9A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4048" y="2459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[CHALLENGES &amp; MITIGATION]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02336" y="2715768"/>
            <a:ext cx="2523744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≠ fire → persistence + context</a:t>
            </a:r>
            <a:endParaRPr lang="en-US" sz="78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heat → own-baseline alerts</a:t>
            </a:r>
            <a:endParaRPr lang="en-US" sz="78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/ data gaps → 90-day, 3 satellites</a:t>
            </a:r>
            <a:endParaRPr lang="en-US" sz="78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ML labels → rules prior + feedback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127248" y="23957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9A9A9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18688" y="2459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[SCALABILITY &amp; COST]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236976" y="2715768"/>
            <a:ext cx="2523744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 — ₹0 licences</a:t>
            </a:r>
            <a:endParaRPr lang="en-US" sz="78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Software-first, Docker-ready</a:t>
            </a:r>
            <a:endParaRPr lang="en-US" sz="78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processing</a:t>
            </a:r>
            <a:endParaRPr lang="en-US" sz="78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/ national potential</a:t>
            </a:r>
            <a:endParaRPr lang="en-US" sz="78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PostGIS-ready</a:t>
            </a:r>
            <a:endParaRPr lang="en-US" sz="780" dirty="0"/>
          </a:p>
        </p:txBody>
      </p:sp>
      <p:sp>
        <p:nvSpPr>
          <p:cNvPr id="22" name="Text 19"/>
          <p:cNvSpPr txBox="1"/>
          <p:nvPr/>
        </p:nvSpPr>
        <p:spPr>
          <a:xfrm>
            <a:off x="292608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22,179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92608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719072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719072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145536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KM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145536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CONTEXT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HUMAN-LOOP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292608" y="43708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runs today: whole 90-day archive classified in ~7 s on a laptop · public demo on GitHub Pages · one env variable switches to live NASA FIRMS.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6263640" y="777240"/>
            <a:ext cx="2743200" cy="2487168"/>
          </a:xfrm>
          <a:prstGeom prst="roundRect">
            <a:avLst>
              <a:gd name="adj" fmla="val 1103"/>
            </a:avLst>
          </a:prstGeom>
          <a:solidFill>
            <a:srgbClr val="DDE4F2"/>
          </a:solidFill>
          <a:ln w="12700">
            <a:solidFill>
              <a:srgbClr val="B9C6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63640" y="804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[FEASIBILITY &amp; VIABILITY TAG]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355080" y="10607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[Feasibility key points]</a:t>
            </a:r>
            <a:endParaRPr lang="en-US" sz="760" dirty="0"/>
          </a:p>
        </p:txBody>
      </p:sp>
      <p:sp>
        <p:nvSpPr>
          <p:cNvPr id="34" name="Text 31"/>
          <p:cNvSpPr txBox="1"/>
          <p:nvPr/>
        </p:nvSpPr>
        <p:spPr>
          <a:xfrm>
            <a:off x="6382512" y="1243584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data free &amp; open; no procurement</a:t>
            </a:r>
            <a:endParaRPr lang="en-US" sz="640" dirty="0"/>
          </a:p>
        </p:txBody>
      </p:sp>
      <p:sp>
        <p:nvSpPr>
          <p:cNvPr id="35" name="Shape 32"/>
          <p:cNvSpPr/>
          <p:nvPr/>
        </p:nvSpPr>
        <p:spPr>
          <a:xfrm>
            <a:off x="6382512" y="1389888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2512" y="139903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End-to-end prototype already working</a:t>
            </a:r>
            <a:endParaRPr lang="en-US" sz="640" dirty="0"/>
          </a:p>
        </p:txBody>
      </p:sp>
      <p:sp>
        <p:nvSpPr>
          <p:cNvPr id="37" name="Shape 34"/>
          <p:cNvSpPr/>
          <p:nvPr/>
        </p:nvSpPr>
        <p:spPr>
          <a:xfrm>
            <a:off x="6382512" y="154533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55080" y="16093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[Viability key points]</a:t>
            </a:r>
            <a:endParaRPr lang="en-US" sz="760" dirty="0"/>
          </a:p>
        </p:txBody>
      </p:sp>
      <p:sp>
        <p:nvSpPr>
          <p:cNvPr id="39" name="Text 36"/>
          <p:cNvSpPr txBox="1"/>
          <p:nvPr/>
        </p:nvSpPr>
        <p:spPr>
          <a:xfrm>
            <a:off x="6382512" y="1792224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₹0 data cost; ~₹3–5 k/month single VM</a:t>
            </a:r>
            <a:endParaRPr lang="en-US" sz="640" dirty="0"/>
          </a:p>
        </p:txBody>
      </p:sp>
      <p:sp>
        <p:nvSpPr>
          <p:cNvPr id="40" name="Shape 37"/>
          <p:cNvSpPr/>
          <p:nvPr/>
        </p:nvSpPr>
        <p:spPr>
          <a:xfrm>
            <a:off x="6382512" y="1938528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82512" y="194767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GeoJSON plugs into NTRO / Bhuvan GIS</a:t>
            </a:r>
            <a:endParaRPr lang="en-US" sz="640" dirty="0"/>
          </a:p>
        </p:txBody>
      </p:sp>
      <p:sp>
        <p:nvSpPr>
          <p:cNvPr id="42" name="Shape 39"/>
          <p:cNvSpPr/>
          <p:nvPr/>
        </p:nvSpPr>
        <p:spPr>
          <a:xfrm>
            <a:off x="6382512" y="209397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55080" y="2157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&amp; Challenges]</a:t>
            </a:r>
            <a:endParaRPr lang="en-US" sz="760" dirty="0"/>
          </a:p>
        </p:txBody>
      </p:sp>
      <p:sp>
        <p:nvSpPr>
          <p:cNvPr id="44" name="Text 41"/>
          <p:cNvSpPr txBox="1"/>
          <p:nvPr/>
        </p:nvSpPr>
        <p:spPr>
          <a:xfrm>
            <a:off x="6382512" y="2340864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Simulated archive is cleaner than reality</a:t>
            </a:r>
            <a:endParaRPr lang="en-US" sz="640" dirty="0"/>
          </a:p>
        </p:txBody>
      </p:sp>
      <p:sp>
        <p:nvSpPr>
          <p:cNvPr id="45" name="Shape 42"/>
          <p:cNvSpPr/>
          <p:nvPr/>
        </p:nvSpPr>
        <p:spPr>
          <a:xfrm>
            <a:off x="6382512" y="2487168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382512" y="249631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OSM gaps; clouds; false alarms</a:t>
            </a:r>
            <a:endParaRPr lang="en-US" sz="640" dirty="0"/>
          </a:p>
        </p:txBody>
      </p:sp>
      <p:sp>
        <p:nvSpPr>
          <p:cNvPr id="47" name="Shape 44"/>
          <p:cNvSpPr/>
          <p:nvPr/>
        </p:nvSpPr>
        <p:spPr>
          <a:xfrm>
            <a:off x="6382512" y="264261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55080" y="27066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[Mitigation &amp; Future Work]</a:t>
            </a:r>
            <a:endParaRPr lang="en-US" sz="760" dirty="0"/>
          </a:p>
        </p:txBody>
      </p:sp>
      <p:sp>
        <p:nvSpPr>
          <p:cNvPr id="49" name="Text 46"/>
          <p:cNvSpPr txBox="1"/>
          <p:nvPr/>
        </p:nvSpPr>
        <p:spPr>
          <a:xfrm>
            <a:off x="6382512" y="2889504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on documented incidents; retrain</a:t>
            </a:r>
            <a:endParaRPr lang="en-US" sz="640" dirty="0"/>
          </a:p>
        </p:txBody>
      </p:sp>
      <p:sp>
        <p:nvSpPr>
          <p:cNvPr id="50" name="Shape 47"/>
          <p:cNvSpPr/>
          <p:nvPr/>
        </p:nvSpPr>
        <p:spPr>
          <a:xfrm>
            <a:off x="6382512" y="3035808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382512" y="304495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24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Sentinel-2 chip CNN; ESA WorldCover</a:t>
            </a:r>
            <a:endParaRPr lang="en-US" sz="640" dirty="0"/>
          </a:p>
        </p:txBody>
      </p:sp>
      <p:sp>
        <p:nvSpPr>
          <p:cNvPr id="52" name="Shape 49"/>
          <p:cNvSpPr/>
          <p:nvPr/>
        </p:nvSpPr>
        <p:spPr>
          <a:xfrm>
            <a:off x="6382512" y="3191256"/>
            <a:ext cx="2487168" cy="5486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263640" y="334670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300216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556248" y="3374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[Critical Risk Highlight]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6318504" y="363931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≠ fire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6318504" y="380390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+ OSM context resolve it</a:t>
            </a:r>
            <a:endParaRPr lang="en-US" sz="580" dirty="0"/>
          </a:p>
        </p:txBody>
      </p:sp>
      <p:sp>
        <p:nvSpPr>
          <p:cNvPr id="58" name="Shape 55"/>
          <p:cNvSpPr/>
          <p:nvPr/>
        </p:nvSpPr>
        <p:spPr>
          <a:xfrm>
            <a:off x="7680960" y="334670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717536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7973568" y="3374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[Operational Viability]</a:t>
            </a:r>
            <a:endParaRPr lang="en-US" sz="600" dirty="0"/>
          </a:p>
        </p:txBody>
      </p:sp>
      <p:sp>
        <p:nvSpPr>
          <p:cNvPr id="61" name="Text 58"/>
          <p:cNvSpPr txBox="1"/>
          <p:nvPr/>
        </p:nvSpPr>
        <p:spPr>
          <a:xfrm>
            <a:off x="7735824" y="363931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s / 90 days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7735824" y="380390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of compute per national run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263640" y="407822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300216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6556248" y="4105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[Scalability Factor]</a:t>
            </a:r>
            <a:endParaRPr lang="en-US" sz="600" dirty="0"/>
          </a:p>
        </p:txBody>
      </p:sp>
      <p:sp>
        <p:nvSpPr>
          <p:cNvPr id="66" name="Text 63"/>
          <p:cNvSpPr txBox="1"/>
          <p:nvPr/>
        </p:nvSpPr>
        <p:spPr>
          <a:xfrm>
            <a:off x="6318504" y="437083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India-wide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6318504" y="453542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around-cell OSM queries + cache</a:t>
            </a:r>
            <a:endParaRPr lang="en-US" sz="580" dirty="0"/>
          </a:p>
        </p:txBody>
      </p:sp>
      <p:sp>
        <p:nvSpPr>
          <p:cNvPr id="68" name="Shape 65"/>
          <p:cNvSpPr/>
          <p:nvPr/>
        </p:nvSpPr>
        <p:spPr>
          <a:xfrm>
            <a:off x="7680960" y="407822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717536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100" dirty="0"/>
          </a:p>
        </p:txBody>
      </p:sp>
      <p:sp>
        <p:nvSpPr>
          <p:cNvPr id="70" name="Text 67"/>
          <p:cNvSpPr txBox="1"/>
          <p:nvPr/>
        </p:nvSpPr>
        <p:spPr>
          <a:xfrm>
            <a:off x="7973568" y="4105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Optimization]</a:t>
            </a:r>
            <a:endParaRPr lang="en-US" sz="600" dirty="0"/>
          </a:p>
        </p:txBody>
      </p:sp>
      <p:sp>
        <p:nvSpPr>
          <p:cNvPr id="71" name="Text 68"/>
          <p:cNvSpPr txBox="1"/>
          <p:nvPr/>
        </p:nvSpPr>
        <p:spPr>
          <a:xfrm>
            <a:off x="7735824" y="437083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data</a:t>
            </a:r>
            <a:endParaRPr lang="en-US" sz="800" dirty="0"/>
          </a:p>
        </p:txBody>
      </p:sp>
      <p:sp>
        <p:nvSpPr>
          <p:cNvPr id="72" name="Text 69"/>
          <p:cNvSpPr txBox="1"/>
          <p:nvPr/>
        </p:nvSpPr>
        <p:spPr>
          <a:xfrm>
            <a:off x="7735824" y="453542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sources; one VM deployment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09728"/>
            <a:ext cx="914400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A5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09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91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6576"/>
            <a:ext cx="160020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676656"/>
            <a:ext cx="8869680" cy="13716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4592" y="777240"/>
            <a:ext cx="8814816" cy="3977640"/>
          </a:xfrm>
          <a:prstGeom prst="roundRect">
            <a:avLst>
              <a:gd name="adj" fmla="val 1379"/>
            </a:avLst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" y="914400"/>
            <a:ext cx="8375904" cy="10973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" y="2331720"/>
            <a:ext cx="8375904" cy="10973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" y="914400"/>
            <a:ext cx="10973" cy="141732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59952" y="914400"/>
            <a:ext cx="10973" cy="141732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914400"/>
            <a:ext cx="10973" cy="141732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9692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9692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→  THERMALSENTINEL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12618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1261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Industrial safety &amp; plant operators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14630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" y="1463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NDMA / SDMA · fire services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16642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🛰️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16642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NTRO &amp; geospatial analysts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18653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🏛️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" y="1865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CPCB / MoEFCC · state boards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206654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" y="20665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&amp; climate reporting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4709160" y="1261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Thermal points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510528" y="12618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1261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context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4709160" y="1463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screening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6510528" y="14630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priority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709160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 context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510528" y="16642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6766560" y="1664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 + imagery evidence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4709160" y="1865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Unclear priority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6510528" y="18653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6766560" y="1865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Baseline-relative risk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4709160" y="20665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only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510528" y="20665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2066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Verifiable record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84048" y="2468880"/>
            <a:ext cx="8375904" cy="10973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4048" y="3803904"/>
            <a:ext cx="8375904" cy="10973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84048" y="2468880"/>
            <a:ext cx="10973" cy="1335024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759952" y="2468880"/>
            <a:ext cx="10973" cy="1335024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84048" y="25237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IMPACTS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02920" y="27614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777240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0292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99 % fewer hotspots to triage — 138 of 22,179 reach an operator</a:t>
            </a:r>
            <a:endParaRPr lang="en-US" sz="720" dirty="0"/>
          </a:p>
        </p:txBody>
      </p:sp>
      <p:sp>
        <p:nvSpPr>
          <p:cNvPr id="50" name="Text 47"/>
          <p:cNvSpPr txBox="1"/>
          <p:nvPr/>
        </p:nvSpPr>
        <p:spPr>
          <a:xfrm>
            <a:off x="2587752" y="27614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2862072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2587752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Stubble burning separated from industrial emissions &amp; flaring</a:t>
            </a:r>
            <a:endParaRPr lang="en-US" sz="720" dirty="0"/>
          </a:p>
        </p:txBody>
      </p:sp>
      <p:sp>
        <p:nvSpPr>
          <p:cNvPr id="53" name="Text 50"/>
          <p:cNvSpPr txBox="1"/>
          <p:nvPr/>
        </p:nvSpPr>
        <p:spPr>
          <a:xfrm>
            <a:off x="4672584" y="27614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946904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4672584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Abnormal industrial heat flagged with facility name and FRP evidence</a:t>
            </a:r>
            <a:endParaRPr lang="en-US" sz="720" dirty="0"/>
          </a:p>
        </p:txBody>
      </p:sp>
      <p:sp>
        <p:nvSpPr>
          <p:cNvPr id="56" name="Text 53"/>
          <p:cNvSpPr txBox="1"/>
          <p:nvPr/>
        </p:nvSpPr>
        <p:spPr>
          <a:xfrm>
            <a:off x="6757416" y="27614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031736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757416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Explainable labels; analyst override feeds back into the model</a:t>
            </a:r>
            <a:endParaRPr lang="en-US" sz="720" dirty="0"/>
          </a:p>
        </p:txBody>
      </p:sp>
      <p:sp>
        <p:nvSpPr>
          <p:cNvPr id="59" name="Text 56"/>
          <p:cNvSpPr txBox="1"/>
          <p:nvPr/>
        </p:nvSpPr>
        <p:spPr>
          <a:xfrm>
            <a:off x="502920" y="34015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 |  22,179 detections classified in ~7 s  ·  114 persistent sources  ·  138 incident candidates  ·  hybrid 99.9 % vs rules-only 98.4 %</a:t>
            </a:r>
            <a:endParaRPr lang="en-US" sz="760" dirty="0"/>
          </a:p>
        </p:txBody>
      </p:sp>
      <p:sp>
        <p:nvSpPr>
          <p:cNvPr id="60" name="Text 57"/>
          <p:cNvSpPr txBox="1"/>
          <p:nvPr/>
        </p:nvSpPr>
        <p:spPr>
          <a:xfrm>
            <a:off x="502920" y="360273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GIS prototype: https://rahulskandagal.github.io/thermal-sentinel/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384048" y="3977640"/>
            <a:ext cx="8375904" cy="10973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84048" y="4663440"/>
            <a:ext cx="8375904" cy="10973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84048" y="3977640"/>
            <a:ext cx="10973" cy="68580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759952" y="3977640"/>
            <a:ext cx="10973" cy="68580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84048" y="40233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THERMALSENTINEL VALUE CHAIN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384048" y="431596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  →  CLUSTER  →  CONTEXTUALIZE  →  CLASSIFY  →  BASELINE  →  ALERT  →  VERIFY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5486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0"/>
            <a:ext cx="5486" cy="5148072"/>
          </a:xfrm>
          <a:prstGeom prst="rect">
            <a:avLst/>
          </a:prstGeom>
          <a:solidFill>
            <a:srgbClr val="14332A"/>
          </a:solidFill>
          <a:ln w="12700">
            <a:solidFill>
              <a:srgbClr val="14332A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1371600" cy="64008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572768" y="12801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FOUNDATIONS &amp; ACADEMIC REFERENCES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1572768" y="45720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E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Academic Studies &amp; Validated Data — ThermalSentinel (SIH26162)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28600" y="868680"/>
            <a:ext cx="4315968" cy="1371600"/>
          </a:xfrm>
          <a:prstGeom prst="roundRect">
            <a:avLst>
              <a:gd name="adj" fmla="val 2667"/>
            </a:avLst>
          </a:prstGeom>
          <a:solidFill>
            <a:srgbClr val="0C2119"/>
          </a:solidFill>
          <a:ln w="15875">
            <a:solidFill>
              <a:srgbClr val="7BE7C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01752" y="932688"/>
            <a:ext cx="384048" cy="256032"/>
          </a:xfrm>
          <a:prstGeom prst="rect">
            <a:avLst/>
          </a:prstGeom>
          <a:solidFill>
            <a:srgbClr val="10352A"/>
          </a:solidFill>
          <a:ln w="12700">
            <a:solidFill>
              <a:srgbClr val="10352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01752" y="9326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40664" y="950976"/>
            <a:ext cx="10973" cy="219456"/>
          </a:xfrm>
          <a:prstGeom prst="rect">
            <a:avLst/>
          </a:prstGeom>
          <a:solidFill>
            <a:srgbClr val="7BE7C7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13816" y="93268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ACADEMIC RESEARCH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329184" y="1207008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BE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43" name="Text 40"/>
          <p:cNvSpPr txBox="1"/>
          <p:nvPr/>
        </p:nvSpPr>
        <p:spPr>
          <a:xfrm>
            <a:off x="475488" y="12070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Schroeder, W. et al. (2014) | </a:t>
            </a:r>
            <a:pPr indent="0" marL="0">
              <a:buNone/>
            </a:pPr>
            <a:r>
              <a:rPr lang="en-US" sz="66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VIIRS 375 m active fire detection data product — Remote Sensing of Environment 143, 85–96  </a:t>
            </a:r>
            <a:pPr indent="0" marL="0">
              <a:buNone/>
            </a:pPr>
            <a:r>
              <a:rPr lang="en-US" sz="66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doi.org/10.1016/j.rse.2013.12.008</a:t>
            </a:r>
            <a:endParaRPr lang="en-US" sz="660" dirty="0"/>
          </a:p>
        </p:txBody>
      </p:sp>
      <p:sp>
        <p:nvSpPr>
          <p:cNvPr id="44" name="Text 41"/>
          <p:cNvSpPr txBox="1"/>
          <p:nvPr/>
        </p:nvSpPr>
        <p:spPr>
          <a:xfrm>
            <a:off x="329184" y="153619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BE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45" name="Text 42"/>
          <p:cNvSpPr txBox="1"/>
          <p:nvPr/>
        </p:nvSpPr>
        <p:spPr>
          <a:xfrm>
            <a:off x="475488" y="15361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Elvidge, C. D. et al. (2013) | </a:t>
            </a:r>
            <a:pPr indent="0" marL="0">
              <a:buNone/>
            </a:pPr>
            <a:r>
              <a:rPr lang="en-US" sz="66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 Nightfire: satellite pyrometry at night — Remote Sensing 5(9) — basis for gas-flare signatures  </a:t>
            </a:r>
            <a:pPr indent="0" marL="0">
              <a:buNone/>
            </a:pPr>
            <a:r>
              <a:rPr lang="en-US" sz="66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doi.org/10.3390/rs5094423</a:t>
            </a:r>
            <a:endParaRPr lang="en-US" sz="660" dirty="0"/>
          </a:p>
        </p:txBody>
      </p:sp>
      <p:sp>
        <p:nvSpPr>
          <p:cNvPr id="46" name="Text 43"/>
          <p:cNvSpPr txBox="1"/>
          <p:nvPr/>
        </p:nvSpPr>
        <p:spPr>
          <a:xfrm>
            <a:off x="329184" y="1865376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BE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475488" y="18653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Ester, M. et al. (1996) | </a:t>
            </a:r>
            <a:pPr indent="0" marL="0">
              <a:buNone/>
            </a:pPr>
            <a:r>
              <a:rPr lang="en-US" sz="66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density-based clustering (KDD-96) — source grouping method  </a:t>
            </a:r>
            <a:pPr indent="0" marL="0">
              <a:buNone/>
            </a:pPr>
            <a:r>
              <a:rPr lang="en-US" sz="66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scikit-learn.org</a:t>
            </a:r>
            <a:endParaRPr lang="en-US" sz="660" dirty="0"/>
          </a:p>
        </p:txBody>
      </p:sp>
      <p:sp>
        <p:nvSpPr>
          <p:cNvPr id="48" name="Shape 45"/>
          <p:cNvSpPr/>
          <p:nvPr/>
        </p:nvSpPr>
        <p:spPr>
          <a:xfrm>
            <a:off x="4617720" y="868680"/>
            <a:ext cx="4315968" cy="1371600"/>
          </a:xfrm>
          <a:prstGeom prst="roundRect">
            <a:avLst>
              <a:gd name="adj" fmla="val 2667"/>
            </a:avLst>
          </a:prstGeom>
          <a:solidFill>
            <a:srgbClr val="0C2119"/>
          </a:solidFill>
          <a:ln w="15875">
            <a:solidFill>
              <a:srgbClr val="7BE7C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690872" y="932688"/>
            <a:ext cx="384048" cy="256032"/>
          </a:xfrm>
          <a:prstGeom prst="rect">
            <a:avLst/>
          </a:prstGeom>
          <a:solidFill>
            <a:srgbClr val="10352A"/>
          </a:solidFill>
          <a:ln w="12700">
            <a:solidFill>
              <a:srgbClr val="10352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690872" y="9326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129784" y="950976"/>
            <a:ext cx="10973" cy="219456"/>
          </a:xfrm>
          <a:prstGeom prst="rect">
            <a:avLst/>
          </a:prstGeom>
          <a:solidFill>
            <a:srgbClr val="7BE7C7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202936" y="93268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STUDIES &amp; METHODOLOGIES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4718304" y="1207008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BE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54" name="Text 51"/>
          <p:cNvSpPr txBox="1"/>
          <p:nvPr/>
        </p:nvSpPr>
        <p:spPr>
          <a:xfrm>
            <a:off x="4864608" y="12070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Liu, Y. et al. (2018) | </a:t>
            </a:r>
            <a:pPr indent="0" marL="0">
              <a:buNone/>
            </a:pPr>
            <a:r>
              <a:rPr lang="en-US" sz="66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industrial heat sources from VIIRS Nightfire time-series — Remote Sensing of Environment 204  </a:t>
            </a:r>
            <a:pPr indent="0" marL="0">
              <a:buNone/>
            </a:pPr>
            <a:r>
              <a:rPr lang="en-US" sz="66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sciencedirect.com</a:t>
            </a:r>
            <a:endParaRPr lang="en-US" sz="660" dirty="0"/>
          </a:p>
        </p:txBody>
      </p:sp>
      <p:sp>
        <p:nvSpPr>
          <p:cNvPr id="55" name="Text 52"/>
          <p:cNvSpPr txBox="1"/>
          <p:nvPr/>
        </p:nvSpPr>
        <p:spPr>
          <a:xfrm>
            <a:off x="4718304" y="153619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BE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4864608" y="15361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ICAR-IARI CREAMS / CPCB | </a:t>
            </a:r>
            <a:pPr indent="0" marL="0">
              <a:buNone/>
            </a:pPr>
            <a:r>
              <a:rPr lang="en-US" sz="66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Crop-residue burning bulletins — Oct–Nov &amp; Apr–May seasonality used as a classifier prior  </a:t>
            </a:r>
            <a:pPr indent="0" marL="0">
              <a:buNone/>
            </a:pPr>
            <a:r>
              <a:rPr lang="en-US" sz="66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creams.iari.res.in</a:t>
            </a:r>
            <a:endParaRPr lang="en-US" sz="660" dirty="0"/>
          </a:p>
        </p:txBody>
      </p:sp>
      <p:sp>
        <p:nvSpPr>
          <p:cNvPr id="57" name="Text 54"/>
          <p:cNvSpPr txBox="1"/>
          <p:nvPr/>
        </p:nvSpPr>
        <p:spPr>
          <a:xfrm>
            <a:off x="4718304" y="1865376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BE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58" name="Text 55"/>
          <p:cNvSpPr txBox="1"/>
          <p:nvPr/>
        </p:nvSpPr>
        <p:spPr>
          <a:xfrm>
            <a:off x="4864608" y="18653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NTRO PS SIH26162 | </a:t>
            </a:r>
            <a:pPr indent="0" marL="0">
              <a:buNone/>
            </a:pPr>
            <a:r>
              <a:rPr lang="en-US" sz="66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Segregate industrial fires from forest &amp; natural fires; GIS storage and map-overlay visualisation  </a:t>
            </a:r>
            <a:pPr indent="0" marL="0">
              <a:buNone/>
            </a:pPr>
            <a:r>
              <a:rPr lang="en-US" sz="66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sih.gov.in</a:t>
            </a:r>
            <a:endParaRPr lang="en-US" sz="660" dirty="0"/>
          </a:p>
        </p:txBody>
      </p:sp>
      <p:sp>
        <p:nvSpPr>
          <p:cNvPr id="59" name="Shape 56"/>
          <p:cNvSpPr/>
          <p:nvPr/>
        </p:nvSpPr>
        <p:spPr>
          <a:xfrm>
            <a:off x="228600" y="2331720"/>
            <a:ext cx="8705088" cy="1024128"/>
          </a:xfrm>
          <a:prstGeom prst="roundRect">
            <a:avLst>
              <a:gd name="adj" fmla="val 3571"/>
            </a:avLst>
          </a:prstGeom>
          <a:solidFill>
            <a:srgbClr val="0C2119"/>
          </a:solidFill>
          <a:ln w="15875">
            <a:solidFill>
              <a:srgbClr val="7BE7C7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01752" y="2395728"/>
            <a:ext cx="384048" cy="256032"/>
          </a:xfrm>
          <a:prstGeom prst="rect">
            <a:avLst/>
          </a:prstGeom>
          <a:solidFill>
            <a:srgbClr val="10352A"/>
          </a:solidFill>
          <a:ln w="12700">
            <a:solidFill>
              <a:srgbClr val="10352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01752" y="23957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740664" y="2414016"/>
            <a:ext cx="10973" cy="219456"/>
          </a:xfrm>
          <a:prstGeom prst="rect">
            <a:avLst/>
          </a:prstGeom>
          <a:solidFill>
            <a:srgbClr val="7BE7C7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13816" y="2395728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APIs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365760" y="2670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Area API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36576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 375 m (S-NPP / NOAA-20 / 21) + MODIS 1 km · NRT ≤ 3 h and archive</a:t>
            </a:r>
            <a:endParaRPr lang="en-US" sz="630" dirty="0"/>
          </a:p>
        </p:txBody>
      </p:sp>
      <p:sp>
        <p:nvSpPr>
          <p:cNvPr id="66" name="Text 63"/>
          <p:cNvSpPr txBox="1"/>
          <p:nvPr/>
        </p:nvSpPr>
        <p:spPr>
          <a:xfrm>
            <a:off x="365760" y="314553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firms.modaps.eosdis.nasa.gov</a:t>
            </a:r>
            <a:endParaRPr lang="en-US" sz="630" dirty="0"/>
          </a:p>
        </p:txBody>
      </p:sp>
      <p:sp>
        <p:nvSpPr>
          <p:cNvPr id="67" name="Text 64"/>
          <p:cNvSpPr txBox="1"/>
          <p:nvPr/>
        </p:nvSpPr>
        <p:spPr>
          <a:xfrm>
            <a:off x="3246120" y="2670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Overpass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324612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industrial=* · man_made=flare|works · power=plant · landuse=quarry|farmland|forest</a:t>
            </a:r>
            <a:endParaRPr lang="en-US" sz="630" dirty="0"/>
          </a:p>
        </p:txBody>
      </p:sp>
      <p:sp>
        <p:nvSpPr>
          <p:cNvPr id="69" name="Text 66"/>
          <p:cNvSpPr txBox="1"/>
          <p:nvPr/>
        </p:nvSpPr>
        <p:spPr>
          <a:xfrm>
            <a:off x="3246120" y="314553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wiki.openstreetmap.org</a:t>
            </a:r>
            <a:endParaRPr lang="en-US" sz="630" dirty="0"/>
          </a:p>
        </p:txBody>
      </p:sp>
      <p:sp>
        <p:nvSpPr>
          <p:cNvPr id="70" name="Text 67"/>
          <p:cNvSpPr txBox="1"/>
          <p:nvPr/>
        </p:nvSpPr>
        <p:spPr>
          <a:xfrm>
            <a:off x="6126480" y="2670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 Sentinel-2 / Worldview</a:t>
            </a:r>
            <a:endParaRPr lang="en-US" sz="850" dirty="0"/>
          </a:p>
        </p:txBody>
      </p:sp>
      <p:sp>
        <p:nvSpPr>
          <p:cNvPr id="71" name="Text 68"/>
          <p:cNvSpPr txBox="1"/>
          <p:nvPr/>
        </p:nvSpPr>
        <p:spPr>
          <a:xfrm>
            <a:off x="612648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 B11/B12 chips for visual verification; ESA WorldCover 10 m land cover</a:t>
            </a:r>
            <a:endParaRPr lang="en-US" sz="630" dirty="0"/>
          </a:p>
        </p:txBody>
      </p:sp>
      <p:sp>
        <p:nvSpPr>
          <p:cNvPr id="72" name="Text 69"/>
          <p:cNvSpPr txBox="1"/>
          <p:nvPr/>
        </p:nvSpPr>
        <p:spPr>
          <a:xfrm>
            <a:off x="6126480" y="314553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dataspace.copernicus.eu</a:t>
            </a:r>
            <a:endParaRPr lang="en-US" sz="630" dirty="0"/>
          </a:p>
        </p:txBody>
      </p:sp>
      <p:sp>
        <p:nvSpPr>
          <p:cNvPr id="73" name="Shape 70"/>
          <p:cNvSpPr/>
          <p:nvPr/>
        </p:nvSpPr>
        <p:spPr>
          <a:xfrm>
            <a:off x="228600" y="3447288"/>
            <a:ext cx="8705088" cy="1298448"/>
          </a:xfrm>
          <a:prstGeom prst="roundRect">
            <a:avLst>
              <a:gd name="adj" fmla="val 2817"/>
            </a:avLst>
          </a:prstGeom>
          <a:solidFill>
            <a:srgbClr val="0C2119"/>
          </a:solidFill>
          <a:ln w="15875">
            <a:solidFill>
              <a:srgbClr val="7BE7C7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84048" y="3520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 RESEARCH INSIGHT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384048" y="3749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C9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systems detect raw thermal anomalies — FIRMS publishes the pixel, not its meaning. ThermalSentinel adds the interpretation layer: it groups pixels into sources, learns each source's normal, fuses OSM infrastructure and land cover, and raises an alert only when a known industrial site burns abnormally.</a:t>
            </a:r>
            <a:endParaRPr lang="en-US" sz="740" dirty="0"/>
          </a:p>
        </p:txBody>
      </p:sp>
      <p:sp>
        <p:nvSpPr>
          <p:cNvPr id="76" name="Text 73"/>
          <p:cNvSpPr txBox="1"/>
          <p:nvPr/>
        </p:nvSpPr>
        <p:spPr>
          <a:xfrm>
            <a:off x="384048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a labelled 90-day archive: 22,179 detections · 114 persistent sources · 138 incident candidates · hybrid 99.9 % vs rules-only 98.4 % (group-aware split).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4498848" y="3840480"/>
            <a:ext cx="713232" cy="457200"/>
          </a:xfrm>
          <a:prstGeom prst="hexagon">
            <a:avLst/>
          </a:prstGeom>
          <a:solidFill>
            <a:srgbClr val="06120F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4498848" y="38404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540" dirty="0"/>
          </a:p>
        </p:txBody>
      </p:sp>
      <p:sp>
        <p:nvSpPr>
          <p:cNvPr id="79" name="Shape 76"/>
          <p:cNvSpPr/>
          <p:nvPr/>
        </p:nvSpPr>
        <p:spPr>
          <a:xfrm>
            <a:off x="5189220" y="4069080"/>
            <a:ext cx="36576" cy="0"/>
          </a:xfrm>
          <a:prstGeom prst="line">
            <a:avLst/>
          </a:prstGeom>
          <a:noFill/>
          <a:ln w="15875">
            <a:solidFill>
              <a:srgbClr val="7BE7C7"/>
            </a:solidFill>
            <a:prstDash val="solid"/>
            <a:tailEnd type="triangle"/>
          </a:ln>
        </p:spPr>
      </p:sp>
      <p:sp>
        <p:nvSpPr>
          <p:cNvPr id="80" name="Shape 77"/>
          <p:cNvSpPr/>
          <p:nvPr/>
        </p:nvSpPr>
        <p:spPr>
          <a:xfrm>
            <a:off x="5230368" y="3840480"/>
            <a:ext cx="713232" cy="457200"/>
          </a:xfrm>
          <a:prstGeom prst="hexagon">
            <a:avLst/>
          </a:prstGeom>
          <a:solidFill>
            <a:srgbClr val="06120F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230368" y="38404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CONTEXTUALIZE</a:t>
            </a:r>
            <a:endParaRPr lang="en-US" sz="540" dirty="0"/>
          </a:p>
        </p:txBody>
      </p:sp>
      <p:sp>
        <p:nvSpPr>
          <p:cNvPr id="82" name="Shape 79"/>
          <p:cNvSpPr/>
          <p:nvPr/>
        </p:nvSpPr>
        <p:spPr>
          <a:xfrm>
            <a:off x="5920740" y="4069080"/>
            <a:ext cx="36576" cy="0"/>
          </a:xfrm>
          <a:prstGeom prst="line">
            <a:avLst/>
          </a:prstGeom>
          <a:noFill/>
          <a:ln w="15875">
            <a:solidFill>
              <a:srgbClr val="7BE7C7"/>
            </a:solidFill>
            <a:prstDash val="solid"/>
            <a:tailEnd type="triangle"/>
          </a:ln>
        </p:spPr>
      </p:sp>
      <p:sp>
        <p:nvSpPr>
          <p:cNvPr id="83" name="Shape 80"/>
          <p:cNvSpPr/>
          <p:nvPr/>
        </p:nvSpPr>
        <p:spPr>
          <a:xfrm>
            <a:off x="5961888" y="3840480"/>
            <a:ext cx="713232" cy="457200"/>
          </a:xfrm>
          <a:prstGeom prst="hexagon">
            <a:avLst/>
          </a:prstGeom>
          <a:solidFill>
            <a:srgbClr val="06120F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5961888" y="38404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540" dirty="0"/>
          </a:p>
        </p:txBody>
      </p:sp>
      <p:sp>
        <p:nvSpPr>
          <p:cNvPr id="85" name="Shape 82"/>
          <p:cNvSpPr/>
          <p:nvPr/>
        </p:nvSpPr>
        <p:spPr>
          <a:xfrm>
            <a:off x="6652260" y="4069080"/>
            <a:ext cx="36576" cy="0"/>
          </a:xfrm>
          <a:prstGeom prst="line">
            <a:avLst/>
          </a:prstGeom>
          <a:noFill/>
          <a:ln w="15875">
            <a:solidFill>
              <a:srgbClr val="7BE7C7"/>
            </a:solidFill>
            <a:prstDash val="solid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6693408" y="3840480"/>
            <a:ext cx="713232" cy="457200"/>
          </a:xfrm>
          <a:prstGeom prst="hexagon">
            <a:avLst/>
          </a:prstGeom>
          <a:solidFill>
            <a:srgbClr val="06120F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6693408" y="38404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540" dirty="0"/>
          </a:p>
        </p:txBody>
      </p:sp>
      <p:sp>
        <p:nvSpPr>
          <p:cNvPr id="88" name="Shape 85"/>
          <p:cNvSpPr/>
          <p:nvPr/>
        </p:nvSpPr>
        <p:spPr>
          <a:xfrm>
            <a:off x="7383780" y="4069080"/>
            <a:ext cx="36576" cy="0"/>
          </a:xfrm>
          <a:prstGeom prst="line">
            <a:avLst/>
          </a:prstGeom>
          <a:noFill/>
          <a:ln w="15875">
            <a:solidFill>
              <a:srgbClr val="7BE7C7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7424928" y="3840480"/>
            <a:ext cx="713232" cy="457200"/>
          </a:xfrm>
          <a:prstGeom prst="hexagon">
            <a:avLst/>
          </a:prstGeom>
          <a:solidFill>
            <a:srgbClr val="06120F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424928" y="38404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endParaRPr lang="en-US" sz="540" dirty="0"/>
          </a:p>
        </p:txBody>
      </p:sp>
      <p:sp>
        <p:nvSpPr>
          <p:cNvPr id="91" name="Shape 88"/>
          <p:cNvSpPr/>
          <p:nvPr/>
        </p:nvSpPr>
        <p:spPr>
          <a:xfrm>
            <a:off x="8115300" y="4069080"/>
            <a:ext cx="36576" cy="0"/>
          </a:xfrm>
          <a:prstGeom prst="line">
            <a:avLst/>
          </a:prstGeom>
          <a:noFill/>
          <a:ln w="15875">
            <a:solidFill>
              <a:srgbClr val="7BE7C7"/>
            </a:solidFill>
            <a:prstDash val="solid"/>
            <a:tailEnd type="triangle"/>
          </a:ln>
        </p:spPr>
      </p:sp>
      <p:sp>
        <p:nvSpPr>
          <p:cNvPr id="92" name="Shape 89"/>
          <p:cNvSpPr/>
          <p:nvPr/>
        </p:nvSpPr>
        <p:spPr>
          <a:xfrm>
            <a:off x="8156448" y="3840480"/>
            <a:ext cx="713232" cy="457200"/>
          </a:xfrm>
          <a:prstGeom prst="hexagon">
            <a:avLst/>
          </a:prstGeom>
          <a:solidFill>
            <a:srgbClr val="06120F"/>
          </a:solidFill>
          <a:ln w="12700">
            <a:solidFill>
              <a:srgbClr val="7BE7C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8156448" y="38404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540" dirty="0"/>
          </a:p>
        </p:txBody>
      </p:sp>
      <p:sp>
        <p:nvSpPr>
          <p:cNvPr id="94" name="Text 91"/>
          <p:cNvSpPr txBox="1"/>
          <p:nvPr/>
        </p:nvSpPr>
        <p:spPr>
          <a:xfrm>
            <a:off x="228600" y="4773168"/>
            <a:ext cx="8705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</a:t>
            </a:r>
            <a:pPr algn="ctr" indent="0" marL="0">
              <a:buNone/>
            </a:pPr>
            <a:r>
              <a:rPr lang="en-US" sz="80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https://rahulskandagal.github.io/thermal-sentinel/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Source: </a:t>
            </a:r>
            <a:pPr algn="ctr" indent="0" marL="0">
              <a:buNone/>
            </a:pPr>
            <a:r>
              <a:rPr lang="en-US" sz="800" u="sng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https://github.com/rahulskandagal/thermal-sentinel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ThermalSentinel — SIH26162 (Fire Orbit)</dc:title>
  <dc:subject>PptxGenJS Presentation</dc:subject>
  <dc:creator>PptxGenJS</dc:creator>
  <cp:lastModifiedBy>PptxGenJS</cp:lastModifiedBy>
  <cp:revision>1</cp:revision>
  <dcterms:created xsi:type="dcterms:W3CDTF">2026-09-22T15:12:04Z</dcterms:created>
  <dcterms:modified xsi:type="dcterms:W3CDTF">2026-09-22T15:12:04Z</dcterms:modified>
</cp:coreProperties>
</file>