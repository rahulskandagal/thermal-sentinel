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Informal today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dLbls>
            <c:numFmt formatCode="₹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PCB / motherboards</c:v>
                  </c:pt>
                  <c:pt idx="1">
                    <c:v>Copper cables</c:v>
                  </c:pt>
                  <c:pt idx="2">
                    <c:v>Li-ion batteries</c:v>
                  </c:pt>
                  <c:pt idx="3">
                    <c:v>Mobile phones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250</c:v>
                </c:pt>
                <c:pt idx="1">
                  <c:v>480</c:v>
                </c:pt>
                <c:pt idx="2">
                  <c:v>90</c:v>
                </c:pt>
                <c:pt idx="3">
                  <c:v>400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Kabadiwala Connect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₹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PCB / motherboards</c:v>
                  </c:pt>
                  <c:pt idx="1">
                    <c:v>Copper cables</c:v>
                  </c:pt>
                  <c:pt idx="2">
                    <c:v>Li-ion batteries</c:v>
                  </c:pt>
                  <c:pt idx="3">
                    <c:v>Mobile phones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325</c:v>
                </c:pt>
                <c:pt idx="1">
                  <c:v>560</c:v>
                </c:pt>
                <c:pt idx="2">
                  <c:v>130</c:v>
                </c:pt>
                <c:pt idx="3">
                  <c:v>520</c:v>
                </c:pt>
              </c:numCache>
            </c:numRef>
          </c:val>
        </c:ser>
        <c:dLbls>
          <c:numFmt formatCode="₹#,##0" sourceLinked="0"/>
          <c:txPr>
            <a:bodyPr/>
            <a:lstStyle/>
            <a:p>
              <a:pPr>
                <a:defRPr b="0" i="0" strike="noStrike" sz="7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0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image" Target="../media/image-5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cpcb.nic.in/e-waste/" TargetMode="External"/><Relationship Id="rId3" Type="http://schemas.openxmlformats.org/officeDocument/2006/relationships/hyperlink" Target="https://eprewastecpcb.in" TargetMode="External"/><Relationship Id="rId4" Type="http://schemas.openxmlformats.org/officeDocument/2006/relationships/hyperlink" Target="https://ewastemonitor.info" TargetMode="External"/><Relationship Id="rId5" Type="http://schemas.openxmlformats.org/officeDocument/2006/relationships/hyperlink" Target="https://jnarddc.gov.in" TargetMode="External"/><Relationship Id="rId6" Type="http://schemas.openxmlformats.org/officeDocument/2006/relationships/hyperlink" Target="https://bhashini.gov.in" TargetMode="External"/><Relationship Id="rId7" Type="http://schemas.openxmlformats.org/officeDocument/2006/relationships/hyperlink" Target="https://www.npci.org.in/what-we-do/upi" TargetMode="External"/><Relationship Id="rId8" Type="http://schemas.openxmlformats.org/officeDocument/2006/relationships/hyperlink" Target="https://mines.gov.in" TargetMode="External"/><Relationship Id="rId1" Type="http://schemas.openxmlformats.org/officeDocument/2006/relationships/image" Target="../media/image-6-1.png"/><Relationship Id="rId9" Type="http://schemas.openxmlformats.org/officeDocument/2006/relationships/image" Target="../media/image-6-2.png"/><Relationship Id="rId10" Type="http://schemas.openxmlformats.org/officeDocument/2006/relationships/image" Target="../media/image-6-3.png"/><Relationship Id="rId11" Type="http://schemas.openxmlformats.org/officeDocument/2006/relationships/image" Target="../media/image-6-4.png"/><Relationship Id="rId12" Type="http://schemas.openxmlformats.org/officeDocument/2006/relationships/image" Target="../media/image-6-5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3792" y="859536"/>
            <a:ext cx="3950208" cy="3694176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1371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SMART INDIA HACKATHON 2026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274320" y="1234440"/>
            <a:ext cx="5120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Statement ID – </a:t>
            </a:r>
            <a:pPr indent="0" marL="0">
              <a:spcAft>
                <a:spcPts val="1000"/>
              </a:spcAft>
              <a:buNone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SIH26229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Statement Title- </a:t>
            </a:r>
            <a:pPr indent="0" marL="0">
              <a:spcAft>
                <a:spcPts val="1000"/>
              </a:spcAft>
              <a:buNone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Kabadiwala Connect – Bringing the Informal Collector into the Formal Recycling Chain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Theme- </a:t>
            </a:r>
            <a:pPr indent="0" marL="0">
              <a:spcAft>
                <a:spcPts val="1000"/>
              </a:spcAft>
              <a:buNone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Clean &amp; Green Technology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PS Category- </a:t>
            </a:r>
            <a:pPr indent="0" marL="0">
              <a:spcAft>
                <a:spcPts val="1000"/>
              </a:spcAft>
              <a:buNone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Software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Team ID- </a:t>
            </a:r>
            <a:pPr indent="0" marL="0">
              <a:spcAft>
                <a:spcPts val="1000"/>
              </a:spcAft>
              <a:buNone/>
            </a:pP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Team Name (Registered on portal) - </a:t>
            </a:r>
            <a:pPr indent="0" marL="0">
              <a:spcAft>
                <a:spcPts val="1000"/>
              </a:spcAft>
              <a:buNone/>
            </a:pPr>
            <a:r>
              <a:rPr lang="en-US" sz="135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Fire Orbit</a:t>
            </a:r>
            <a:endParaRPr lang="en-US" sz="1350" dirty="0"/>
          </a:p>
        </p:txBody>
      </p:sp>
      <p:sp>
        <p:nvSpPr>
          <p:cNvPr id="6" name="Text 2"/>
          <p:cNvSpPr txBox="1"/>
          <p:nvPr/>
        </p:nvSpPr>
        <p:spPr>
          <a:xfrm>
            <a:off x="274320" y="43434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Organisation: Ministry of Mines · Dept: JNARDDC, Nagpur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8412480" y="46177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109728"/>
            <a:ext cx="1051560" cy="5669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10972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Orbit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914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Kabadiwala Connect: Fair Price · Formal Chain · Full Traceability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 Every Scrap Collector</a:t>
            </a:r>
            <a:endParaRPr lang="en-US" sz="1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28600" y="941832"/>
            <a:ext cx="2788920" cy="1005840"/>
          </a:xfrm>
          <a:prstGeom prst="roundRect">
            <a:avLst>
              <a:gd name="adj" fmla="val 10909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82880" y="896112"/>
            <a:ext cx="2788920" cy="1005840"/>
          </a:xfrm>
          <a:prstGeom prst="roundRect">
            <a:avLst>
              <a:gd name="adj" fmla="val 10909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92608" y="950976"/>
            <a:ext cx="256946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u="sng" dirty="0">
                <a:solidFill>
                  <a:srgbClr val="F2C94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Real-world issue: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India generates ≈ 4 million tonnes of e-waste a year and over 90 % moves through kabadiwalas and waste-pickers who sit outside the formal EPR chain — ending in open-air cable burning and acid leaching.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28600" y="2020824"/>
            <a:ext cx="2788920" cy="932688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82880" y="1975104"/>
            <a:ext cx="2788920" cy="932688"/>
          </a:xfrm>
          <a:prstGeom prst="roundRect">
            <a:avLst>
              <a:gd name="adj" fmla="val 11765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92608" y="2029968"/>
            <a:ext cx="25694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u="sng" dirty="0">
                <a:solidFill>
                  <a:srgbClr val="F2C94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important: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Collectors do not know fair prices, authorized recyclers or compliant handover; recyclers cannot source traceable feedstock; India loses lithium, cobalt, neodymium, tantalum, gallium, indium — and workers lose their health.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28600" y="3026664"/>
            <a:ext cx="2788920" cy="896112"/>
          </a:xfrm>
          <a:prstGeom prst="roundRect">
            <a:avLst>
              <a:gd name="adj" fmla="val 12245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82880" y="2980944"/>
            <a:ext cx="2788920" cy="896112"/>
          </a:xfrm>
          <a:prstGeom prst="roundRect">
            <a:avLst>
              <a:gd name="adj" fmla="val 12245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2608" y="3035808"/>
            <a:ext cx="25694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u="sng" dirty="0">
                <a:solidFill>
                  <a:srgbClr val="F2C94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Solution: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Hindi / Marathi, voice-first, offline-capable Android app: photo → instant AI price → audio price board → authorized recycler → GPS-verified handover → cash or UPI, logged in an earnings ledger → EPR record.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37160" y="3931920"/>
            <a:ext cx="1600200" cy="868680"/>
          </a:xfrm>
          <a:prstGeom prst="cloud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93192" y="4105656"/>
            <a:ext cx="108813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mockups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Nagpur pilot plan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874520" y="395020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 flipV="1">
            <a:off x="1783080" y="4224528"/>
            <a:ext cx="502920" cy="109728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1874520" y="437083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on the next pages;</a:t>
            </a:r>
            <a:endParaRPr lang="en-US" sz="750" dirty="0"/>
          </a:p>
          <a:p>
            <a:pPr algn="l" indent="0" marL="0">
              <a:buNone/>
            </a:pPr>
            <a:r>
              <a:rPr lang="en-US" sz="75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APK in pilot week 4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3108960" y="896112"/>
            <a:ext cx="3200400" cy="3904488"/>
          </a:xfrm>
          <a:prstGeom prst="triangle">
            <a:avLst/>
          </a:prstGeom>
          <a:solidFill>
            <a:srgbClr val="F0FDF4"/>
          </a:solidFill>
          <a:ln w="38100">
            <a:solidFill>
              <a:srgbClr val="16A34A"/>
            </a:solidFill>
            <a:prstDash val="dash"/>
          </a:ln>
        </p:spPr>
      </p:sp>
      <p:sp>
        <p:nvSpPr>
          <p:cNvPr id="24" name="Shape 21"/>
          <p:cNvSpPr/>
          <p:nvPr/>
        </p:nvSpPr>
        <p:spPr>
          <a:xfrm>
            <a:off x="4023360" y="1828800"/>
            <a:ext cx="1371600" cy="658368"/>
          </a:xfrm>
          <a:prstGeom prst="roundRect">
            <a:avLst>
              <a:gd name="adj" fmla="val 8333"/>
            </a:avLst>
          </a:prstGeom>
          <a:solidFill>
            <a:srgbClr val="14532D"/>
          </a:solidFill>
          <a:ln w="12700">
            <a:solidFill>
              <a:srgbClr val="14532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23360" y="186537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DE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INNOVATION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4069080" y="2029968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📷 Snap-to-Value on-device AI + 🧾 tamper-evident GPS handover ledger — fair price and traceability in one tap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3726180" y="2560320"/>
            <a:ext cx="1965960" cy="658368"/>
          </a:xfrm>
          <a:prstGeom prst="roundRect">
            <a:avLst>
              <a:gd name="adj" fmla="val 8333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726180" y="2596896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DE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FUNCTIONS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3771900" y="2761488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Price discovery &amp; 30-day trends   |   ♻️ Authorized-recycler matching &amp; pooled pickup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3429000" y="3291840"/>
            <a:ext cx="2560320" cy="658368"/>
          </a:xfrm>
          <a:prstGeom prst="roundRect">
            <a:avLst>
              <a:gd name="adj" fmla="val 8333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429000" y="332841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DE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INCLUSION &amp; TRUST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3474720" y="349300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🗣️ Hindi / Marathi voice UI · 🔊 audio price board · 📴 offline-first · 💵 cash or UPI with OTP receipt · 📒 earnings ledger · 🛡️ safety guidance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3154680" y="4023360"/>
            <a:ext cx="3108960" cy="731520"/>
          </a:xfrm>
          <a:prstGeom prst="roundRect">
            <a:avLst>
              <a:gd name="adj" fmla="val 7500"/>
            </a:avLst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154680" y="4059936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DE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&amp; DATA</a:t>
            </a:r>
            <a:endParaRPr lang="en-US" sz="750" dirty="0"/>
          </a:p>
        </p:txBody>
      </p:sp>
      <p:sp>
        <p:nvSpPr>
          <p:cNvPr id="35" name="Text 32"/>
          <p:cNvSpPr txBox="1"/>
          <p:nvPr/>
        </p:nvSpPr>
        <p:spPr>
          <a:xfrm>
            <a:off x="3200400" y="4224528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🖥️ Recycler console · 📊 MoM / CPCB dashboard · 🔗 open price dataset &amp; API · 📄 EPR / Form-6 records · 📍 hotspot map</a:t>
            </a:r>
            <a:endParaRPr lang="en-US" sz="700" dirty="0"/>
          </a:p>
        </p:txBody>
      </p:sp>
      <p:sp>
        <p:nvSpPr>
          <p:cNvPr id="36" name="Text 33"/>
          <p:cNvSpPr txBox="1"/>
          <p:nvPr/>
        </p:nvSpPr>
        <p:spPr>
          <a:xfrm>
            <a:off x="448056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♻️</a:t>
            </a:r>
            <a:endParaRPr lang="en-US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6446520" y="8961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7543800" y="91440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7818120" y="8961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6400800" y="1207008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6446520" y="12070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Collector does not know the fair price</a:t>
            </a:r>
            <a:endParaRPr lang="en-US" sz="750" dirty="0"/>
          </a:p>
        </p:txBody>
      </p:sp>
      <p:sp>
        <p:nvSpPr>
          <p:cNvPr id="42" name="Shape 39"/>
          <p:cNvSpPr/>
          <p:nvPr/>
        </p:nvSpPr>
        <p:spPr>
          <a:xfrm>
            <a:off x="7616952" y="1325880"/>
            <a:ext cx="292608" cy="219456"/>
          </a:xfrm>
          <a:prstGeom prst="leftRightArrow">
            <a:avLst/>
          </a:prstGeom>
          <a:solidFill>
            <a:srgbClr val="F5D28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936992" y="1207008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7973568" y="1207008"/>
            <a:ext cx="932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Photo → AI category → live ₹/kg band + trend</a:t>
            </a:r>
            <a:endParaRPr lang="en-US" sz="700" dirty="0"/>
          </a:p>
        </p:txBody>
      </p:sp>
      <p:sp>
        <p:nvSpPr>
          <p:cNvPr id="45" name="Shape 42"/>
          <p:cNvSpPr/>
          <p:nvPr/>
        </p:nvSpPr>
        <p:spPr>
          <a:xfrm>
            <a:off x="6400800" y="1847088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46520" y="184708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link to authorized recyclers</a:t>
            </a:r>
            <a:endParaRPr lang="en-US" sz="750" dirty="0"/>
          </a:p>
        </p:txBody>
      </p:sp>
      <p:sp>
        <p:nvSpPr>
          <p:cNvPr id="47" name="Shape 44"/>
          <p:cNvSpPr/>
          <p:nvPr/>
        </p:nvSpPr>
        <p:spPr>
          <a:xfrm>
            <a:off x="7616952" y="1965960"/>
            <a:ext cx="292608" cy="219456"/>
          </a:xfrm>
          <a:prstGeom prst="leftRightArrow">
            <a:avLst/>
          </a:prstGeom>
          <a:solidFill>
            <a:srgbClr val="F5D28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936992" y="1847088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49" name="Text 46"/>
          <p:cNvSpPr txBox="1"/>
          <p:nvPr/>
        </p:nvSpPr>
        <p:spPr>
          <a:xfrm>
            <a:off x="7973568" y="1847088"/>
            <a:ext cx="932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Matching + pooled pickup in one tap</a:t>
            </a:r>
            <a:endParaRPr lang="en-US" sz="700" dirty="0"/>
          </a:p>
        </p:txBody>
      </p:sp>
      <p:sp>
        <p:nvSpPr>
          <p:cNvPr id="50" name="Shape 47"/>
          <p:cNvSpPr/>
          <p:nvPr/>
        </p:nvSpPr>
        <p:spPr>
          <a:xfrm>
            <a:off x="6400800" y="2487168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51" name="Text 48"/>
          <p:cNvSpPr txBox="1"/>
          <p:nvPr/>
        </p:nvSpPr>
        <p:spPr>
          <a:xfrm>
            <a:off x="6446520" y="24871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proof of formal handover</a:t>
            </a:r>
            <a:endParaRPr lang="en-US" sz="750" dirty="0"/>
          </a:p>
        </p:txBody>
      </p:sp>
      <p:sp>
        <p:nvSpPr>
          <p:cNvPr id="52" name="Shape 49"/>
          <p:cNvSpPr/>
          <p:nvPr/>
        </p:nvSpPr>
        <p:spPr>
          <a:xfrm>
            <a:off x="7616952" y="2606040"/>
            <a:ext cx="292608" cy="219456"/>
          </a:xfrm>
          <a:prstGeom prst="leftRightArrow">
            <a:avLst/>
          </a:prstGeom>
          <a:solidFill>
            <a:srgbClr val="F5D28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7936992" y="2487168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54" name="Text 51"/>
          <p:cNvSpPr txBox="1"/>
          <p:nvPr/>
        </p:nvSpPr>
        <p:spPr>
          <a:xfrm>
            <a:off x="7973568" y="2487168"/>
            <a:ext cx="932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GPS-verified handover, QR trace ID, cash / UPI receipt</a:t>
            </a:r>
            <a:endParaRPr lang="en-US" sz="700" dirty="0"/>
          </a:p>
        </p:txBody>
      </p:sp>
      <p:sp>
        <p:nvSpPr>
          <p:cNvPr id="55" name="Shape 52"/>
          <p:cNvSpPr/>
          <p:nvPr/>
        </p:nvSpPr>
        <p:spPr>
          <a:xfrm>
            <a:off x="6400800" y="3127248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446520" y="31272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 literacy, weak network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7616952" y="3246120"/>
            <a:ext cx="292608" cy="219456"/>
          </a:xfrm>
          <a:prstGeom prst="leftRightArrow">
            <a:avLst/>
          </a:prstGeom>
          <a:solidFill>
            <a:srgbClr val="F5D28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7936992" y="3127248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59" name="Text 56"/>
          <p:cNvSpPr txBox="1"/>
          <p:nvPr/>
        </p:nvSpPr>
        <p:spPr>
          <a:xfrm>
            <a:off x="7973568" y="3127248"/>
            <a:ext cx="932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Voice-first Hindi / Marathi; works offline</a:t>
            </a:r>
            <a:endParaRPr lang="en-US" sz="700" dirty="0"/>
          </a:p>
        </p:txBody>
      </p:sp>
      <p:sp>
        <p:nvSpPr>
          <p:cNvPr id="60" name="Shape 57"/>
          <p:cNvSpPr/>
          <p:nvPr/>
        </p:nvSpPr>
        <p:spPr>
          <a:xfrm>
            <a:off x="6400800" y="3767328"/>
            <a:ext cx="2542032" cy="1033272"/>
          </a:xfrm>
          <a:prstGeom prst="roundRect">
            <a:avLst>
              <a:gd name="adj" fmla="val 4425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473952" y="3785616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Covers all 12 PS requirements</a:t>
            </a:r>
            <a:endParaRPr lang="en-US" sz="800" dirty="0"/>
          </a:p>
        </p:txBody>
      </p:sp>
      <p:sp>
        <p:nvSpPr>
          <p:cNvPr id="62" name="Text 59"/>
          <p:cNvSpPr txBox="1"/>
          <p:nvPr/>
        </p:nvSpPr>
        <p:spPr>
          <a:xfrm>
            <a:off x="6473952" y="3986784"/>
            <a:ext cx="12435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Photo → AI valuation</a:t>
            </a:r>
            <a:endParaRPr lang="en-US" sz="580" dirty="0"/>
          </a:p>
        </p:txBody>
      </p:sp>
      <p:sp>
        <p:nvSpPr>
          <p:cNvPr id="63" name="Text 60"/>
          <p:cNvSpPr txBox="1"/>
          <p:nvPr/>
        </p:nvSpPr>
        <p:spPr>
          <a:xfrm>
            <a:off x="7735824" y="3986784"/>
            <a:ext cx="12435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Price history dataset</a:t>
            </a:r>
            <a:endParaRPr lang="en-US" sz="580" dirty="0"/>
          </a:p>
        </p:txBody>
      </p:sp>
      <p:sp>
        <p:nvSpPr>
          <p:cNvPr id="64" name="Text 61"/>
          <p:cNvSpPr txBox="1"/>
          <p:nvPr/>
        </p:nvSpPr>
        <p:spPr>
          <a:xfrm>
            <a:off x="6473952" y="4119372"/>
            <a:ext cx="12435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End-to-end traceability</a:t>
            </a:r>
            <a:endParaRPr lang="en-US" sz="580" dirty="0"/>
          </a:p>
        </p:txBody>
      </p:sp>
      <p:sp>
        <p:nvSpPr>
          <p:cNvPr id="65" name="Text 62"/>
          <p:cNvSpPr txBox="1"/>
          <p:nvPr/>
        </p:nvSpPr>
        <p:spPr>
          <a:xfrm>
            <a:off x="7735824" y="4119372"/>
            <a:ext cx="12435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Recycler directory + matching</a:t>
            </a:r>
            <a:endParaRPr lang="en-US" sz="580" dirty="0"/>
          </a:p>
        </p:txBody>
      </p:sp>
      <p:sp>
        <p:nvSpPr>
          <p:cNvPr id="66" name="Text 63"/>
          <p:cNvSpPr txBox="1"/>
          <p:nvPr/>
        </p:nvSpPr>
        <p:spPr>
          <a:xfrm>
            <a:off x="6473952" y="4251960"/>
            <a:ext cx="12435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Audio price boards</a:t>
            </a:r>
            <a:endParaRPr lang="en-US" sz="580" dirty="0"/>
          </a:p>
        </p:txBody>
      </p:sp>
      <p:sp>
        <p:nvSpPr>
          <p:cNvPr id="67" name="Text 64"/>
          <p:cNvSpPr txBox="1"/>
          <p:nvPr/>
        </p:nvSpPr>
        <p:spPr>
          <a:xfrm>
            <a:off x="7735824" y="4251960"/>
            <a:ext cx="12435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GPS handover records</a:t>
            </a:r>
            <a:endParaRPr lang="en-US" sz="580" dirty="0"/>
          </a:p>
        </p:txBody>
      </p:sp>
      <p:sp>
        <p:nvSpPr>
          <p:cNvPr id="68" name="Text 65"/>
          <p:cNvSpPr txBox="1"/>
          <p:nvPr/>
        </p:nvSpPr>
        <p:spPr>
          <a:xfrm>
            <a:off x="6473952" y="4384548"/>
            <a:ext cx="12435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Earnings ledger / history</a:t>
            </a:r>
            <a:endParaRPr lang="en-US" sz="580" dirty="0"/>
          </a:p>
        </p:txBody>
      </p:sp>
      <p:sp>
        <p:nvSpPr>
          <p:cNvPr id="69" name="Text 66"/>
          <p:cNvSpPr txBox="1"/>
          <p:nvPr/>
        </p:nvSpPr>
        <p:spPr>
          <a:xfrm>
            <a:off x="7735824" y="4384548"/>
            <a:ext cx="12435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Safety guidance built in</a:t>
            </a:r>
            <a:endParaRPr lang="en-US" sz="580" dirty="0"/>
          </a:p>
        </p:txBody>
      </p:sp>
      <p:sp>
        <p:nvSpPr>
          <p:cNvPr id="70" name="Text 67"/>
          <p:cNvSpPr txBox="1"/>
          <p:nvPr/>
        </p:nvSpPr>
        <p:spPr>
          <a:xfrm>
            <a:off x="6473952" y="4517136"/>
            <a:ext cx="12435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Hindi &amp; Marathi</a:t>
            </a:r>
            <a:endParaRPr lang="en-US" sz="580" dirty="0"/>
          </a:p>
        </p:txBody>
      </p:sp>
      <p:sp>
        <p:nvSpPr>
          <p:cNvPr id="71" name="Text 68"/>
          <p:cNvSpPr txBox="1"/>
          <p:nvPr/>
        </p:nvSpPr>
        <p:spPr>
          <a:xfrm>
            <a:off x="7735824" y="4517136"/>
            <a:ext cx="12435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Offline-first</a:t>
            </a:r>
            <a:endParaRPr lang="en-US" sz="580" dirty="0"/>
          </a:p>
        </p:txBody>
      </p:sp>
      <p:sp>
        <p:nvSpPr>
          <p:cNvPr id="72" name="Text 69"/>
          <p:cNvSpPr txBox="1"/>
          <p:nvPr/>
        </p:nvSpPr>
        <p:spPr>
          <a:xfrm>
            <a:off x="6473952" y="4649724"/>
            <a:ext cx="12435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Entry-level Android</a:t>
            </a:r>
            <a:endParaRPr lang="en-US" sz="580" dirty="0"/>
          </a:p>
        </p:txBody>
      </p:sp>
      <p:sp>
        <p:nvSpPr>
          <p:cNvPr id="73" name="Text 70"/>
          <p:cNvSpPr txBox="1"/>
          <p:nvPr/>
        </p:nvSpPr>
        <p:spPr>
          <a:xfrm>
            <a:off x="7735824" y="4649724"/>
            <a:ext cx="12435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Cash transactions</a:t>
            </a:r>
            <a:endParaRPr lang="en-US" sz="5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109728"/>
            <a:ext cx="1051560" cy="5669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10972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Orbit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914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TECHNICAL APPROACH</a:t>
            </a:r>
            <a:endParaRPr lang="en-US" sz="2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82880" y="8686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B2D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 &amp; PROCESS OF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7B2D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1078992" y="2039112"/>
            <a:ext cx="1316736" cy="13167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CA3AF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1527048" y="1828800"/>
            <a:ext cx="420624" cy="420624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527048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📷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097280" y="14173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158191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AI</a:t>
            </a:r>
            <a:endParaRPr lang="en-US" sz="650" dirty="0"/>
          </a:p>
        </p:txBody>
      </p:sp>
      <p:sp>
        <p:nvSpPr>
          <p:cNvPr id="15" name="Shape 12"/>
          <p:cNvSpPr/>
          <p:nvPr/>
        </p:nvSpPr>
        <p:spPr>
          <a:xfrm>
            <a:off x="2097211" y="2157984"/>
            <a:ext cx="420624" cy="420624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97211" y="2157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💰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2581843" y="2185416"/>
            <a:ext cx="7099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581843" y="2350008"/>
            <a:ext cx="7099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 ₹/kg band</a:t>
            </a:r>
            <a:endParaRPr lang="en-US" sz="650" dirty="0"/>
          </a:p>
        </p:txBody>
      </p:sp>
      <p:sp>
        <p:nvSpPr>
          <p:cNvPr id="19" name="Shape 16"/>
          <p:cNvSpPr/>
          <p:nvPr/>
        </p:nvSpPr>
        <p:spPr>
          <a:xfrm>
            <a:off x="2097211" y="2816352"/>
            <a:ext cx="420624" cy="420624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97211" y="2816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♻️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2581843" y="2843784"/>
            <a:ext cx="7099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2581843" y="3008376"/>
            <a:ext cx="7099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authorized recycler</a:t>
            </a:r>
            <a:endParaRPr lang="en-US" sz="650" dirty="0"/>
          </a:p>
        </p:txBody>
      </p:sp>
      <p:sp>
        <p:nvSpPr>
          <p:cNvPr id="23" name="Shape 20"/>
          <p:cNvSpPr/>
          <p:nvPr/>
        </p:nvSpPr>
        <p:spPr>
          <a:xfrm>
            <a:off x="1527048" y="3145536"/>
            <a:ext cx="420624" cy="420624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527048" y="3145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🧾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097280" y="360273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Handover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1097280" y="376732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 · QR · weight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956885" y="2816352"/>
            <a:ext cx="420624" cy="420624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56885" y="2816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💵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182880" y="2843784"/>
            <a:ext cx="7099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182880" y="3008376"/>
            <a:ext cx="7099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or UPI + receipt</a:t>
            </a:r>
            <a:endParaRPr lang="en-US" sz="650" dirty="0"/>
          </a:p>
        </p:txBody>
      </p:sp>
      <p:sp>
        <p:nvSpPr>
          <p:cNvPr id="31" name="Shape 28"/>
          <p:cNvSpPr/>
          <p:nvPr/>
        </p:nvSpPr>
        <p:spPr>
          <a:xfrm>
            <a:off x="956885" y="2157984"/>
            <a:ext cx="420624" cy="42062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56885" y="2157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📒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82880" y="2185416"/>
            <a:ext cx="7099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</a:t>
            </a:r>
            <a:endParaRPr lang="en-US" sz="850" dirty="0"/>
          </a:p>
        </p:txBody>
      </p:sp>
      <p:sp>
        <p:nvSpPr>
          <p:cNvPr id="34" name="Text 31"/>
          <p:cNvSpPr txBox="1"/>
          <p:nvPr/>
        </p:nvSpPr>
        <p:spPr>
          <a:xfrm>
            <a:off x="182880" y="2350008"/>
            <a:ext cx="7099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earnings · EPR</a:t>
            </a:r>
            <a:endParaRPr lang="en-US" sz="650" dirty="0"/>
          </a:p>
        </p:txBody>
      </p:sp>
      <p:sp>
        <p:nvSpPr>
          <p:cNvPr id="35" name="Text 32"/>
          <p:cNvSpPr txBox="1"/>
          <p:nvPr/>
        </p:nvSpPr>
        <p:spPr>
          <a:xfrm>
            <a:off x="146304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♻️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137160" y="4041648"/>
            <a:ext cx="1463040" cy="758952"/>
          </a:xfrm>
          <a:prstGeom prst="cloud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71246" y="4193438"/>
            <a:ext cx="994867" cy="455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Offline-first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 8+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2148840" y="41148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on a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₹6–8 k phone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 flipV="1">
            <a:off x="1645920" y="4315968"/>
            <a:ext cx="457200" cy="9144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40" name="Shape 37"/>
          <p:cNvSpPr/>
          <p:nvPr/>
        </p:nvSpPr>
        <p:spPr>
          <a:xfrm>
            <a:off x="3429000" y="896112"/>
            <a:ext cx="2834640" cy="1783080"/>
          </a:xfrm>
          <a:prstGeom prst="roundRect">
            <a:avLst>
              <a:gd name="adj" fmla="val 1538"/>
            </a:avLst>
          </a:prstGeom>
          <a:solidFill>
            <a:srgbClr val="F8FAFC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3593592" y="1005840"/>
            <a:ext cx="457200" cy="45720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593592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📱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3465576" y="151790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Collector app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queue</a:t>
            </a:r>
            <a:endParaRPr lang="en-US" sz="580" dirty="0"/>
          </a:p>
        </p:txBody>
      </p:sp>
      <p:sp>
        <p:nvSpPr>
          <p:cNvPr id="44" name="Shape 41"/>
          <p:cNvSpPr/>
          <p:nvPr/>
        </p:nvSpPr>
        <p:spPr>
          <a:xfrm>
            <a:off x="4069080" y="1234440"/>
            <a:ext cx="128016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45" name="Shape 42"/>
          <p:cNvSpPr/>
          <p:nvPr/>
        </p:nvSpPr>
        <p:spPr>
          <a:xfrm>
            <a:off x="4288536" y="1005840"/>
            <a:ext cx="457200" cy="457200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288536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☁️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4160520" y="151790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 · price engine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matching</a:t>
            </a:r>
            <a:endParaRPr lang="en-US" sz="580" dirty="0"/>
          </a:p>
        </p:txBody>
      </p:sp>
      <p:sp>
        <p:nvSpPr>
          <p:cNvPr id="48" name="Shape 45"/>
          <p:cNvSpPr/>
          <p:nvPr/>
        </p:nvSpPr>
        <p:spPr>
          <a:xfrm>
            <a:off x="4764024" y="1234440"/>
            <a:ext cx="128016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4983480" y="1005840"/>
            <a:ext cx="457200" cy="45720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983480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🏭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855464" y="151790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Recycler console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quotes · pickups</a:t>
            </a:r>
            <a:endParaRPr lang="en-US" sz="580" dirty="0"/>
          </a:p>
        </p:txBody>
      </p:sp>
      <p:sp>
        <p:nvSpPr>
          <p:cNvPr id="52" name="Shape 49"/>
          <p:cNvSpPr/>
          <p:nvPr/>
        </p:nvSpPr>
        <p:spPr>
          <a:xfrm>
            <a:off x="5458968" y="1234440"/>
            <a:ext cx="128016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53" name="Shape 50"/>
          <p:cNvSpPr/>
          <p:nvPr/>
        </p:nvSpPr>
        <p:spPr>
          <a:xfrm>
            <a:off x="5678424" y="1005840"/>
            <a:ext cx="457200" cy="45720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678424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🏛️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5550408" y="151790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 / CPCB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· EPR</a:t>
            </a:r>
            <a:endParaRPr lang="en-US" sz="580" dirty="0"/>
          </a:p>
        </p:txBody>
      </p:sp>
      <p:sp>
        <p:nvSpPr>
          <p:cNvPr id="56" name="Shape 53"/>
          <p:cNvSpPr/>
          <p:nvPr/>
        </p:nvSpPr>
        <p:spPr>
          <a:xfrm>
            <a:off x="3520440" y="2011680"/>
            <a:ext cx="2651760" cy="603504"/>
          </a:xfrm>
          <a:prstGeom prst="roundRect">
            <a:avLst>
              <a:gd name="adj" fmla="val 6061"/>
            </a:avLst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584448" y="2011680"/>
            <a:ext cx="25420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&amp; data core: </a:t>
            </a:r>
            <a:pPr indent="0" marL="0">
              <a:buNone/>
            </a:pPr>
            <a:r>
              <a:rPr lang="en-US" sz="63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TFLite MobileNet classifier (12 e-waste categories, ~4 MB) · price engine = recycler quotes + LME/MCX Cu/Al indices + verified transactions, median &amp; 30-day trend · matching = distance × price × capacity × rating · handover records SHA-256 hash-chained → tamper-evident EPR trail.</a:t>
            </a:r>
            <a:endParaRPr lang="en-US" sz="630" dirty="0"/>
          </a:p>
        </p:txBody>
      </p:sp>
      <p:pic>
        <p:nvPicPr>
          <p:cNvPr id="5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2761488"/>
            <a:ext cx="2834640" cy="1655064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3429000" y="44439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Collector app: Snap &amp; Value + audio price board → authorized recyclers → GPS handover receipt (cash / UPI) with earnings ledger &amp; safety tip</a:t>
            </a:r>
            <a:endParaRPr lang="en-US" sz="620" dirty="0"/>
          </a:p>
        </p:txBody>
      </p:sp>
      <p:sp>
        <p:nvSpPr>
          <p:cNvPr id="60" name="Text 56"/>
          <p:cNvSpPr txBox="1"/>
          <p:nvPr/>
        </p:nvSpPr>
        <p:spPr>
          <a:xfrm>
            <a:off x="6400800" y="8686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2D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TECHNOLOGIES USED</a:t>
            </a:r>
            <a:endParaRPr lang="en-US" sz="1300" dirty="0"/>
          </a:p>
        </p:txBody>
      </p:sp>
      <p:sp>
        <p:nvSpPr>
          <p:cNvPr id="61" name="Shape 57"/>
          <p:cNvSpPr/>
          <p:nvPr/>
        </p:nvSpPr>
        <p:spPr>
          <a:xfrm>
            <a:off x="6629400" y="1261872"/>
            <a:ext cx="2331720" cy="603504"/>
          </a:xfrm>
          <a:prstGeom prst="roundRect">
            <a:avLst>
              <a:gd name="adj" fmla="val 30303"/>
            </a:avLst>
          </a:prstGeom>
          <a:solidFill>
            <a:srgbClr val="6B7A1E"/>
          </a:solidFill>
          <a:ln w="12700">
            <a:solidFill>
              <a:srgbClr val="6B7A1E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62" name="Shape 58"/>
          <p:cNvSpPr/>
          <p:nvPr/>
        </p:nvSpPr>
        <p:spPr>
          <a:xfrm>
            <a:off x="6382512" y="1335024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B7A1E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382512" y="13350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📱</a:t>
            </a:r>
            <a:endParaRPr lang="en-US" sz="1300" dirty="0"/>
          </a:p>
        </p:txBody>
      </p:sp>
      <p:sp>
        <p:nvSpPr>
          <p:cNvPr id="64" name="Text 60"/>
          <p:cNvSpPr txBox="1"/>
          <p:nvPr/>
        </p:nvSpPr>
        <p:spPr>
          <a:xfrm>
            <a:off x="6903720" y="13075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E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</a:t>
            </a:r>
            <a:endParaRPr lang="en-US" sz="950" dirty="0"/>
          </a:p>
        </p:txBody>
      </p:sp>
      <p:sp>
        <p:nvSpPr>
          <p:cNvPr id="65" name="Text 61"/>
          <p:cNvSpPr txBox="1"/>
          <p:nvPr/>
        </p:nvSpPr>
        <p:spPr>
          <a:xfrm>
            <a:off x="6903720" y="15087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 (Android 8+, 1 GB RAM), SQLite + WorkManager offline sync, TensorFlow Lite on-device vision</a:t>
            </a:r>
            <a:endParaRPr lang="en-US" sz="650" dirty="0"/>
          </a:p>
        </p:txBody>
      </p:sp>
      <p:sp>
        <p:nvSpPr>
          <p:cNvPr id="66" name="Shape 62"/>
          <p:cNvSpPr/>
          <p:nvPr/>
        </p:nvSpPr>
        <p:spPr>
          <a:xfrm>
            <a:off x="6629400" y="1975104"/>
            <a:ext cx="2331720" cy="603504"/>
          </a:xfrm>
          <a:prstGeom prst="roundRect">
            <a:avLst>
              <a:gd name="adj" fmla="val 30303"/>
            </a:avLst>
          </a:prstGeom>
          <a:solidFill>
            <a:srgbClr val="8B5A2B"/>
          </a:solidFill>
          <a:ln w="12700">
            <a:solidFill>
              <a:srgbClr val="8B5A2B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67" name="Shape 63"/>
          <p:cNvSpPr/>
          <p:nvPr/>
        </p:nvSpPr>
        <p:spPr>
          <a:xfrm>
            <a:off x="6382512" y="2048256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B5A2B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6382512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🗣️</a:t>
            </a:r>
            <a:endParaRPr lang="en-US" sz="1300" dirty="0"/>
          </a:p>
        </p:txBody>
      </p:sp>
      <p:sp>
        <p:nvSpPr>
          <p:cNvPr id="69" name="Text 65"/>
          <p:cNvSpPr txBox="1"/>
          <p:nvPr/>
        </p:nvSpPr>
        <p:spPr>
          <a:xfrm>
            <a:off x="6903720" y="20208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E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Vernacular &amp; safety</a:t>
            </a:r>
            <a:endParaRPr lang="en-US" sz="950" dirty="0"/>
          </a:p>
        </p:txBody>
      </p:sp>
      <p:sp>
        <p:nvSpPr>
          <p:cNvPr id="70" name="Text 66"/>
          <p:cNvSpPr txBox="1"/>
          <p:nvPr/>
        </p:nvSpPr>
        <p:spPr>
          <a:xfrm>
            <a:off x="6903720" y="22219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Bhashini ASR / TTS (Hindi, Marathi), audio price boards, icon-first UI, built-in hazardous-handling guidance, SMS / IVR fallback</a:t>
            </a:r>
            <a:endParaRPr lang="en-US" sz="650" dirty="0"/>
          </a:p>
        </p:txBody>
      </p:sp>
      <p:sp>
        <p:nvSpPr>
          <p:cNvPr id="71" name="Shape 67"/>
          <p:cNvSpPr/>
          <p:nvPr/>
        </p:nvSpPr>
        <p:spPr>
          <a:xfrm>
            <a:off x="6629400" y="2688336"/>
            <a:ext cx="2331720" cy="603504"/>
          </a:xfrm>
          <a:prstGeom prst="roundRect">
            <a:avLst>
              <a:gd name="adj" fmla="val 30303"/>
            </a:avLst>
          </a:prstGeom>
          <a:solidFill>
            <a:srgbClr val="7B2D26"/>
          </a:solidFill>
          <a:ln w="12700">
            <a:solidFill>
              <a:srgbClr val="7B2D26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72" name="Shape 68"/>
          <p:cNvSpPr/>
          <p:nvPr/>
        </p:nvSpPr>
        <p:spPr>
          <a:xfrm>
            <a:off x="6382512" y="276148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B2D26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6382512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🗄️</a:t>
            </a:r>
            <a:endParaRPr lang="en-US" sz="1300" dirty="0"/>
          </a:p>
        </p:txBody>
      </p:sp>
      <p:sp>
        <p:nvSpPr>
          <p:cNvPr id="74" name="Text 70"/>
          <p:cNvSpPr txBox="1"/>
          <p:nvPr/>
        </p:nvSpPr>
        <p:spPr>
          <a:xfrm>
            <a:off x="6903720" y="27340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E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950" dirty="0"/>
          </a:p>
        </p:txBody>
      </p:sp>
      <p:sp>
        <p:nvSpPr>
          <p:cNvPr id="75" name="Text 71"/>
          <p:cNvSpPr txBox="1"/>
          <p:nvPr/>
        </p:nvSpPr>
        <p:spPr>
          <a:xfrm>
            <a:off x="6903720" y="293522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PostgreSQL / PostGIS · price engine · matching service · hash-chained handover ledger</a:t>
            </a:r>
            <a:endParaRPr lang="en-US" sz="650" dirty="0"/>
          </a:p>
        </p:txBody>
      </p:sp>
      <p:sp>
        <p:nvSpPr>
          <p:cNvPr id="76" name="Shape 72"/>
          <p:cNvSpPr/>
          <p:nvPr/>
        </p:nvSpPr>
        <p:spPr>
          <a:xfrm>
            <a:off x="6629400" y="3401568"/>
            <a:ext cx="2331720" cy="603504"/>
          </a:xfrm>
          <a:prstGeom prst="roundRect">
            <a:avLst>
              <a:gd name="adj" fmla="val 30303"/>
            </a:avLst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77" name="Shape 73"/>
          <p:cNvSpPr/>
          <p:nvPr/>
        </p:nvSpPr>
        <p:spPr>
          <a:xfrm>
            <a:off x="6382512" y="34747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D28D9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6382512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💵</a:t>
            </a:r>
            <a:endParaRPr lang="en-US" sz="1300" dirty="0"/>
          </a:p>
        </p:txBody>
      </p:sp>
      <p:sp>
        <p:nvSpPr>
          <p:cNvPr id="79" name="Text 75"/>
          <p:cNvSpPr txBox="1"/>
          <p:nvPr/>
        </p:nvSpPr>
        <p:spPr>
          <a:xfrm>
            <a:off x="6903720" y="344728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E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 &amp; ledger</a:t>
            </a:r>
            <a:endParaRPr lang="en-US" sz="950" dirty="0"/>
          </a:p>
        </p:txBody>
      </p:sp>
      <p:sp>
        <p:nvSpPr>
          <p:cNvPr id="80" name="Text 76"/>
          <p:cNvSpPr txBox="1"/>
          <p:nvPr/>
        </p:nvSpPr>
        <p:spPr>
          <a:xfrm>
            <a:off x="6903720" y="364845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or UPI (NPCI) — both logged with OTP-confirmed receipt; per-collector earnings ledger builds a financial history</a:t>
            </a:r>
            <a:endParaRPr lang="en-US" sz="650" dirty="0"/>
          </a:p>
        </p:txBody>
      </p:sp>
      <p:sp>
        <p:nvSpPr>
          <p:cNvPr id="81" name="Shape 77"/>
          <p:cNvSpPr/>
          <p:nvPr/>
        </p:nvSpPr>
        <p:spPr>
          <a:xfrm>
            <a:off x="6629400" y="4114800"/>
            <a:ext cx="2331720" cy="603504"/>
          </a:xfrm>
          <a:prstGeom prst="roundRect">
            <a:avLst>
              <a:gd name="adj" fmla="val 30303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50800" dist="25400" dir="2700000">
              <a:srgbClr val="000000">
                <a:alpha val="35000"/>
              </a:srgbClr>
            </a:outerShdw>
          </a:effectLst>
        </p:spPr>
      </p:sp>
      <p:sp>
        <p:nvSpPr>
          <p:cNvPr id="82" name="Shape 78"/>
          <p:cNvSpPr/>
          <p:nvPr/>
        </p:nvSpPr>
        <p:spPr>
          <a:xfrm>
            <a:off x="6382512" y="4187952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6382512" y="4187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🖥️</a:t>
            </a:r>
            <a:endParaRPr lang="en-US" sz="1300" dirty="0"/>
          </a:p>
        </p:txBody>
      </p:sp>
      <p:sp>
        <p:nvSpPr>
          <p:cNvPr id="84" name="Text 80"/>
          <p:cNvSpPr txBox="1"/>
          <p:nvPr/>
        </p:nvSpPr>
        <p:spPr>
          <a:xfrm>
            <a:off x="6903720" y="416052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E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Consoles &amp; data</a:t>
            </a:r>
            <a:endParaRPr lang="en-US" sz="950" dirty="0"/>
          </a:p>
        </p:txBody>
      </p:sp>
      <p:sp>
        <p:nvSpPr>
          <p:cNvPr id="85" name="Text 81"/>
          <p:cNvSpPr txBox="1"/>
          <p:nvPr/>
        </p:nvSpPr>
        <p:spPr>
          <a:xfrm>
            <a:off x="6903720" y="436168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dashboards (recycler, MoM / CPCB), open price-dataset API, EPR / Form-6 export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109728"/>
            <a:ext cx="1051560" cy="5669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10972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Orbit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914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FEASIBILITY AND VIABILITY</a:t>
            </a:r>
            <a:endParaRPr lang="en-US" sz="2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65176" y="932688"/>
            <a:ext cx="2788920" cy="3127248"/>
          </a:xfrm>
          <a:prstGeom prst="roundRect">
            <a:avLst>
              <a:gd name="adj" fmla="val 984"/>
            </a:avLst>
          </a:prstGeom>
          <a:solidFill>
            <a:srgbClr val="5C4A32"/>
          </a:solidFill>
          <a:ln w="12700">
            <a:solidFill>
              <a:srgbClr val="5C4A3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" y="896112"/>
            <a:ext cx="2788920" cy="3127248"/>
          </a:xfrm>
          <a:prstGeom prst="roundRect">
            <a:avLst>
              <a:gd name="adj" fmla="val 984"/>
            </a:avLst>
          </a:prstGeom>
          <a:solidFill>
            <a:srgbClr val="B08D57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715768" y="914400"/>
            <a:ext cx="109728" cy="274320"/>
          </a:xfrm>
          <a:prstGeom prst="line">
            <a:avLst/>
          </a:prstGeom>
          <a:noFill/>
          <a:ln w="19050">
            <a:solidFill>
              <a:srgbClr val="4B556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60904" y="786384"/>
            <a:ext cx="219456" cy="219456"/>
          </a:xfrm>
          <a:prstGeom prst="ellipse">
            <a:avLst/>
          </a:prstGeom>
          <a:solidFill>
            <a:srgbClr val="DC2626"/>
          </a:solidFill>
          <a:ln w="9525">
            <a:solidFill>
              <a:srgbClr val="7F1D1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0040" y="9692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FEASIBILITY ANALYSIS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20040" y="1243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★★★★½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56616" y="1572768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 is ready: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on-device image AI, offline sync, UPI and Bhashini are proven, free / open building blocks — no research risk.</a:t>
            </a:r>
            <a:endParaRPr lang="en-US" sz="860" dirty="0"/>
          </a:p>
        </p:txBody>
      </p:sp>
      <p:sp>
        <p:nvSpPr>
          <p:cNvPr id="16" name="Text 13"/>
          <p:cNvSpPr txBox="1"/>
          <p:nvPr/>
        </p:nvSpPr>
        <p:spPr>
          <a:xfrm>
            <a:off x="356616" y="2194560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exists: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CPCB list of EPR-registered recyclers; MCX / LME metal indices; recycler quotes seed the price dataset.</a:t>
            </a:r>
            <a:endParaRPr lang="en-US" sz="860" dirty="0"/>
          </a:p>
        </p:txBody>
      </p:sp>
      <p:sp>
        <p:nvSpPr>
          <p:cNvPr id="17" name="Text 14"/>
          <p:cNvSpPr txBox="1"/>
          <p:nvPr/>
        </p:nvSpPr>
        <p:spPr>
          <a:xfrm>
            <a:off x="356616" y="2816352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Low-end friendly: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APK &lt; 15 MB, Android 8+, works on ₹6–8 k phones and 2G; SMS / IVR fallback.</a:t>
            </a:r>
            <a:endParaRPr lang="en-US" sz="860" dirty="0"/>
          </a:p>
        </p:txBody>
      </p:sp>
      <p:sp>
        <p:nvSpPr>
          <p:cNvPr id="18" name="Text 15"/>
          <p:cNvSpPr txBox="1"/>
          <p:nvPr/>
        </p:nvSpPr>
        <p:spPr>
          <a:xfrm>
            <a:off x="356616" y="3438144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Field-first: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PS asks for ≥ 2 real collectors — we plan 50 collectors + 3 authorized recyclers in Nagpur (JNARDDC's city), with a live usability demo.</a:t>
            </a:r>
            <a:endParaRPr lang="en-US" sz="860" dirty="0"/>
          </a:p>
        </p:txBody>
      </p:sp>
      <p:sp>
        <p:nvSpPr>
          <p:cNvPr id="19" name="Shape 16"/>
          <p:cNvSpPr/>
          <p:nvPr/>
        </p:nvSpPr>
        <p:spPr>
          <a:xfrm>
            <a:off x="3191256" y="932688"/>
            <a:ext cx="2788920" cy="3127248"/>
          </a:xfrm>
          <a:prstGeom prst="roundRect">
            <a:avLst>
              <a:gd name="adj" fmla="val 984"/>
            </a:avLst>
          </a:prstGeom>
          <a:solidFill>
            <a:srgbClr val="5C4A32"/>
          </a:solidFill>
          <a:ln w="12700">
            <a:solidFill>
              <a:srgbClr val="5C4A3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154680" y="896112"/>
            <a:ext cx="2788920" cy="3127248"/>
          </a:xfrm>
          <a:prstGeom prst="roundRect">
            <a:avLst>
              <a:gd name="adj" fmla="val 984"/>
            </a:avLst>
          </a:prstGeom>
          <a:solidFill>
            <a:srgbClr val="7A7A7A"/>
          </a:solidFill>
          <a:ln w="12700">
            <a:solidFill>
              <a:srgbClr val="7A7A7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41848" y="914400"/>
            <a:ext cx="109728" cy="274320"/>
          </a:xfrm>
          <a:prstGeom prst="line">
            <a:avLst/>
          </a:prstGeom>
          <a:noFill/>
          <a:ln w="19050">
            <a:solidFill>
              <a:srgbClr val="4B556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586984" y="786384"/>
            <a:ext cx="219456" cy="219456"/>
          </a:xfrm>
          <a:prstGeom prst="ellipse">
            <a:avLst/>
          </a:prstGeom>
          <a:solidFill>
            <a:srgbClr val="B91C1C"/>
          </a:solidFill>
          <a:ln w="9525">
            <a:solidFill>
              <a:srgbClr val="7F1D1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246120" y="9692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VIABILITY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3246120" y="1243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3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3282696" y="1572768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Incentives align: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collector earns more (fair price, no middleman cut); recycler gets traceable feedstock; MoM gets data.</a:t>
            </a:r>
            <a:endParaRPr lang="en-US" sz="860" dirty="0"/>
          </a:p>
        </p:txBody>
      </p:sp>
      <p:sp>
        <p:nvSpPr>
          <p:cNvPr id="26" name="Text 23"/>
          <p:cNvSpPr txBox="1"/>
          <p:nvPr/>
        </p:nvSpPr>
        <p:spPr>
          <a:xfrm>
            <a:off x="3282696" y="2194560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economics: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PCB informal ≈ ₹250/kg vs formal ₹310 + ₹15 incentive → ≈ +30 % per kg (pilot target, to be measured).</a:t>
            </a:r>
            <a:endParaRPr lang="en-US" sz="860" dirty="0"/>
          </a:p>
        </p:txBody>
      </p:sp>
      <p:sp>
        <p:nvSpPr>
          <p:cNvPr id="27" name="Text 24"/>
          <p:cNvSpPr txBox="1"/>
          <p:nvPr/>
        </p:nvSpPr>
        <p:spPr>
          <a:xfrm>
            <a:off x="3282696" y="2816352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Trust by design: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cash stays possible (OTP receipt), visible price band, dispute button; only a phone number — no sensitive personal data.</a:t>
            </a:r>
            <a:endParaRPr lang="en-US" sz="860" dirty="0"/>
          </a:p>
        </p:txBody>
      </p:sp>
      <p:sp>
        <p:nvSpPr>
          <p:cNvPr id="28" name="Text 25"/>
          <p:cNvSpPr txBox="1"/>
          <p:nvPr/>
        </p:nvSpPr>
        <p:spPr>
          <a:xfrm>
            <a:off x="3282696" y="3438144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Risks handled: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recycler adoption → onboarding kit + EPR credits; price gaming → multi-source median; connectivity → offline queue + SMS.</a:t>
            </a:r>
            <a:endParaRPr lang="en-US" sz="860" dirty="0"/>
          </a:p>
        </p:txBody>
      </p:sp>
      <p:sp>
        <p:nvSpPr>
          <p:cNvPr id="29" name="Shape 26"/>
          <p:cNvSpPr/>
          <p:nvPr/>
        </p:nvSpPr>
        <p:spPr>
          <a:xfrm>
            <a:off x="6117336" y="932688"/>
            <a:ext cx="2788920" cy="3127248"/>
          </a:xfrm>
          <a:prstGeom prst="roundRect">
            <a:avLst>
              <a:gd name="adj" fmla="val 984"/>
            </a:avLst>
          </a:prstGeom>
          <a:solidFill>
            <a:srgbClr val="5C4A32"/>
          </a:solidFill>
          <a:ln w="12700">
            <a:solidFill>
              <a:srgbClr val="5C4A32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080760" y="896112"/>
            <a:ext cx="2788920" cy="3127248"/>
          </a:xfrm>
          <a:prstGeom prst="roundRect">
            <a:avLst>
              <a:gd name="adj" fmla="val 984"/>
            </a:avLst>
          </a:prstGeom>
          <a:solidFill>
            <a:srgbClr val="B08D57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567928" y="914400"/>
            <a:ext cx="109728" cy="274320"/>
          </a:xfrm>
          <a:prstGeom prst="line">
            <a:avLst/>
          </a:prstGeom>
          <a:noFill/>
          <a:ln w="19050">
            <a:solidFill>
              <a:srgbClr val="4B5563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513064" y="786384"/>
            <a:ext cx="219456" cy="219456"/>
          </a:xfrm>
          <a:prstGeom prst="ellipse">
            <a:avLst/>
          </a:prstGeom>
          <a:solidFill>
            <a:srgbClr val="DC2626"/>
          </a:solidFill>
          <a:ln w="9525">
            <a:solidFill>
              <a:srgbClr val="7F1D1D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172200" y="9692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BUSINESS &amp; SCALE</a:t>
            </a:r>
            <a:endParaRPr 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6172200" y="124358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3C4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💼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6208776" y="1572768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Revenue: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1–2 % platform fee on recycler payouts; EPR compliance reports for PROs / producers; price-index data services.</a:t>
            </a:r>
            <a:endParaRPr lang="en-US" sz="860" dirty="0"/>
          </a:p>
        </p:txBody>
      </p:sp>
      <p:sp>
        <p:nvSpPr>
          <p:cNvPr id="36" name="Text 33"/>
          <p:cNvSpPr txBox="1"/>
          <p:nvPr/>
        </p:nvSpPr>
        <p:spPr>
          <a:xfrm>
            <a:off x="6208776" y="2194560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Policy fit: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E-Waste (Management) Rules 2022 EPR framework; automated Form-6; Mission LiFE &amp; Swachh Bharat alignment.</a:t>
            </a:r>
            <a:endParaRPr lang="en-US" sz="860" dirty="0"/>
          </a:p>
        </p:txBody>
      </p:sp>
      <p:sp>
        <p:nvSpPr>
          <p:cNvPr id="37" name="Text 34"/>
          <p:cNvSpPr txBox="1"/>
          <p:nvPr/>
        </p:nvSpPr>
        <p:spPr>
          <a:xfrm>
            <a:off x="6208776" y="2816352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Scale path: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Nagpur → Maharashtra (Marathi) → Hindi belt; extend to plastics &amp; metals; ULB and PRO partnerships.</a:t>
            </a:r>
            <a:endParaRPr lang="en-US" sz="860" dirty="0"/>
          </a:p>
        </p:txBody>
      </p:sp>
      <p:sp>
        <p:nvSpPr>
          <p:cNvPr id="38" name="Text 35"/>
          <p:cNvSpPr txBox="1"/>
          <p:nvPr/>
        </p:nvSpPr>
        <p:spPr>
          <a:xfrm>
            <a:off x="6208776" y="3438144"/>
            <a:ext cx="2542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b="1" u="sng" dirty="0">
                <a:solidFill>
                  <a:srgbClr val="FFF7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Roadmap: </a:t>
            </a:r>
            <a:pPr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4-week MVP + pilot → finale: 500 collectors, price API, CPCB integration → national roll-out with PROs.</a:t>
            </a:r>
            <a:endParaRPr lang="en-US" sz="860" dirty="0"/>
          </a:p>
        </p:txBody>
      </p:sp>
      <p:sp>
        <p:nvSpPr>
          <p:cNvPr id="39" name="Shape 36"/>
          <p:cNvSpPr/>
          <p:nvPr/>
        </p:nvSpPr>
        <p:spPr>
          <a:xfrm>
            <a:off x="228600" y="4114800"/>
            <a:ext cx="8686800" cy="658368"/>
          </a:xfrm>
          <a:prstGeom prst="roundRect">
            <a:avLst>
              <a:gd name="adj" fmla="val 5556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40080" y="4443984"/>
            <a:ext cx="786384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41" name="Shape 38"/>
          <p:cNvSpPr/>
          <p:nvPr/>
        </p:nvSpPr>
        <p:spPr>
          <a:xfrm>
            <a:off x="822960" y="4370832"/>
            <a:ext cx="146304" cy="146304"/>
          </a:xfrm>
          <a:prstGeom prst="ellipse">
            <a:avLst/>
          </a:prstGeom>
          <a:solidFill>
            <a:srgbClr val="2BB673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24128" y="41696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BB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Idea + mockups</a:t>
            </a:r>
            <a:endParaRPr lang="en-US" sz="800" dirty="0"/>
          </a:p>
        </p:txBody>
      </p:sp>
      <p:sp>
        <p:nvSpPr>
          <p:cNvPr id="43" name="Text 40"/>
          <p:cNvSpPr txBox="1"/>
          <p:nvPr/>
        </p:nvSpPr>
        <p:spPr>
          <a:xfrm>
            <a:off x="1024128" y="45079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· field-survey plan</a:t>
            </a:r>
            <a:endParaRPr lang="en-US" sz="700" dirty="0"/>
          </a:p>
        </p:txBody>
      </p:sp>
      <p:sp>
        <p:nvSpPr>
          <p:cNvPr id="44" name="Shape 41"/>
          <p:cNvSpPr/>
          <p:nvPr/>
        </p:nvSpPr>
        <p:spPr>
          <a:xfrm>
            <a:off x="2880360" y="4370832"/>
            <a:ext cx="146304" cy="146304"/>
          </a:xfrm>
          <a:prstGeom prst="ellipse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3081528" y="41696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4 weeks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3081528" y="45079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app · 50-collector Nagpur pilot</a:t>
            </a:r>
            <a:endParaRPr lang="en-US" sz="700" dirty="0"/>
          </a:p>
        </p:txBody>
      </p:sp>
      <p:sp>
        <p:nvSpPr>
          <p:cNvPr id="47" name="Shape 44"/>
          <p:cNvSpPr/>
          <p:nvPr/>
        </p:nvSpPr>
        <p:spPr>
          <a:xfrm>
            <a:off x="4937760" y="4370832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138928" y="41696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Grand finale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5138928" y="45079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recycler console · price API · unit economics</a:t>
            </a:r>
            <a:endParaRPr lang="en-US" sz="700" dirty="0"/>
          </a:p>
        </p:txBody>
      </p:sp>
      <p:sp>
        <p:nvSpPr>
          <p:cNvPr id="50" name="Shape 47"/>
          <p:cNvSpPr/>
          <p:nvPr/>
        </p:nvSpPr>
        <p:spPr>
          <a:xfrm>
            <a:off x="6995160" y="4370832"/>
            <a:ext cx="146304" cy="146304"/>
          </a:xfrm>
          <a:prstGeom prst="ellipse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7196328" y="41696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7196328" y="45079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CPCB EPR portal · PRO partners</a:t>
            </a:r>
            <a:endParaRPr lang="en-US" sz="700" dirty="0"/>
          </a:p>
        </p:txBody>
      </p:sp>
      <p:sp>
        <p:nvSpPr>
          <p:cNvPr id="53" name="Text 50"/>
          <p:cNvSpPr txBox="1"/>
          <p:nvPr/>
        </p:nvSpPr>
        <p:spPr>
          <a:xfrm>
            <a:off x="8412480" y="42245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♻️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109728"/>
            <a:ext cx="1051560" cy="5669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10972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Orbit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914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 AND BENEFITS</a:t>
            </a:r>
            <a:endParaRPr lang="en-US" sz="2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325880" y="1645920"/>
            <a:ext cx="2377440" cy="23774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CA3AF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2039112" y="2359152"/>
            <a:ext cx="950976" cy="95097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14600" y="2423160"/>
            <a:ext cx="0" cy="82296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57400" y="2724912"/>
            <a:ext cx="438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IMPACTS</a:t>
            </a:r>
            <a:endParaRPr lang="en-US" sz="650" dirty="0"/>
          </a:p>
        </p:txBody>
      </p:sp>
      <p:sp>
        <p:nvSpPr>
          <p:cNvPr id="13" name="Text 10"/>
          <p:cNvSpPr txBox="1"/>
          <p:nvPr/>
        </p:nvSpPr>
        <p:spPr>
          <a:xfrm>
            <a:off x="2532888" y="272491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E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</a:t>
            </a:r>
            <a:endParaRPr lang="en-US" sz="650" dirty="0"/>
          </a:p>
        </p:txBody>
      </p:sp>
      <p:sp>
        <p:nvSpPr>
          <p:cNvPr id="14" name="Shape 11"/>
          <p:cNvSpPr/>
          <p:nvPr/>
        </p:nvSpPr>
        <p:spPr>
          <a:xfrm>
            <a:off x="1782794" y="1611327"/>
            <a:ext cx="347472" cy="347472"/>
          </a:xfrm>
          <a:prstGeom prst="ellipse">
            <a:avLst/>
          </a:prstGeom>
          <a:solidFill>
            <a:srgbClr val="D9C7A6"/>
          </a:solidFill>
          <a:ln w="12700">
            <a:solidFill>
              <a:srgbClr val="8B735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82794" y="161132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2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" y="1510743"/>
            <a:ext cx="14078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u="sng" dirty="0">
                <a:solidFill>
                  <a:srgbClr val="1E5A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Higher income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137160" y="1711911"/>
            <a:ext cx="14078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≈ +25–35 % per kg via fair prices; earnings ledger builds a financial history for credit.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1231098" y="2234905"/>
            <a:ext cx="347472" cy="347472"/>
          </a:xfrm>
          <a:prstGeom prst="ellipse">
            <a:avLst/>
          </a:prstGeom>
          <a:solidFill>
            <a:srgbClr val="D9C7A6"/>
          </a:solidFill>
          <a:ln w="12700">
            <a:solidFill>
              <a:srgbClr val="8B735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231098" y="223490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2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37160" y="2134321"/>
            <a:ext cx="8561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u="sng" dirty="0">
                <a:solidFill>
                  <a:srgbClr val="1E5A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Formalisation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137160" y="2335489"/>
            <a:ext cx="856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lot enters the EPR chain with a GPS-stamped, traceable record.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1231098" y="3086903"/>
            <a:ext cx="347472" cy="347472"/>
          </a:xfrm>
          <a:prstGeom prst="ellipse">
            <a:avLst/>
          </a:prstGeom>
          <a:solidFill>
            <a:srgbClr val="D9C7A6"/>
          </a:solidFill>
          <a:ln w="12700">
            <a:solidFill>
              <a:srgbClr val="8B735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231098" y="3086903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2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137160" y="2986319"/>
            <a:ext cx="8561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u="sng" dirty="0">
                <a:solidFill>
                  <a:srgbClr val="1E5A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Safer work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137160" y="3187487"/>
            <a:ext cx="856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Pickup + training replace open burning and acid leaching.</a:t>
            </a:r>
            <a:endParaRPr lang="en-US" sz="700" dirty="0"/>
          </a:p>
        </p:txBody>
      </p:sp>
      <p:sp>
        <p:nvSpPr>
          <p:cNvPr id="26" name="Shape 23"/>
          <p:cNvSpPr/>
          <p:nvPr/>
        </p:nvSpPr>
        <p:spPr>
          <a:xfrm>
            <a:off x="1782794" y="3710481"/>
            <a:ext cx="347472" cy="347472"/>
          </a:xfrm>
          <a:prstGeom prst="ellipse">
            <a:avLst/>
          </a:prstGeom>
          <a:solidFill>
            <a:srgbClr val="D9C7A6"/>
          </a:solidFill>
          <a:ln w="12700">
            <a:solidFill>
              <a:srgbClr val="8B735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782794" y="371048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2F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137160" y="3609897"/>
            <a:ext cx="14078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u="sng" dirty="0">
                <a:solidFill>
                  <a:srgbClr val="1E5A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Critical minerals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137160" y="3811065"/>
            <a:ext cx="14078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Li, Co, Nd, Ta, Ga, In recovered instead of lost to backyard processing.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2898934" y="1611327"/>
            <a:ext cx="347472" cy="347472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898934" y="161132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3383566" y="1510743"/>
            <a:ext cx="16456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u="sng" dirty="0">
                <a:solidFill>
                  <a:srgbClr val="6B72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Social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3383566" y="1711911"/>
            <a:ext cx="16456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Dignity, digital identity and records for lakhs of informal workers.</a:t>
            </a:r>
            <a:endParaRPr lang="en-US" sz="700" dirty="0"/>
          </a:p>
        </p:txBody>
      </p:sp>
      <p:sp>
        <p:nvSpPr>
          <p:cNvPr id="34" name="Shape 31"/>
          <p:cNvSpPr/>
          <p:nvPr/>
        </p:nvSpPr>
        <p:spPr>
          <a:xfrm>
            <a:off x="3450630" y="2234905"/>
            <a:ext cx="347472" cy="347472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450630" y="223490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3935262" y="2134321"/>
            <a:ext cx="1093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u="sng" dirty="0">
                <a:solidFill>
                  <a:srgbClr val="6B72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Economic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3935262" y="2335489"/>
            <a:ext cx="1093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Recyclers get compliant feedstock; producers earn EPR credits.</a:t>
            </a:r>
            <a:endParaRPr lang="en-US" sz="700" dirty="0"/>
          </a:p>
        </p:txBody>
      </p:sp>
      <p:sp>
        <p:nvSpPr>
          <p:cNvPr id="38" name="Shape 35"/>
          <p:cNvSpPr/>
          <p:nvPr/>
        </p:nvSpPr>
        <p:spPr>
          <a:xfrm>
            <a:off x="3450630" y="3086903"/>
            <a:ext cx="347472" cy="347472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450630" y="3086903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3935262" y="2986319"/>
            <a:ext cx="1093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u="sng" dirty="0">
                <a:solidFill>
                  <a:srgbClr val="6B72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Environmental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3935262" y="3187487"/>
            <a:ext cx="1093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 toxic burning / leaching; higher material recovery rates.</a:t>
            </a:r>
            <a:endParaRPr lang="en-US" sz="700" dirty="0"/>
          </a:p>
        </p:txBody>
      </p:sp>
      <p:sp>
        <p:nvSpPr>
          <p:cNvPr id="42" name="Shape 39"/>
          <p:cNvSpPr/>
          <p:nvPr/>
        </p:nvSpPr>
        <p:spPr>
          <a:xfrm>
            <a:off x="2898934" y="3710481"/>
            <a:ext cx="347472" cy="347472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898934" y="371048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3383566" y="3609897"/>
            <a:ext cx="16456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u="sng" dirty="0">
                <a:solidFill>
                  <a:srgbClr val="6B72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Governance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3383566" y="3811065"/>
            <a:ext cx="16456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29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MoM / CPCB see real-time flows, prices and hotspots.</a:t>
            </a:r>
            <a:endParaRPr lang="en-US" sz="700" dirty="0"/>
          </a:p>
        </p:txBody>
      </p:sp>
      <p:sp>
        <p:nvSpPr>
          <p:cNvPr id="46" name="Shape 43"/>
          <p:cNvSpPr/>
          <p:nvPr/>
        </p:nvSpPr>
        <p:spPr>
          <a:xfrm>
            <a:off x="5138928" y="896112"/>
            <a:ext cx="73152" cy="3886200"/>
          </a:xfrm>
          <a:prstGeom prst="rect">
            <a:avLst/>
          </a:prstGeom>
          <a:solidFill>
            <a:srgbClr val="4B5563"/>
          </a:solidFill>
          <a:ln w="12700">
            <a:solidFill>
              <a:srgbClr val="4B5563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349240" y="89611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Collector earnings ₹ / kg — informal today vs Kabadiwala Connect</a:t>
            </a:r>
            <a:endParaRPr lang="en-US" sz="850" dirty="0"/>
          </a:p>
        </p:txBody>
      </p:sp>
      <p:graphicFrame>
        <p:nvGraphicFramePr>
          <p:cNvPr id="48" name="Chart 0" descr=""/>
          <p:cNvGraphicFramePr/>
          <p:nvPr/>
        </p:nvGraphicFramePr>
        <p:xfrm>
          <a:off x="5303520" y="1115568"/>
          <a:ext cx="361188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9" name="Text 45"/>
          <p:cNvSpPr txBox="1"/>
          <p:nvPr/>
        </p:nvSpPr>
        <p:spPr>
          <a:xfrm>
            <a:off x="5349240" y="29900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pilot model (fair price + incentive, pooled pickup) — to be validated in the Nagpur field study.</a:t>
            </a:r>
            <a:endParaRPr lang="en-US" sz="600" dirty="0"/>
          </a:p>
        </p:txBody>
      </p:sp>
      <p:sp>
        <p:nvSpPr>
          <p:cNvPr id="50" name="Text 46"/>
          <p:cNvSpPr txBox="1"/>
          <p:nvPr/>
        </p:nvSpPr>
        <p:spPr>
          <a:xfrm>
            <a:off x="5349240" y="32918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backyard burning to a traceable, fairly-paid chain</a:t>
            </a:r>
            <a:endParaRPr lang="en-US" sz="1000" dirty="0"/>
          </a:p>
        </p:txBody>
      </p:sp>
      <p:pic>
        <p:nvPicPr>
          <p:cNvPr id="5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3566160"/>
            <a:ext cx="530352" cy="1042416"/>
          </a:xfrm>
          <a:prstGeom prst="rect">
            <a:avLst/>
          </a:prstGeom>
        </p:spPr>
      </p:pic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8192" y="3566160"/>
            <a:ext cx="530352" cy="1042416"/>
          </a:xfrm>
          <a:prstGeom prst="rect">
            <a:avLst/>
          </a:prstGeom>
        </p:spPr>
      </p:pic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766560" y="3566160"/>
            <a:ext cx="2148840" cy="1042416"/>
          </a:xfrm>
          <a:prstGeom prst="rect">
            <a:avLst/>
          </a:prstGeom>
        </p:spPr>
      </p:pic>
      <p:sp>
        <p:nvSpPr>
          <p:cNvPr id="54" name="Text 47"/>
          <p:cNvSpPr txBox="1"/>
          <p:nvPr/>
        </p:nvSpPr>
        <p:spPr>
          <a:xfrm>
            <a:off x="5349240" y="4636008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recycler match  ·  digital receipt  ·  recycler / MoM console (mockups)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" y="109728"/>
            <a:ext cx="1051560" cy="5669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82880" y="10972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Orbit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914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AND REFERENCES</a:t>
            </a:r>
            <a:endParaRPr lang="en-US" sz="2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4320" y="1078992"/>
            <a:ext cx="8595360" cy="0"/>
          </a:xfrm>
          <a:prstGeom prst="line">
            <a:avLst/>
          </a:prstGeom>
          <a:noFill/>
          <a:ln w="12700">
            <a:solidFill>
              <a:srgbClr val="C9A97C"/>
            </a:solidFill>
            <a:prstDash val="dash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228600" y="868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framework</a:t>
            </a:r>
            <a:endParaRPr lang="en-US" sz="650" dirty="0"/>
          </a:p>
        </p:txBody>
      </p:sp>
      <p:sp>
        <p:nvSpPr>
          <p:cNvPr id="11" name="Shape 8"/>
          <p:cNvSpPr/>
          <p:nvPr/>
        </p:nvSpPr>
        <p:spPr>
          <a:xfrm>
            <a:off x="274320" y="1170432"/>
            <a:ext cx="1170432" cy="1234440"/>
          </a:xfrm>
          <a:prstGeom prst="hexagon">
            <a:avLst/>
          </a:prstGeom>
          <a:solidFill>
            <a:srgbClr val="C9A97C"/>
          </a:solidFill>
          <a:ln w="12700">
            <a:solidFill>
              <a:srgbClr val="C9A97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47472" y="1261872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E-Waste (Mgmt)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2022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MoEFCC / CPCB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402336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463040" y="868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recycler database</a:t>
            </a:r>
            <a:endParaRPr lang="en-US" sz="650" dirty="0"/>
          </a:p>
        </p:txBody>
      </p:sp>
      <p:sp>
        <p:nvSpPr>
          <p:cNvPr id="15" name="Shape 12"/>
          <p:cNvSpPr/>
          <p:nvPr/>
        </p:nvSpPr>
        <p:spPr>
          <a:xfrm>
            <a:off x="1508760" y="1170432"/>
            <a:ext cx="1170432" cy="1234440"/>
          </a:xfrm>
          <a:prstGeom prst="hexagon">
            <a:avLst/>
          </a:prstGeom>
          <a:solidFill>
            <a:srgbClr val="C9A97C"/>
          </a:solidFill>
          <a:ln w="12700">
            <a:solidFill>
              <a:srgbClr val="C9A9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581912" y="1261872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CPCB EPR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e-waste portal: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recyclers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1636776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2697480" y="868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of problem</a:t>
            </a:r>
            <a:endParaRPr lang="en-US" sz="650" dirty="0"/>
          </a:p>
        </p:txBody>
      </p:sp>
      <p:sp>
        <p:nvSpPr>
          <p:cNvPr id="19" name="Shape 16"/>
          <p:cNvSpPr/>
          <p:nvPr/>
        </p:nvSpPr>
        <p:spPr>
          <a:xfrm>
            <a:off x="2743200" y="1170432"/>
            <a:ext cx="1170432" cy="1234440"/>
          </a:xfrm>
          <a:prstGeom prst="hexagon">
            <a:avLst/>
          </a:prstGeom>
          <a:solidFill>
            <a:srgbClr val="C9A97C"/>
          </a:solidFill>
          <a:ln w="12700">
            <a:solidFill>
              <a:srgbClr val="C9A9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16352" y="1261872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E-waste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 2024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UNITAR / ITU</a:t>
            </a:r>
            <a:endParaRPr lang="en-US" sz="750" dirty="0"/>
          </a:p>
        </p:txBody>
      </p:sp>
      <p:sp>
        <p:nvSpPr>
          <p:cNvPr id="21" name="Text 18"/>
          <p:cNvSpPr txBox="1"/>
          <p:nvPr/>
        </p:nvSpPr>
        <p:spPr>
          <a:xfrm>
            <a:off x="2871216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3931920" y="868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partner</a:t>
            </a:r>
            <a:endParaRPr lang="en-US" sz="650" dirty="0"/>
          </a:p>
        </p:txBody>
      </p:sp>
      <p:sp>
        <p:nvSpPr>
          <p:cNvPr id="23" name="Shape 20"/>
          <p:cNvSpPr/>
          <p:nvPr/>
        </p:nvSpPr>
        <p:spPr>
          <a:xfrm>
            <a:off x="3977640" y="1170432"/>
            <a:ext cx="1170432" cy="1234440"/>
          </a:xfrm>
          <a:prstGeom prst="hexagon">
            <a:avLst/>
          </a:prstGeom>
          <a:solidFill>
            <a:srgbClr val="C9A97C"/>
          </a:solidFill>
          <a:ln w="12700">
            <a:solidFill>
              <a:srgbClr val="C9A97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50792" y="1261872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JNARDDC,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Ministry of Mines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Nagpur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4105656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5166360" y="868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vernacular AI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5212080" y="1170432"/>
            <a:ext cx="1170432" cy="1234440"/>
          </a:xfrm>
          <a:prstGeom prst="hexagon">
            <a:avLst/>
          </a:prstGeom>
          <a:solidFill>
            <a:srgbClr val="C9A97C"/>
          </a:solidFill>
          <a:ln w="12700">
            <a:solidFill>
              <a:srgbClr val="C9A97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285232" y="1261872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Bhashini: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Hindi / Marathi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ASR &amp; TTS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5340096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0" y="868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</a:t>
            </a:r>
            <a:endParaRPr lang="en-US" sz="650" dirty="0"/>
          </a:p>
        </p:txBody>
      </p:sp>
      <p:sp>
        <p:nvSpPr>
          <p:cNvPr id="31" name="Shape 28"/>
          <p:cNvSpPr/>
          <p:nvPr/>
        </p:nvSpPr>
        <p:spPr>
          <a:xfrm>
            <a:off x="6446520" y="1170432"/>
            <a:ext cx="1170432" cy="1234440"/>
          </a:xfrm>
          <a:prstGeom prst="hexagon">
            <a:avLst/>
          </a:prstGeom>
          <a:solidFill>
            <a:srgbClr val="C9A97C"/>
          </a:solidFill>
          <a:ln w="12700">
            <a:solidFill>
              <a:srgbClr val="C9A97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519672" y="1261872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NPCI UPI: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payouts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receipts</a:t>
            </a:r>
            <a:endParaRPr lang="en-US" sz="750" dirty="0"/>
          </a:p>
        </p:txBody>
      </p:sp>
      <p:sp>
        <p:nvSpPr>
          <p:cNvPr id="33" name="Text 30"/>
          <p:cNvSpPr txBox="1"/>
          <p:nvPr/>
        </p:nvSpPr>
        <p:spPr>
          <a:xfrm>
            <a:off x="6574536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7635240" y="868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AI</a:t>
            </a:r>
            <a:endParaRPr lang="en-US" sz="650" dirty="0"/>
          </a:p>
        </p:txBody>
      </p:sp>
      <p:sp>
        <p:nvSpPr>
          <p:cNvPr id="35" name="Shape 32"/>
          <p:cNvSpPr/>
          <p:nvPr/>
        </p:nvSpPr>
        <p:spPr>
          <a:xfrm>
            <a:off x="7680960" y="1170432"/>
            <a:ext cx="1170432" cy="1234440"/>
          </a:xfrm>
          <a:prstGeom prst="hexagon">
            <a:avLst/>
          </a:prstGeom>
          <a:solidFill>
            <a:srgbClr val="C9A97C"/>
          </a:solidFill>
          <a:ln w="12700">
            <a:solidFill>
              <a:srgbClr val="C9A97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54112" y="1261872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TensorFlow Lite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critical-minerals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(MoM 2023)</a:t>
            </a:r>
            <a:endParaRPr lang="en-US" sz="750" dirty="0"/>
          </a:p>
        </p:txBody>
      </p:sp>
      <p:sp>
        <p:nvSpPr>
          <p:cNvPr id="37" name="Text 34"/>
          <p:cNvSpPr txBox="1"/>
          <p:nvPr/>
        </p:nvSpPr>
        <p:spPr>
          <a:xfrm>
            <a:off x="7808976" y="2011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A0DA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274320" y="2487168"/>
            <a:ext cx="8595360" cy="0"/>
          </a:xfrm>
          <a:prstGeom prst="line">
            <a:avLst/>
          </a:prstGeom>
          <a:noFill/>
          <a:ln w="12700">
            <a:solidFill>
              <a:srgbClr val="C9A97C"/>
            </a:solidFill>
            <a:prstDash val="dash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0" y="2606040"/>
            <a:ext cx="9144000" cy="224028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74320" y="2633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/ UX — collector app (Hindi) and recycler / MoM console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3200400" y="263347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 &amp; Value  ·  authorized recyclers  ·  digital handover receipt  ·  console</a:t>
            </a:r>
            <a:endParaRPr lang="en-US" sz="750" dirty="0"/>
          </a:p>
        </p:txBody>
      </p:sp>
      <p:pic>
        <p:nvPicPr>
          <p:cNvPr id="42" name="Image 1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0040" y="2852928"/>
            <a:ext cx="868680" cy="1709928"/>
          </a:xfrm>
          <a:prstGeom prst="rect">
            <a:avLst/>
          </a:prstGeom>
        </p:spPr>
      </p:pic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80160" y="2852928"/>
            <a:ext cx="868680" cy="1709928"/>
          </a:xfrm>
          <a:prstGeom prst="rect">
            <a:avLst/>
          </a:prstGeom>
        </p:spPr>
      </p:pic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40280" y="2852928"/>
            <a:ext cx="868680" cy="1709928"/>
          </a:xfrm>
          <a:prstGeom prst="rect">
            <a:avLst/>
          </a:prstGeom>
        </p:spPr>
      </p:pic>
      <p:pic>
        <p:nvPicPr>
          <p:cNvPr id="45" name="Image 4" descr="preencoded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3291840" y="2852928"/>
            <a:ext cx="5577840" cy="170992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74320" y="4599432"/>
            <a:ext cx="8595360" cy="201168"/>
          </a:xfrm>
          <a:prstGeom prst="roundRect">
            <a:avLst>
              <a:gd name="adj" fmla="val 36364"/>
            </a:avLst>
          </a:prstGeom>
          <a:solidFill>
            <a:srgbClr val="FFFFFF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365760" y="459943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Deliverables: collector app + recycler module · datasets (materials, prices, recyclers, transactions) · field validation with real collectors (≥ 2 required, 50 planned) · live usability demo · unit-economics report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Fire Orbit — SIH26229 Kabadiwala Connect</dc:title>
  <dc:subject>PptxGenJS Presentation</dc:subject>
  <dc:creator>PptxGenJS</dc:creator>
  <cp:lastModifiedBy>PptxGenJS</cp:lastModifiedBy>
  <cp:revision>1</cp:revision>
  <dcterms:created xsi:type="dcterms:W3CDTF">2026-09-21T02:04:28Z</dcterms:created>
  <dcterms:modified xsi:type="dcterms:W3CDTF">2026-09-21T02:04:28Z</dcterms:modified>
</cp:coreProperties>
</file>