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Informal today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PCB / motherboards</c:v>
                  </c:pt>
                  <c:pt idx="1">
                    <c:v>Copper cables</c:v>
                  </c:pt>
                  <c:pt idx="2">
                    <c:v>Li-ion batteries</c:v>
                  </c:pt>
                  <c:pt idx="3">
                    <c:v>Mobile phones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</c:v>
                </c:pt>
                <c:pt idx="1">
                  <c:v>480</c:v>
                </c:pt>
                <c:pt idx="2">
                  <c:v>90</c:v>
                </c:pt>
                <c:pt idx="3">
                  <c:v>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Kabadiwala Connect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PCB / motherboards</c:v>
                  </c:pt>
                  <c:pt idx="1">
                    <c:v>Copper cables</c:v>
                  </c:pt>
                  <c:pt idx="2">
                    <c:v>Li-ion batteries</c:v>
                  </c:pt>
                  <c:pt idx="3">
                    <c:v>Mobile phones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325</c:v>
                </c:pt>
                <c:pt idx="1">
                  <c:v>560</c:v>
                </c:pt>
                <c:pt idx="2">
                  <c:v>130</c:v>
                </c:pt>
                <c:pt idx="3">
                  <c:v>520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ahulskandagal.github.io/kabadiwala-connect/" TargetMode="External"/><Relationship Id="rId3" Type="http://schemas.openxmlformats.org/officeDocument/2006/relationships/hyperlink" Target="https://github.com/rahulskandagal/kabadiwala-connect" TargetMode="Externa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ahulskandagal.github.io/kabadiwala-connect/" TargetMode="External"/><Relationship Id="rId3" Type="http://schemas.openxmlformats.org/officeDocument/2006/relationships/hyperlink" Target="https://github.com/rahulskandagal/kabadiwala-connect" TargetMode="External"/><Relationship Id="rId1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pcb.nic.in/e-waste/" TargetMode="External"/><Relationship Id="rId3" Type="http://schemas.openxmlformats.org/officeDocument/2006/relationships/hyperlink" Target="https://eprewastecpcb.in" TargetMode="External"/><Relationship Id="rId4" Type="http://schemas.openxmlformats.org/officeDocument/2006/relationships/hyperlink" Target="https://ewastemonitor.info" TargetMode="External"/><Relationship Id="rId5" Type="http://schemas.openxmlformats.org/officeDocument/2006/relationships/hyperlink" Target="https://jnarddc.gov.in" TargetMode="External"/><Relationship Id="rId6" Type="http://schemas.openxmlformats.org/officeDocument/2006/relationships/hyperlink" Target="https://bhashini.gov.in" TargetMode="External"/><Relationship Id="rId7" Type="http://schemas.openxmlformats.org/officeDocument/2006/relationships/hyperlink" Target="https://www.npci.org.in/what-we-do/upi" TargetMode="External"/><Relationship Id="rId8" Type="http://schemas.openxmlformats.org/officeDocument/2006/relationships/hyperlink" Target="https://mines.gov.in" TargetMode="External"/><Relationship Id="rId13" Type="http://schemas.openxmlformats.org/officeDocument/2006/relationships/hyperlink" Target="https://rahulskandagal.github.io/kabadiwala-connect/" TargetMode="External"/><Relationship Id="rId14" Type="http://schemas.openxmlformats.org/officeDocument/2006/relationships/hyperlink" Target="https://github.com/rahulskandagal/kabadiwala-connect" TargetMode="External"/><Relationship Id="rId1" Type="http://schemas.openxmlformats.org/officeDocument/2006/relationships/image" Target="../media/image-6-1.png"/><Relationship Id="rId9" Type="http://schemas.openxmlformats.org/officeDocument/2006/relationships/image" Target="../media/image-6-2.png"/><Relationship Id="rId10" Type="http://schemas.openxmlformats.org/officeDocument/2006/relationships/image" Target="../media/image-6-3.png"/><Relationship Id="rId11" Type="http://schemas.openxmlformats.org/officeDocument/2006/relationships/image" Target="../media/image-6-4.png"/><Relationship Id="rId12" Type="http://schemas.openxmlformats.org/officeDocument/2006/relationships/image" Target="../media/image-6-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859536"/>
            <a:ext cx="3950208" cy="369417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37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274320" y="12344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ID –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SIH26229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Title-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Kabadiwala Connect – Bringing the Informal Collector into the Formal Recycling Chain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&amp; Green Technology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 Category-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ID- </a:t>
            </a:r>
            <a:pPr indent="0" marL="0">
              <a:spcAft>
                <a:spcPts val="1000"/>
              </a:spcAft>
              <a:buNone/>
            </a:pP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 (Registered on portal) - </a:t>
            </a:r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 Orbit</a:t>
            </a:r>
            <a:endParaRPr lang="en-US" sz="1350" dirty="0"/>
          </a:p>
        </p:txBody>
      </p:sp>
      <p:sp>
        <p:nvSpPr>
          <p:cNvPr id="6" name="Text 2"/>
          <p:cNvSpPr txBox="1"/>
          <p:nvPr/>
        </p:nvSpPr>
        <p:spPr>
          <a:xfrm>
            <a:off x="27432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Organisation: Ministry of Mines · Dept: JNARDDC, Nagpur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Kabadiwala Connect: Fair Price · Formal Chain · Full Traceability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Every Scrap Collector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941832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" y="896112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" y="950976"/>
            <a:ext cx="25694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issue: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 generates ≈ 4 million tonnes of e-waste a year and over 90 % moves through kabadiwalas and waste-pickers who sit outside the formal EPR chain — ending in open-air cable burning and acid leaching.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28600" y="2020824"/>
            <a:ext cx="2788920" cy="932688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2880" y="1975104"/>
            <a:ext cx="2788920" cy="932688"/>
          </a:xfrm>
          <a:prstGeom prst="roundRect">
            <a:avLst>
              <a:gd name="adj" fmla="val 11765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2608" y="2029968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important: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Collectors do not know fair prices, authorized recyclers or compliant handover; recyclers cannot source traceable feedstock; India loses lithium, cobalt, neodymium, tantalum, gallium, indium — and workers lose their health.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28600" y="3026664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2880" y="2980944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2608" y="3035808"/>
            <a:ext cx="2569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F2C9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Solution: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Hindi / Marathi, voice-first, offline-capable Android app: photo → instant AI price → audio price board → authorized recycler → GPS-verified handover → cash or UPI, logged in an earnings ledger → EPR record.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37160" y="3931920"/>
            <a:ext cx="1600200" cy="868680"/>
          </a:xfrm>
          <a:prstGeom prst="cloud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" y="4105656"/>
            <a:ext cx="1088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874520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 flipV="1">
            <a:off x="1783080" y="4224528"/>
            <a:ext cx="502920" cy="10972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1874520" y="43708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 — open the link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any Android phone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108960" y="896112"/>
            <a:ext cx="3200400" cy="3904488"/>
          </a:xfrm>
          <a:prstGeom prst="triangle">
            <a:avLst/>
          </a:prstGeom>
          <a:solidFill>
            <a:srgbClr val="F0FDF4"/>
          </a:solidFill>
          <a:ln w="38100">
            <a:solidFill>
              <a:srgbClr val="16A34A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4023360" y="182880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23360" y="1865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4069080" y="20299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Snap-to-Value on-device AI + 🧾 tamper-evident GPS handover ledger — fair price and traceability in one tap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3726180" y="256032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26180" y="25968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FUNCTIONS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3771900" y="276148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Price discovery &amp; 30-day trends   |   ♻️ Authorized-recycler matching &amp; pooled pickup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429000" y="3291840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29000" y="33284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 &amp; TRUST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3474720" y="34930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Hindi / Marathi voice UI · 🔊 audio price board · 📴 offline-first · 💵 cash or UPI with OTP receipt · 📒 earnings ledger · 🛡️ safety guidance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3154680" y="402336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154680" y="40599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DATA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3200400" y="422452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Recycler console · 📊 MoM / CPCB dashboard · 🔗 open price dataset &amp; API · 📄 EPR / Form-6 records · 📍 hotspot map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44805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♻️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543800" y="914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18120" y="896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400800" y="120700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6446520" y="1207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Collector does not know the fair price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616952" y="132588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36992" y="120700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7973568" y="120700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Photo → AI category → live ₹/kg band + trend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6400800" y="184708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46520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link to authorized recyclers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616952" y="196596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936992" y="184708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7973568" y="184708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Matching + pooled pickup in one tap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6400800" y="248716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6446520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proof of formal handover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7616952" y="260604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936992" y="248716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7973568" y="248716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GPS-verified handover, QR trace ID, cash / UPI receipt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6400800" y="3127248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446520" y="31272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literacy, weak network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7616952" y="3246120"/>
            <a:ext cx="292608" cy="219456"/>
          </a:xfrm>
          <a:prstGeom prst="leftRightArrow">
            <a:avLst/>
          </a:prstGeom>
          <a:solidFill>
            <a:srgbClr val="F5D28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936992" y="312724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9" name="Text 56"/>
          <p:cNvSpPr txBox="1"/>
          <p:nvPr/>
        </p:nvSpPr>
        <p:spPr>
          <a:xfrm>
            <a:off x="7973568" y="3127248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Voice-first Hindi / Marathi; works offline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6400800" y="3767328"/>
            <a:ext cx="2542032" cy="1033272"/>
          </a:xfrm>
          <a:prstGeom prst="roundRect">
            <a:avLst>
              <a:gd name="adj" fmla="val 4425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73952" y="37856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Covers all 12 PS requirements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6473952" y="398678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Photo → AI valuation</a:t>
            </a:r>
            <a:endParaRPr lang="en-US" sz="580" dirty="0"/>
          </a:p>
        </p:txBody>
      </p:sp>
      <p:sp>
        <p:nvSpPr>
          <p:cNvPr id="63" name="Text 60"/>
          <p:cNvSpPr txBox="1"/>
          <p:nvPr/>
        </p:nvSpPr>
        <p:spPr>
          <a:xfrm>
            <a:off x="7735824" y="398678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Price history dataset</a:t>
            </a:r>
            <a:endParaRPr lang="en-US" sz="580" dirty="0"/>
          </a:p>
        </p:txBody>
      </p:sp>
      <p:sp>
        <p:nvSpPr>
          <p:cNvPr id="64" name="Text 61"/>
          <p:cNvSpPr txBox="1"/>
          <p:nvPr/>
        </p:nvSpPr>
        <p:spPr>
          <a:xfrm>
            <a:off x="6473952" y="4119372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End-to-end traceability</a:t>
            </a:r>
            <a:endParaRPr lang="en-US" sz="580" dirty="0"/>
          </a:p>
        </p:txBody>
      </p:sp>
      <p:sp>
        <p:nvSpPr>
          <p:cNvPr id="65" name="Text 62"/>
          <p:cNvSpPr txBox="1"/>
          <p:nvPr/>
        </p:nvSpPr>
        <p:spPr>
          <a:xfrm>
            <a:off x="7735824" y="4119372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Recycler directory + matching</a:t>
            </a:r>
            <a:endParaRPr lang="en-US" sz="580" dirty="0"/>
          </a:p>
        </p:txBody>
      </p:sp>
      <p:sp>
        <p:nvSpPr>
          <p:cNvPr id="66" name="Text 63"/>
          <p:cNvSpPr txBox="1"/>
          <p:nvPr/>
        </p:nvSpPr>
        <p:spPr>
          <a:xfrm>
            <a:off x="6473952" y="4251960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Audio price boards</a:t>
            </a:r>
            <a:endParaRPr lang="en-US" sz="580" dirty="0"/>
          </a:p>
        </p:txBody>
      </p:sp>
      <p:sp>
        <p:nvSpPr>
          <p:cNvPr id="67" name="Text 64"/>
          <p:cNvSpPr txBox="1"/>
          <p:nvPr/>
        </p:nvSpPr>
        <p:spPr>
          <a:xfrm>
            <a:off x="7735824" y="4251960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GPS handover records</a:t>
            </a:r>
            <a:endParaRPr lang="en-US" sz="580" dirty="0"/>
          </a:p>
        </p:txBody>
      </p:sp>
      <p:sp>
        <p:nvSpPr>
          <p:cNvPr id="68" name="Text 65"/>
          <p:cNvSpPr txBox="1"/>
          <p:nvPr/>
        </p:nvSpPr>
        <p:spPr>
          <a:xfrm>
            <a:off x="6473952" y="438454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Earnings ledger / history</a:t>
            </a:r>
            <a:endParaRPr lang="en-US" sz="580" dirty="0"/>
          </a:p>
        </p:txBody>
      </p:sp>
      <p:sp>
        <p:nvSpPr>
          <p:cNvPr id="69" name="Text 66"/>
          <p:cNvSpPr txBox="1"/>
          <p:nvPr/>
        </p:nvSpPr>
        <p:spPr>
          <a:xfrm>
            <a:off x="7735824" y="438454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Safety guidance built in</a:t>
            </a:r>
            <a:endParaRPr lang="en-US" sz="580" dirty="0"/>
          </a:p>
        </p:txBody>
      </p:sp>
      <p:sp>
        <p:nvSpPr>
          <p:cNvPr id="70" name="Text 67"/>
          <p:cNvSpPr txBox="1"/>
          <p:nvPr/>
        </p:nvSpPr>
        <p:spPr>
          <a:xfrm>
            <a:off x="6473952" y="4517136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Hindi &amp; Marathi</a:t>
            </a:r>
            <a:endParaRPr lang="en-US" sz="580" dirty="0"/>
          </a:p>
        </p:txBody>
      </p:sp>
      <p:sp>
        <p:nvSpPr>
          <p:cNvPr id="71" name="Text 68"/>
          <p:cNvSpPr txBox="1"/>
          <p:nvPr/>
        </p:nvSpPr>
        <p:spPr>
          <a:xfrm>
            <a:off x="7735824" y="4517136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Offline-first</a:t>
            </a:r>
            <a:endParaRPr lang="en-US" sz="580" dirty="0"/>
          </a:p>
        </p:txBody>
      </p:sp>
      <p:sp>
        <p:nvSpPr>
          <p:cNvPr id="72" name="Text 69"/>
          <p:cNvSpPr txBox="1"/>
          <p:nvPr/>
        </p:nvSpPr>
        <p:spPr>
          <a:xfrm>
            <a:off x="6473952" y="46497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Entry-level Android</a:t>
            </a:r>
            <a:endParaRPr lang="en-US" sz="580" dirty="0"/>
          </a:p>
        </p:txBody>
      </p:sp>
      <p:sp>
        <p:nvSpPr>
          <p:cNvPr id="73" name="Text 70"/>
          <p:cNvSpPr txBox="1"/>
          <p:nvPr/>
        </p:nvSpPr>
        <p:spPr>
          <a:xfrm>
            <a:off x="7735824" y="4649724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Cash transactions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82880" y="868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PROCESS OF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78992" y="203911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1527048" y="1828800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2704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15819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2097211" y="2157984"/>
            <a:ext cx="420624" cy="420624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97211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581843" y="2185416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581843" y="2350008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₹/kg band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2097211" y="2816352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097211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♻️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581843" y="2843784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2581843" y="3008376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recycler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1527048" y="3145536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2704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3602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37673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· QR · weight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956885" y="2816352"/>
            <a:ext cx="420624" cy="4206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6885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82880" y="2843784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182880" y="3008376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or UPI + receipt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956885" y="2157984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56885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📒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82880" y="2185416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182880" y="2350008"/>
            <a:ext cx="709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· EPR</a:t>
            </a:r>
            <a:endParaRPr lang="en-US" sz="650" dirty="0"/>
          </a:p>
        </p:txBody>
      </p:sp>
      <p:sp>
        <p:nvSpPr>
          <p:cNvPr id="35" name="Text 32"/>
          <p:cNvSpPr txBox="1"/>
          <p:nvPr/>
        </p:nvSpPr>
        <p:spPr>
          <a:xfrm>
            <a:off x="14630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♻️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137160" y="4041648"/>
            <a:ext cx="1463040" cy="758952"/>
          </a:xfrm>
          <a:prstGeom prst="cloud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71246" y="4193438"/>
            <a:ext cx="994867" cy="45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214884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₹6–8 k phone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 flipV="1">
            <a:off x="1645920" y="4315968"/>
            <a:ext cx="457200" cy="914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3429000" y="896112"/>
            <a:ext cx="2834640" cy="17830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593592" y="100584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59359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3465576" y="1517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app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queue</a:t>
            </a:r>
            <a:endParaRPr lang="en-US" sz="580" dirty="0"/>
          </a:p>
        </p:txBody>
      </p:sp>
      <p:sp>
        <p:nvSpPr>
          <p:cNvPr id="44" name="Shape 41"/>
          <p:cNvSpPr/>
          <p:nvPr/>
        </p:nvSpPr>
        <p:spPr>
          <a:xfrm>
            <a:off x="4069080" y="12344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4288536" y="100584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28853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4160520" y="1517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· price engine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matching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4764024" y="12344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4983480" y="100584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983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855464" y="1517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Recycler console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· pickups</a:t>
            </a:r>
            <a:endParaRPr lang="en-US" sz="580" dirty="0"/>
          </a:p>
        </p:txBody>
      </p:sp>
      <p:sp>
        <p:nvSpPr>
          <p:cNvPr id="52" name="Shape 49"/>
          <p:cNvSpPr/>
          <p:nvPr/>
        </p:nvSpPr>
        <p:spPr>
          <a:xfrm>
            <a:off x="5458968" y="12344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5678424" y="10058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67842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🏛️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5550408" y="1517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 / CPCB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EPR</a:t>
            </a:r>
            <a:endParaRPr lang="en-US" sz="580" dirty="0"/>
          </a:p>
        </p:txBody>
      </p:sp>
      <p:sp>
        <p:nvSpPr>
          <p:cNvPr id="56" name="Shape 53"/>
          <p:cNvSpPr/>
          <p:nvPr/>
        </p:nvSpPr>
        <p:spPr>
          <a:xfrm>
            <a:off x="3520440" y="2011680"/>
            <a:ext cx="2651760" cy="603504"/>
          </a:xfrm>
          <a:prstGeom prst="roundRect">
            <a:avLst>
              <a:gd name="adj" fmla="val 6061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584448" y="2011680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data core: 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TFLite MobileNet classifier (12 e-waste categories, ~4 MB) · price engine = recycler quotes + LME/MCX Cu/Al indices + verified transactions, median &amp; 30-day trend · matching = distance × price × capacity × rating · handover records SHA-256 hash-chained → tamper-evident EPR trail.</a:t>
            </a:r>
            <a:endParaRPr lang="en-US" sz="630" dirty="0"/>
          </a:p>
        </p:txBody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761488"/>
            <a:ext cx="2834640" cy="1655064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3429000" y="44439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app: Snap &amp; Value + audio price board → authorized recyclers → GPS handover receipt (cash / UPI) with earnings ledger &amp; safety tip</a:t>
            </a:r>
            <a:endParaRPr lang="en-US" sz="620" dirty="0"/>
          </a:p>
        </p:txBody>
      </p:sp>
      <p:sp>
        <p:nvSpPr>
          <p:cNvPr id="60" name="Text 56"/>
          <p:cNvSpPr txBox="1"/>
          <p:nvPr/>
        </p:nvSpPr>
        <p:spPr>
          <a:xfrm>
            <a:off x="640080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61" name="Shape 57"/>
          <p:cNvSpPr/>
          <p:nvPr/>
        </p:nvSpPr>
        <p:spPr>
          <a:xfrm>
            <a:off x="6629400" y="1261872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6B7A1E"/>
          </a:solidFill>
          <a:ln w="12700">
            <a:solidFill>
              <a:srgbClr val="6B7A1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6382512" y="133502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A1E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382512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300" dirty="0"/>
          </a:p>
        </p:txBody>
      </p:sp>
      <p:sp>
        <p:nvSpPr>
          <p:cNvPr id="64" name="Text 60"/>
          <p:cNvSpPr txBox="1"/>
          <p:nvPr/>
        </p:nvSpPr>
        <p:spPr>
          <a:xfrm>
            <a:off x="6903720" y="1307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950" dirty="0"/>
          </a:p>
        </p:txBody>
      </p:sp>
      <p:sp>
        <p:nvSpPr>
          <p:cNvPr id="65" name="Text 61"/>
          <p:cNvSpPr txBox="1"/>
          <p:nvPr/>
        </p:nvSpPr>
        <p:spPr>
          <a:xfrm>
            <a:off x="6903720" y="1508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(Android 8+, 1 GB RAM), SQLite + WorkManager offline sync, TensorFlow Lite on-device vision</a:t>
            </a:r>
            <a:endParaRPr lang="en-US" sz="650" dirty="0"/>
          </a:p>
        </p:txBody>
      </p:sp>
      <p:sp>
        <p:nvSpPr>
          <p:cNvPr id="66" name="Shape 62"/>
          <p:cNvSpPr/>
          <p:nvPr/>
        </p:nvSpPr>
        <p:spPr>
          <a:xfrm>
            <a:off x="6629400" y="1975104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7" name="Shape 63"/>
          <p:cNvSpPr/>
          <p:nvPr/>
        </p:nvSpPr>
        <p:spPr>
          <a:xfrm>
            <a:off x="6382512" y="204825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B5A2B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638251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1300" dirty="0"/>
          </a:p>
        </p:txBody>
      </p:sp>
      <p:sp>
        <p:nvSpPr>
          <p:cNvPr id="69" name="Text 65"/>
          <p:cNvSpPr txBox="1"/>
          <p:nvPr/>
        </p:nvSpPr>
        <p:spPr>
          <a:xfrm>
            <a:off x="6903720" y="2020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&amp; safety</a:t>
            </a:r>
            <a:endParaRPr lang="en-US" sz="950" dirty="0"/>
          </a:p>
        </p:txBody>
      </p:sp>
      <p:sp>
        <p:nvSpPr>
          <p:cNvPr id="70" name="Text 66"/>
          <p:cNvSpPr txBox="1"/>
          <p:nvPr/>
        </p:nvSpPr>
        <p:spPr>
          <a:xfrm>
            <a:off x="6903720" y="2221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Bhashini ASR / TTS (Hindi, Marathi), audio price boards, icon-first UI, built-in hazardous-handling guidance, SMS / IVR fallback</a:t>
            </a:r>
            <a:endParaRPr lang="en-US" sz="650" dirty="0"/>
          </a:p>
        </p:txBody>
      </p:sp>
      <p:sp>
        <p:nvSpPr>
          <p:cNvPr id="71" name="Shape 67"/>
          <p:cNvSpPr/>
          <p:nvPr/>
        </p:nvSpPr>
        <p:spPr>
          <a:xfrm>
            <a:off x="6629400" y="2688336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2" name="Shape 68"/>
          <p:cNvSpPr/>
          <p:nvPr/>
        </p:nvSpPr>
        <p:spPr>
          <a:xfrm>
            <a:off x="6382512" y="276148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2D26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6382512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300" dirty="0"/>
          </a:p>
        </p:txBody>
      </p:sp>
      <p:sp>
        <p:nvSpPr>
          <p:cNvPr id="74" name="Text 70"/>
          <p:cNvSpPr txBox="1"/>
          <p:nvPr/>
        </p:nvSpPr>
        <p:spPr>
          <a:xfrm>
            <a:off x="6903720" y="2734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50" dirty="0"/>
          </a:p>
        </p:txBody>
      </p:sp>
      <p:sp>
        <p:nvSpPr>
          <p:cNvPr id="75" name="Text 71"/>
          <p:cNvSpPr txBox="1"/>
          <p:nvPr/>
        </p:nvSpPr>
        <p:spPr>
          <a:xfrm>
            <a:off x="6903720" y="2935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PostgreSQL / PostGIS · price engine · matching service · hash-chained handover ledger</a:t>
            </a:r>
            <a:endParaRPr lang="en-US" sz="650" dirty="0"/>
          </a:p>
        </p:txBody>
      </p:sp>
      <p:sp>
        <p:nvSpPr>
          <p:cNvPr id="76" name="Shape 72"/>
          <p:cNvSpPr/>
          <p:nvPr/>
        </p:nvSpPr>
        <p:spPr>
          <a:xfrm>
            <a:off x="6629400" y="3401568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7" name="Shape 73"/>
          <p:cNvSpPr/>
          <p:nvPr/>
        </p:nvSpPr>
        <p:spPr>
          <a:xfrm>
            <a:off x="6382512" y="3474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6382512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300" dirty="0"/>
          </a:p>
        </p:txBody>
      </p:sp>
      <p:sp>
        <p:nvSpPr>
          <p:cNvPr id="79" name="Text 75"/>
          <p:cNvSpPr txBox="1"/>
          <p:nvPr/>
        </p:nvSpPr>
        <p:spPr>
          <a:xfrm>
            <a:off x="6903720" y="3447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ledger</a:t>
            </a:r>
            <a:endParaRPr lang="en-US" sz="950" dirty="0"/>
          </a:p>
        </p:txBody>
      </p:sp>
      <p:sp>
        <p:nvSpPr>
          <p:cNvPr id="80" name="Text 76"/>
          <p:cNvSpPr txBox="1"/>
          <p:nvPr/>
        </p:nvSpPr>
        <p:spPr>
          <a:xfrm>
            <a:off x="6903720" y="36484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or UPI (NPCI) — both logged with OTP-confirmed receipt; per-collector earnings ledger builds a financial history</a:t>
            </a:r>
            <a:endParaRPr lang="en-US" sz="650" dirty="0"/>
          </a:p>
        </p:txBody>
      </p:sp>
      <p:sp>
        <p:nvSpPr>
          <p:cNvPr id="81" name="Shape 77"/>
          <p:cNvSpPr/>
          <p:nvPr/>
        </p:nvSpPr>
        <p:spPr>
          <a:xfrm>
            <a:off x="6629400" y="4114800"/>
            <a:ext cx="2331720" cy="603504"/>
          </a:xfrm>
          <a:prstGeom prst="roundRect">
            <a:avLst>
              <a:gd name="adj" fmla="val 3030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82" name="Shape 78"/>
          <p:cNvSpPr/>
          <p:nvPr/>
        </p:nvSpPr>
        <p:spPr>
          <a:xfrm>
            <a:off x="6382512" y="418795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638251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1300" dirty="0"/>
          </a:p>
        </p:txBody>
      </p:sp>
      <p:sp>
        <p:nvSpPr>
          <p:cNvPr id="84" name="Text 80"/>
          <p:cNvSpPr txBox="1"/>
          <p:nvPr/>
        </p:nvSpPr>
        <p:spPr>
          <a:xfrm>
            <a:off x="690372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Consoles &amp; data</a:t>
            </a:r>
            <a:endParaRPr lang="en-US" sz="950" dirty="0"/>
          </a:p>
        </p:txBody>
      </p:sp>
      <p:sp>
        <p:nvSpPr>
          <p:cNvPr id="85" name="Text 81"/>
          <p:cNvSpPr txBox="1"/>
          <p:nvPr/>
        </p:nvSpPr>
        <p:spPr>
          <a:xfrm>
            <a:off x="6903720" y="4361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dashboards (recycler, MoM / CPCB), open price-dataset API, EPR / Form-6 export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517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1576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60904" y="786384"/>
            <a:ext cx="219456" cy="219456"/>
          </a:xfrm>
          <a:prstGeom prst="ellipse">
            <a:avLst/>
          </a:prstGeom>
          <a:solidFill>
            <a:srgbClr val="DC2626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" y="9692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ANALYSIS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★★★★½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" y="157276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is ready: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on-device image AI, offline sync, UPI and Bhashini are proven, free / open building blocks — no research risk.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356616" y="2194560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exists: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CPCB list of EPR-registered recyclers; MCX / LME metal indices; recycler quotes seed the price dataset.</a:t>
            </a:r>
            <a:endParaRPr lang="en-US" sz="860" dirty="0"/>
          </a:p>
        </p:txBody>
      </p:sp>
      <p:sp>
        <p:nvSpPr>
          <p:cNvPr id="17" name="Text 14"/>
          <p:cNvSpPr txBox="1"/>
          <p:nvPr/>
        </p:nvSpPr>
        <p:spPr>
          <a:xfrm>
            <a:off x="356616" y="2816352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Low-end friendly: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APK &lt; 15 MB, Android 8+, works on ₹6–8 k phones and 2G; SMS / IVR fallback.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356616" y="3438144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Field-first: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 asks for ≥ 2 real collectors — we plan 50 collectors + 3 authorized recyclers in Nagpur (JNARDDC's city); the PWA is live today for the usability demo.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319125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5468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4184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86984" y="786384"/>
            <a:ext cx="219456" cy="219456"/>
          </a:xfrm>
          <a:prstGeom prst="ellipse">
            <a:avLst/>
          </a:prstGeom>
          <a:solidFill>
            <a:srgbClr val="B91C1C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46120" y="9692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VIABILITY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246120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3282696" y="157276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Incentives align: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collector earns more (fair price, no middleman cut); recycler gets traceable feedstock; MoM gets data.</a:t>
            </a:r>
            <a:endParaRPr lang="en-US" sz="860" dirty="0"/>
          </a:p>
        </p:txBody>
      </p:sp>
      <p:sp>
        <p:nvSpPr>
          <p:cNvPr id="26" name="Text 23"/>
          <p:cNvSpPr txBox="1"/>
          <p:nvPr/>
        </p:nvSpPr>
        <p:spPr>
          <a:xfrm>
            <a:off x="3282696" y="2194560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economics: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PCB informal ≈ ₹250/kg vs formal ₹310 + ₹15 incentive → ≈ +30 % per kg (pilot target, to be measured).</a:t>
            </a:r>
            <a:endParaRPr lang="en-US" sz="860" dirty="0"/>
          </a:p>
        </p:txBody>
      </p:sp>
      <p:sp>
        <p:nvSpPr>
          <p:cNvPr id="27" name="Text 24"/>
          <p:cNvSpPr txBox="1"/>
          <p:nvPr/>
        </p:nvSpPr>
        <p:spPr>
          <a:xfrm>
            <a:off x="3282696" y="2816352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by design: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cash stays possible (OTP receipt), visible price band, dispute button; only a phone number — no sensitive personal data.</a:t>
            </a:r>
            <a:endParaRPr lang="en-US" sz="860" dirty="0"/>
          </a:p>
        </p:txBody>
      </p:sp>
      <p:sp>
        <p:nvSpPr>
          <p:cNvPr id="28" name="Text 25"/>
          <p:cNvSpPr txBox="1"/>
          <p:nvPr/>
        </p:nvSpPr>
        <p:spPr>
          <a:xfrm>
            <a:off x="3282696" y="3438144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Risks handled: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recycler adoption → onboarding kit + EPR credits; price gaming → multi-source median; connectivity → offline queue + SMS.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117336" y="932688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5C4A32"/>
          </a:solidFill>
          <a:ln w="12700">
            <a:solidFill>
              <a:srgbClr val="5C4A3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80760" y="896112"/>
            <a:ext cx="2788920" cy="3127248"/>
          </a:xfrm>
          <a:prstGeom prst="roundRect">
            <a:avLst>
              <a:gd name="adj" fmla="val 984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67928" y="914400"/>
            <a:ext cx="109728" cy="27432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13064" y="786384"/>
            <a:ext cx="219456" cy="219456"/>
          </a:xfrm>
          <a:prstGeom prst="ellipse">
            <a:avLst/>
          </a:prstGeom>
          <a:solidFill>
            <a:srgbClr val="DC2626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172200" y="9692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&amp; SCALE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6172200" y="12435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3C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💼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6208776" y="157276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1–2 % platform fee on recycler payouts; EPR compliance reports for PROs / producers; price-index data services.</a:t>
            </a:r>
            <a:endParaRPr lang="en-US" sz="860" dirty="0"/>
          </a:p>
        </p:txBody>
      </p:sp>
      <p:sp>
        <p:nvSpPr>
          <p:cNvPr id="36" name="Text 33"/>
          <p:cNvSpPr txBox="1"/>
          <p:nvPr/>
        </p:nvSpPr>
        <p:spPr>
          <a:xfrm>
            <a:off x="6208776" y="2194560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fit: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E-Waste (Management) Rules 2022 EPR framework; automated Form-6; Mission LiFE &amp; Swachh Bharat alignment.</a:t>
            </a:r>
            <a:endParaRPr lang="en-US" sz="860" dirty="0"/>
          </a:p>
        </p:txBody>
      </p:sp>
      <p:sp>
        <p:nvSpPr>
          <p:cNvPr id="37" name="Text 34"/>
          <p:cNvSpPr txBox="1"/>
          <p:nvPr/>
        </p:nvSpPr>
        <p:spPr>
          <a:xfrm>
            <a:off x="6208776" y="2816352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path: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Nagpur → Maharashtra (Marathi) → Hindi belt; extend to plastics &amp; metals; ULB and PRO partnerships.</a:t>
            </a:r>
            <a:endParaRPr lang="en-US" sz="860" dirty="0"/>
          </a:p>
        </p:txBody>
      </p:sp>
      <p:sp>
        <p:nvSpPr>
          <p:cNvPr id="38" name="Text 35"/>
          <p:cNvSpPr txBox="1"/>
          <p:nvPr/>
        </p:nvSpPr>
        <p:spPr>
          <a:xfrm>
            <a:off x="6208776" y="3438144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u="sng" dirty="0">
                <a:solidFill>
                  <a:srgbClr val="FFF7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Roadmap: </a:t>
            </a:r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4-week MVP + pilot → finale: 500 collectors, price API, CPCB integration → national roll-out with PROs.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228600" y="4114800"/>
            <a:ext cx="8686800" cy="65836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" y="4443984"/>
            <a:ext cx="78638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822960" y="4370832"/>
            <a:ext cx="146304" cy="14630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241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Idea + mockups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10241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field-survey plan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2880360" y="4370832"/>
            <a:ext cx="146304" cy="14630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0815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4 weeks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30815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app · 50-collector Nagpur pilot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4937760" y="4370832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1389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finale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1389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recycler console · price API · unit economics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6995160" y="4370832"/>
            <a:ext cx="146304" cy="14630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1963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7196328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CPCB EPR portal · PRO partners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841248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♻️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25880" y="1645920"/>
            <a:ext cx="2377440" cy="2377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039112" y="2359152"/>
            <a:ext cx="950976" cy="9509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2423160"/>
            <a:ext cx="0" cy="82296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272491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2532888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1782794" y="1611327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82794" y="16113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" y="1510743"/>
            <a:ext cx="1407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income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37160" y="1711911"/>
            <a:ext cx="1407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+25–35 % per kg via fair prices; earnings ledger builds a financial history for credit.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1231098" y="2234905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1098" y="223490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" y="2134321"/>
            <a:ext cx="8561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Formalisation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37160" y="2335489"/>
            <a:ext cx="856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lot enters the EPR chain with a GPS-stamped, traceable record.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231098" y="3086903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231098" y="308690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" y="2986319"/>
            <a:ext cx="8561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Safer work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37160" y="3187487"/>
            <a:ext cx="856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Pickup + training replace open burning and acid leaching.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1782794" y="3710481"/>
            <a:ext cx="347472" cy="347472"/>
          </a:xfrm>
          <a:prstGeom prst="ellipse">
            <a:avLst/>
          </a:prstGeom>
          <a:solidFill>
            <a:srgbClr val="D9C7A6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782794" y="371048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37160" y="3609897"/>
            <a:ext cx="14078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1E5A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minerals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37160" y="3811065"/>
            <a:ext cx="1407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Li, Co, Nd, Ta, Ga, In recovered instead of lost to backyard processing.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2898934" y="1611327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898934" y="16113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383566" y="1510743"/>
            <a:ext cx="1645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3383566" y="1711911"/>
            <a:ext cx="1645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Dignity, digital identity and records for lakhs of informal workers.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3450630" y="2234905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50630" y="223490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3935262" y="2134321"/>
            <a:ext cx="1093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3935262" y="2335489"/>
            <a:ext cx="1093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Recyclers get compliant feedstock; producers earn EPR credits.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450630" y="3086903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50630" y="308690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3935262" y="2986319"/>
            <a:ext cx="1093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Environmental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3935262" y="3187487"/>
            <a:ext cx="1093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toxic burning / leaching; higher material recovery rates.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2898934" y="3710481"/>
            <a:ext cx="347472" cy="34747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898934" y="371048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3383566" y="3609897"/>
            <a:ext cx="1645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u="sng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3383566" y="3811065"/>
            <a:ext cx="1645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MoM / CPCB see real-time flows, prices and hotspots.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138928" y="896112"/>
            <a:ext cx="73152" cy="3886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349240" y="8961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earnings ₹ / kg — informal today vs Kabadiwala Connect</a:t>
            </a:r>
            <a:endParaRPr lang="en-US" sz="850" dirty="0"/>
          </a:p>
        </p:txBody>
      </p:sp>
      <p:graphicFrame>
        <p:nvGraphicFramePr>
          <p:cNvPr id="48" name="Chart 0" descr=""/>
          <p:cNvGraphicFramePr/>
          <p:nvPr/>
        </p:nvGraphicFramePr>
        <p:xfrm>
          <a:off x="5303520" y="1115568"/>
          <a:ext cx="36118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9" name="Text 45"/>
          <p:cNvSpPr txBox="1"/>
          <p:nvPr/>
        </p:nvSpPr>
        <p:spPr>
          <a:xfrm>
            <a:off x="534924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pilot model (fair price + incentive, pooled pickup) — to be validated in the Nagpur field study.</a:t>
            </a:r>
            <a:endParaRPr lang="en-US" sz="600" dirty="0"/>
          </a:p>
        </p:txBody>
      </p:sp>
      <p:sp>
        <p:nvSpPr>
          <p:cNvPr id="50" name="Text 46"/>
          <p:cNvSpPr txBox="1"/>
          <p:nvPr/>
        </p:nvSpPr>
        <p:spPr>
          <a:xfrm>
            <a:off x="5349240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backyard burning to a traceable, fairly-paid chain</a:t>
            </a:r>
            <a:endParaRPr lang="en-US" sz="100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566160"/>
            <a:ext cx="530352" cy="1042416"/>
          </a:xfrm>
          <a:prstGeom prst="rect">
            <a:avLst/>
          </a:prstGeom>
        </p:spPr>
      </p:pic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566160"/>
            <a:ext cx="530352" cy="1042416"/>
          </a:xfrm>
          <a:prstGeom prst="rect">
            <a:avLst/>
          </a:prstGeom>
        </p:spPr>
      </p:pic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66560" y="3566160"/>
            <a:ext cx="2148840" cy="1042416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5349240" y="463600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recycler match  ·  digital receipt  ·  recycler / MoM console (mockups)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10515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109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Orbit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91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078992"/>
            <a:ext cx="8595360" cy="0"/>
          </a:xfrm>
          <a:prstGeom prst="line">
            <a:avLst/>
          </a:prstGeom>
          <a:noFill/>
          <a:ln w="12700">
            <a:solidFill>
              <a:srgbClr val="C9A97C"/>
            </a:solidFill>
            <a:prstDash val="dash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2860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framework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27432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(Mgmt)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2022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MoEFCC / CPCB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recycler database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150876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8191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CPCB EPR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portal: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recyclers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163677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69748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of problem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274320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1635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E-waste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2024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 / ITU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287121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partner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397764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5079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JNARDDC,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Mines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10565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16636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AI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521208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8523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Bhashini: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/ Marathi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&amp; TTS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534009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644652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1967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NPCI UPI: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payouts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receipts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657453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635240" y="868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7680960" y="1170432"/>
            <a:ext cx="1170432" cy="1234440"/>
          </a:xfrm>
          <a:prstGeom prst="hexagon">
            <a:avLst/>
          </a:prstGeom>
          <a:solidFill>
            <a:srgbClr val="C9A97C"/>
          </a:solidFill>
          <a:ln w="12700">
            <a:solidFill>
              <a:srgbClr val="C9A97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54112" y="1261872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Lite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critical-minerals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(MoM 2023)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7808976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74320" y="2487168"/>
            <a:ext cx="8595360" cy="0"/>
          </a:xfrm>
          <a:prstGeom prst="line">
            <a:avLst/>
          </a:prstGeom>
          <a:noFill/>
          <a:ln w="12700">
            <a:solidFill>
              <a:srgbClr val="C9A97C"/>
            </a:solidFill>
            <a:prstDash val="dash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0" y="2606040"/>
            <a:ext cx="9144000" cy="22402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74320" y="2633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 — working collector app (Hindi) and recycler / MoM console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3200400" y="263347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&amp; Value  ·  authorized recyclers  ·  digital handover receipt  ·  console</a:t>
            </a:r>
            <a:endParaRPr lang="en-US" sz="75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2852928"/>
            <a:ext cx="868680" cy="1709928"/>
          </a:xfrm>
          <a:prstGeom prst="rect">
            <a:avLst/>
          </a:prstGeom>
        </p:spPr>
      </p:pic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0160" y="2852928"/>
            <a:ext cx="868680" cy="1709928"/>
          </a:xfrm>
          <a:prstGeom prst="rect">
            <a:avLst/>
          </a:prstGeom>
        </p:spPr>
      </p:pic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0280" y="2852928"/>
            <a:ext cx="868680" cy="1709928"/>
          </a:xfrm>
          <a:prstGeom prst="rect">
            <a:avLst/>
          </a:prstGeom>
        </p:spPr>
      </p:pic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291840" y="2852928"/>
            <a:ext cx="5577840" cy="170992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74320" y="4553712"/>
            <a:ext cx="85953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(PWA):  </a:t>
            </a:r>
            <a:pPr algn="ctr" indent="0" marL="0">
              <a:buNone/>
            </a:pPr>
            <a:r>
              <a:rPr lang="en-US" sz="800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https://rahulskandagal.github.io/kabadiwala-connect/</a:t>
            </a:r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Source code:  </a:t>
            </a:r>
            <a:pPr algn="ctr" indent="0" marL="0">
              <a:buNone/>
            </a:pPr>
            <a:r>
              <a:rPr lang="en-US" sz="800" u="sng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https://github.com/rahulskandagal/kabadiwala-connect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Orbit — SIH26229 Kabadiwala Connect</dc:title>
  <dc:subject>PptxGenJS Presentation</dc:subject>
  <dc:creator>PptxGenJS</dc:creator>
  <cp:lastModifiedBy>PptxGenJS</cp:lastModifiedBy>
  <cp:revision>1</cp:revision>
  <dcterms:created xsi:type="dcterms:W3CDTF">2026-09-21T02:49:53Z</dcterms:created>
  <dcterms:modified xsi:type="dcterms:W3CDTF">2026-09-21T02:49:53Z</dcterms:modified>
</cp:coreProperties>
</file>