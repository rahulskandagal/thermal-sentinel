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placeholders in the bottom card with your team details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45720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4297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ThermalSentinel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  ·  IDEA SUBMISSION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AI-Based Detection and Classification of Industrial Fires and Persistent Thermal Sources Using NASA FIRMS, OSM &amp; Satellite Data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3063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Technical Research Organisation (NTRO)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3063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0632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90372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11831"/>
          </a:solidFill>
          <a:ln w="9525">
            <a:solidFill>
              <a:srgbClr val="243055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0080" y="40233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FireOrbit   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&lt;NAME&gt;      </a:t>
            </a:r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&lt;COLLEGE&gt;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/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FIRMS says where it is hot. We say what is burning — and whether it should be.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 · NTRO · Disaster Management · Software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77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627632"/>
            <a:ext cx="36576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streams ~1 lakh thermal anomalies a day — a refinery flare, a steel plant, a coal-seam fire, a stubble burn and a forest fire all look identical.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Responders waste effort on routine industrial heat while a real industrial fire hides among thousands of "normal" hotspots.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 — ThermalSentinel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82112"/>
            <a:ext cx="365760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FIRMS (VIIRS 375 m / MODIS) with OSM industrial infrastructure, OSM land cover and satellite imagery links.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every detection into 6 classes; builds a live registry of persistent thermal sources with a persistence score.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FRP anomalies at known sources → industrial-fire / explosion alerts instead of routine heat.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reasons for every label; GeoJSON API + GIS dashboard.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234440"/>
            <a:ext cx="4023360" cy="22631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pic>
      <p:sp>
        <p:nvSpPr>
          <p:cNvPr id="13" name="Text 10"/>
          <p:cNvSpPr txBox="1"/>
          <p:nvPr/>
        </p:nvSpPr>
        <p:spPr>
          <a:xfrm>
            <a:off x="4663440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prototype: 22,179 detections classified, 114 persistent sources, 138 incident candidates (demo archive, Mar–May 2025)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709160" y="4005072"/>
            <a:ext cx="128016" cy="128016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92040" y="3931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fire / process heat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720840" y="4005072"/>
            <a:ext cx="128016" cy="128016"/>
          </a:xfrm>
          <a:prstGeom prst="ellipse">
            <a:avLst/>
          </a:prstGeom>
          <a:solidFill>
            <a:srgbClr val="E6B800"/>
          </a:solidFill>
          <a:ln w="12700">
            <a:solidFill>
              <a:srgbClr val="E6B8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03720" y="39319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flare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709160" y="4242816"/>
            <a:ext cx="128016" cy="128016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92040" y="416966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/ coal-seam fire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0840" y="4242816"/>
            <a:ext cx="128016" cy="128016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416966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Agricultural residue burning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709160" y="4480560"/>
            <a:ext cx="128016" cy="12801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92040" y="4407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Wildfire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720840" y="4480560"/>
            <a:ext cx="128016" cy="128016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903720" y="4407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/ urban waste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 · NTRO · Disaster Management · Software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554480" cy="18745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371600"/>
            <a:ext cx="310896" cy="310896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3716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783080"/>
            <a:ext cx="1325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Area API (VIIRS SNPP/NOAA-20/21, MODIS), 10-day chunks, NRT + archive CSV; de-dup overlapping passes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29968" y="2084832"/>
            <a:ext cx="91440" cy="146304"/>
          </a:xfrm>
          <a:prstGeom prst="rtTriangle">
            <a:avLst/>
          </a:prstGeom>
          <a:solidFill>
            <a:srgbClr val="B8C0DA"/>
          </a:solidFill>
          <a:ln w="12700">
            <a:solidFill>
              <a:srgbClr val="B8C0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39696" y="1234440"/>
            <a:ext cx="1554480" cy="18745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76856" y="1371600"/>
            <a:ext cx="310896" cy="310896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76856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642616" y="13716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&amp; persist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276856" y="1783080"/>
            <a:ext cx="1325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DBSCAN (750 m) → per-source stats over 90 d: active days, span, gaps, night fraction, FRP mean/CV/z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12464" y="2084832"/>
            <a:ext cx="91440" cy="146304"/>
          </a:xfrm>
          <a:prstGeom prst="rtTriangle">
            <a:avLst/>
          </a:prstGeom>
          <a:solidFill>
            <a:srgbClr val="B8C0DA"/>
          </a:solidFill>
          <a:ln w="12700">
            <a:solidFill>
              <a:srgbClr val="B8C0D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22192" y="1234440"/>
            <a:ext cx="1554480" cy="18745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959352" y="1371600"/>
            <a:ext cx="310896" cy="310896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59352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325112" y="13716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959352" y="1783080"/>
            <a:ext cx="1325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queries only around hotspot cells: refinery, steel, power, flare, kiln, mine, cement + land-use polygons (STRtree PIP)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94960" y="2084832"/>
            <a:ext cx="91440" cy="146304"/>
          </a:xfrm>
          <a:prstGeom prst="rtTriangle">
            <a:avLst/>
          </a:prstGeom>
          <a:solidFill>
            <a:srgbClr val="B8C0DA"/>
          </a:solidFill>
          <a:ln w="12700">
            <a:solidFill>
              <a:srgbClr val="B8C0D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04688" y="1234440"/>
            <a:ext cx="1554480" cy="18745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641848" y="1371600"/>
            <a:ext cx="310896" cy="310896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41848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007608" y="13716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41848" y="1783080"/>
            <a:ext cx="1325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rule engine + HistGradientBoosting (group-aware split); agreement boosts confidence; FRP-anomaly detector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077456" y="2084832"/>
            <a:ext cx="91440" cy="146304"/>
          </a:xfrm>
          <a:prstGeom prst="rtTriangle">
            <a:avLst/>
          </a:prstGeom>
          <a:solidFill>
            <a:srgbClr val="B8C0DA"/>
          </a:solidFill>
          <a:ln w="12700">
            <a:solidFill>
              <a:srgbClr val="B8C0D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87184" y="1234440"/>
            <a:ext cx="1554480" cy="18745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24344" y="1371600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324344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690104" y="13716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24344" y="1783080"/>
            <a:ext cx="1325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FastAPI GeoJSON API → React + Leaflet dashboard; QGIS export; Sentinel-2 SWIR / Worldview deep links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291840"/>
            <a:ext cx="5120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0080" y="33649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groups the model sees (34 features)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363016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Radiometric: </a:t>
            </a:r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FRP, I-4/I-5 brightness, Δbrightness, FIRMS confidence, day/night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386791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</a:t>
            </a:r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days, span, max gap, night fraction, FRP mean / CV / z-score, score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41056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</a:t>
            </a:r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&amp; type of nearest OSM facility (8 classes)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43434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cover + calendar: </a:t>
            </a:r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cropland/forest/shrub/industrial/mining/built; month, hour, burn season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60720" y="3291840"/>
            <a:ext cx="292608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594360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943600" y="361188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pandas · scikit-learn · shapely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· Vite · Leaflet (canvas, 40 k+ points)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PostGIS-ready; GeoJSON everywhere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NASA FIRMS, OSM Overpass, Sentinel-2 (Copernicus), NASA Worldview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RUN?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&amp; viability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 · NTRO · Disaster Management · Software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B6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feasible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645920"/>
            <a:ext cx="370332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sources are free and open: FIRMS MAP_KEY (instant), OSM Overpass, Copernicus Sentinel-2, NASA Worldview.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end-to-end prototype already runs offline on a laptop: 22 k detections → classified in 7 s, model trains in seconds.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switches to live FIRMS with one env variable; runs India-wide in minutes (Overpass queried only around hotspot cells).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stack (SQLite/FastAPI/React) → deployable on a single VM, NIC cloud or air-gapped NTRO server.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rules mean analysts can audit and tune every decision; ML improves as labelled events accumulate.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02336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→ mitigation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69164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OSM coverage of Indian industry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9202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Persistence signature detects unregistered sources; curated site list + Sentinel-2 chip verification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40487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gaps &amp; 375 m pixel offsets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3347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90-day temporal window, DBSCAN grouping, day+night passes from 3 VIIRS satellites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11810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labelled real incidents for ML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34670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Rules as strong prior; physically-motivated synthetic archive; active-learning loop from analyst feedback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831336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rate limits at national scale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059936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Around-cell queries, on-disk cache, optional self-hosted Overpass / ESA WorldCover raster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benefits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 · NTRO · Disaster Management · Software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65960" cy="1143000"/>
          </a:xfrm>
          <a:prstGeom prst="roundRect">
            <a:avLst>
              <a:gd name="adj" fmla="val 6400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9436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source classes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(industrial, flare, mining, agri, wildfire, other)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1143000"/>
          </a:xfrm>
          <a:prstGeom prst="roundRect">
            <a:avLst>
              <a:gd name="adj" fmla="val 6400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69748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 s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classify a 90-day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FIRMS archive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65960" cy="1143000"/>
          </a:xfrm>
          <a:prstGeom prst="roundRect">
            <a:avLst>
              <a:gd name="adj" fmla="val 6400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0060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98–99 %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with ground truth 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demo archive (group split)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66560" y="1234440"/>
            <a:ext cx="1965960" cy="1143000"/>
          </a:xfrm>
          <a:prstGeom prst="roundRect">
            <a:avLst>
              <a:gd name="adj" fmla="val 6400"/>
            </a:avLst>
          </a:prstGeom>
          <a:solidFill>
            <a:srgbClr val="0B1020"/>
          </a:solidFill>
          <a:ln w="9525">
            <a:solidFill>
              <a:srgbClr val="0B102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03720" y="1280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7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0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licensing cost 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9D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open sources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" y="2670048"/>
            <a:ext cx="201168" cy="201168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2615184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 (NDMA/SDMA, fire services)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017520"/>
            <a:ext cx="23774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Industrial-fire &amp; explosion alerts separated from routine heat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Faster, correctly-targeted response; fewer false alarms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Coal-seam fire monitoring (Jharia, Raniganj)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46120" y="25603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383280" y="2670048"/>
            <a:ext cx="201168" cy="20116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57600" y="2615184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strategic (NTRO)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3017520"/>
            <a:ext cx="23774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registry of persistent thermal sources with activity time-series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unregistered / undeclared industrial activity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detection: shutdowns, restarts, capacity surges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2560320"/>
            <a:ext cx="26517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72200" y="2670048"/>
            <a:ext cx="201168" cy="201168"/>
          </a:xfrm>
          <a:prstGeom prst="ellipse">
            <a:avLst/>
          </a:prstGeom>
          <a:solidFill>
            <a:srgbClr val="9A6BFF"/>
          </a:solidFill>
          <a:ln w="12700">
            <a:solidFill>
              <a:srgbClr val="9A6B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46520" y="2615184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&amp; economy (CPCB, MoEFCC, insurers)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3017520"/>
            <a:ext cx="23774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Stubble-burning vs industrial attribution for air-quality action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Flaring inventories for emissions reporting</a:t>
            </a:r>
            <a:endParaRPr lang="en-US" sz="9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incident records for insurance &amp; compliance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&amp; references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 · NTRO · Disaster Management · Software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444752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444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29844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Area API &amp; VIIRS 375 m active-fire product (VNP14IMG / VJ114IMG)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7099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firms.modaps.eosdis.nasa.gov/api/area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2075688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66928" y="2286000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213969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Schroeder et al. (2014) — The New VIIRS 375 m active fire detection data product, Remote Sensing of Environment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25511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doi:10.1016/j.rse.2013.12.008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127248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298094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Elvidge et al. (2013/2016) — VIIRS Nightfire: satellite pyrometry at night; global gas-flaring survey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32688" y="33924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doi:10.3390/rs5094423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58184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66928" y="3968496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" y="38221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(2018) — Identifying industrial heat sources using time-series of the VIIRS Nightfire product, Remote Sensing of Environment 204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32688" y="423367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sciencedirect.com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73168" y="1444752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73168" y="1444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138928" y="129844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Sentinel-2 SWIR (B11/B12) for hotspot verification; ESA WorldCover 10 m land cover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17099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dataspace.copernicus.eu · esa-worldcover.org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2075688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73168" y="2286000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138928" y="213969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Overpass API — industrial, man_made=flare|works, power=plant, landuse=quarry|farmland tags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138928" y="25511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wiki.openstreetmap.org/wiki/Overpass_API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63440" y="2916936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73168" y="3127248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773168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138928" y="2980944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/ ICAR–CREAMS crop-residue burning bulletins (Oct–Nov, Apr–May seasonality)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138928" y="33924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creams.iari.res.in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663440" y="3758184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1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73168" y="3968496"/>
            <a:ext cx="274320" cy="2743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773168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138928" y="38221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Ester et al. (1996) DBSCAN; Ke et al. / scikit-learn HistGradientBoosting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138928" y="423367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scikit-learn.org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SIH26162 — AI-Based Detection and Classification of Industrial Fires and Persistent Thermal Sources</dc:title>
  <dc:subject>PptxGenJS Presentation</dc:subject>
  <dc:creator>ThermalSentinel team</dc:creator>
  <cp:lastModifiedBy>ThermalSentinel team</cp:lastModifiedBy>
  <cp:revision>1</cp:revision>
  <dcterms:created xsi:type="dcterms:W3CDTF">2026-09-16T16:26:36Z</dcterms:created>
  <dcterms:modified xsi:type="dcterms:W3CDTF">2026-09-16T16:26:36Z</dcterms:modified>
</cp:coreProperties>
</file>