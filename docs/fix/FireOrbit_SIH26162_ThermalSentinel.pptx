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FIRMS today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Hotspots an operator must review (%)</c:v>
                </c:pt>
                <c:pt idx="1">
                  <c:v>Industrial vs natural separated (%)</c:v>
                </c:pt>
                <c:pt idx="2">
                  <c:v>Sources with history or baseline (%)</c:v>
                </c:pt>
                <c:pt idx="3">
                  <c:v>Decisions with stated reasons (%)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48-4F59-92BE-3417BEC301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ThermalSentinel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Hotspots an operator must review (%)</c:v>
                </c:pt>
                <c:pt idx="1">
                  <c:v>Industrial vs natural separated (%)</c:v>
                </c:pt>
                <c:pt idx="2">
                  <c:v>Sources with history or baseline (%)</c:v>
                </c:pt>
                <c:pt idx="3">
                  <c:v>Decisions with stated reasons (%)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</c:v>
                </c:pt>
                <c:pt idx="1">
                  <c:v>99.9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48-4F59-92BE-3417BEC301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t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682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ithub.com/rahulskandagal/thermal-sentinel" TargetMode="External"/><Relationship Id="rId4" Type="http://schemas.openxmlformats.org/officeDocument/2006/relationships/hyperlink" Target="https://rahulskandagal.github.io/thermal-sentinel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ithub.com/rahulskandagal/thermal-sentinel" TargetMode="External"/><Relationship Id="rId4" Type="http://schemas.openxmlformats.org/officeDocument/2006/relationships/hyperlink" Target="https://github.com/rahulskandagal/thermal-sentinel#readm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journal/remote-sensing-of-environment" TargetMode="External"/><Relationship Id="rId13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s://doi.org/10.3390/rs5094423" TargetMode="External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16/j.rse.2013.12.008" TargetMode="External"/><Relationship Id="rId11" Type="http://schemas.openxmlformats.org/officeDocument/2006/relationships/image" Target="../media/image3.png"/><Relationship Id="rId5" Type="http://schemas.openxmlformats.org/officeDocument/2006/relationships/hyperlink" Target="https://firms.modaps.eosdis.nasa.gov/api/area/" TargetMode="External"/><Relationship Id="rId15" Type="http://schemas.openxmlformats.org/officeDocument/2006/relationships/hyperlink" Target="https://github.com/rahulskandagal/thermal-sentinel" TargetMode="External"/><Relationship Id="rId10" Type="http://schemas.openxmlformats.org/officeDocument/2006/relationships/hyperlink" Target="https://dataspace.copernicus.eu" TargetMode="External"/><Relationship Id="rId4" Type="http://schemas.openxmlformats.org/officeDocument/2006/relationships/hyperlink" Target="https://sih.gov.in" TargetMode="External"/><Relationship Id="rId9" Type="http://schemas.openxmlformats.org/officeDocument/2006/relationships/hyperlink" Target="https://wiki.openstreetmap.org/wiki/Overpass_API" TargetMode="External"/><Relationship Id="rId14" Type="http://schemas.openxmlformats.org/officeDocument/2006/relationships/hyperlink" Target="https://rahulskandagal.github.io/thermal-sentine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859536"/>
            <a:ext cx="3950208" cy="369417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371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274320" y="12344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ID - SIH26162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Title- AI-Based Detection and Classification of Industrial Fires and Persistent Thermal Sources Using NASA FIRMS, OSM &amp; Satellite Data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Theme- Disaster Management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PS Category- Software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ID- 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Name (Registered on portal) - Fire Orbit</a:t>
            </a:r>
            <a:endParaRPr lang="en-US" sz="1350" dirty="0"/>
          </a:p>
        </p:txBody>
      </p:sp>
      <p:sp>
        <p:nvSpPr>
          <p:cNvPr id="6" name="Text 2"/>
          <p:cNvSpPr txBox="1"/>
          <p:nvPr/>
        </p:nvSpPr>
        <p:spPr>
          <a:xfrm>
            <a:off x="274320" y="4389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Organisation: National Technical Research Organisation (NTRO)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8229600" y="48097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ThermalSentinel: Classifying Every Satellite Hotspot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Alerting Only on Abnormal Industrial Heat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0" y="48097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8600" y="941832"/>
            <a:ext cx="2788920" cy="100584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880" y="896112"/>
            <a:ext cx="2788920" cy="1005840"/>
          </a:xfrm>
          <a:prstGeom prst="roundRect">
            <a:avLst>
              <a:gd name="adj" fmla="val 10909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2608" y="950976"/>
            <a:ext cx="25694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F2C9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issue: </a:t>
            </a: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NASA FIRMS reports thousands of hot pixels over India every day. A refinery flare, a steel plant, a coal-seam fire, a stubble burn and a forest fire all look identical in that feed.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28600" y="2020824"/>
            <a:ext cx="2788920" cy="932688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2880" y="1975104"/>
            <a:ext cx="2788920" cy="932688"/>
          </a:xfrm>
          <a:prstGeom prst="roundRect">
            <a:avLst>
              <a:gd name="adj" fmla="val 11765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2608" y="2029968"/>
            <a:ext cx="2569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F2C9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matters: </a:t>
            </a: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genuine plant fire hides among routine industrial heat, so responders cannot prioritise, and no registry of persistent thermal sources exists for security agencies.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28600" y="3026664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2880" y="2980944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2608" y="3035808"/>
            <a:ext cx="25694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F2C9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solution: </a:t>
            </a: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Classify every hotspot into 6 classes, track each source for 90 days, and raise an alert only when a known site burns far above its own normal level.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37160" y="3931920"/>
            <a:ext cx="1600200" cy="868680"/>
          </a:xfrm>
          <a:prstGeom prst="cloud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3192" y="4105656"/>
            <a:ext cx="1088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874520" y="3950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 flipV="1">
            <a:off x="1783080" y="4224528"/>
            <a:ext cx="502920" cy="10972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1874520" y="43708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today, click to open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108960" y="896112"/>
            <a:ext cx="3200400" cy="3904488"/>
          </a:xfrm>
          <a:prstGeom prst="triangle">
            <a:avLst/>
          </a:prstGeom>
          <a:solidFill>
            <a:srgbClr val="FFF3E0"/>
          </a:solidFill>
          <a:ln w="38100">
            <a:solidFill>
              <a:srgbClr val="F59E0B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4023360" y="182880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023360" y="18653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20299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Baseline-relative incident alerts: FRP at least 2.5 times the site normal and z-score at least 3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3726180" y="256032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726180" y="25968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FUNCTIONS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3771900" y="276148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Six-class AI classification and a 90-day persistent-source registry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3429000" y="3291840"/>
            <a:ext cx="2560320" cy="658368"/>
          </a:xfrm>
          <a:prstGeom prst="roundRect">
            <a:avLst>
              <a:gd name="adj" fmla="val 8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29000" y="33284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AND EVIDENCE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3474720" y="349300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facilities, land cover, Sentinel-2 verification, Indian burn-season priors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3154680" y="402336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1B6EA8"/>
          </a:solidFill>
          <a:ln w="12700">
            <a:solidFill>
              <a:srgbClr val="1B6EA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154680" y="405993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AND OUTPUT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3200400" y="4224528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dashboard, GeoJSON API, webhook and SMS alerts, analyst loop, QGIS export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6446520" y="896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543800" y="9144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18120" y="896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400800" y="1207008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6446520" y="1207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Identical hotspots carry no meaning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7616952" y="1325880"/>
            <a:ext cx="292608" cy="219456"/>
          </a:xfrm>
          <a:prstGeom prst="leftRightArrow">
            <a:avLst/>
          </a:prstGeom>
          <a:solidFill>
            <a:srgbClr val="F5D28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936992" y="1207008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7973568" y="120700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Six-class AI: industrial, flare, mine, crop, wildfire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6400800" y="1847088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6446520" y="18470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fires hidden in routine heat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7616952" y="1965960"/>
            <a:ext cx="292608" cy="219456"/>
          </a:xfrm>
          <a:prstGeom prst="leftRightArrow">
            <a:avLst/>
          </a:prstGeom>
          <a:solidFill>
            <a:srgbClr val="F5D28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936992" y="1847088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7973568" y="184708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only when FRP exceeds the site baseline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6400800" y="2487168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6446520" y="24871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memory of persistent sources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7616952" y="2606040"/>
            <a:ext cx="292608" cy="219456"/>
          </a:xfrm>
          <a:prstGeom prst="leftRightArrow">
            <a:avLst/>
          </a:prstGeom>
          <a:solidFill>
            <a:srgbClr val="F5D28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936992" y="2487168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7973568" y="248716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90-day source tracking and registry</a:t>
            </a:r>
            <a:endParaRPr lang="en-US" sz="700" dirty="0"/>
          </a:p>
        </p:txBody>
      </p:sp>
      <p:sp>
        <p:nvSpPr>
          <p:cNvPr id="52" name="Shape 49"/>
          <p:cNvSpPr/>
          <p:nvPr/>
        </p:nvSpPr>
        <p:spPr>
          <a:xfrm>
            <a:off x="6400800" y="3127248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3" name="Text 50"/>
          <p:cNvSpPr txBox="1"/>
          <p:nvPr/>
        </p:nvSpPr>
        <p:spPr>
          <a:xfrm>
            <a:off x="6446520" y="31272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Black-box AI is not trusted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7616952" y="3246120"/>
            <a:ext cx="292608" cy="219456"/>
          </a:xfrm>
          <a:prstGeom prst="leftRightArrow">
            <a:avLst/>
          </a:prstGeom>
          <a:solidFill>
            <a:srgbClr val="F5D28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936992" y="3127248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7973568" y="312724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label carries plain reasons</a:t>
            </a:r>
            <a:endParaRPr lang="en-US" sz="700" dirty="0"/>
          </a:p>
        </p:txBody>
      </p:sp>
      <p:pic>
        <p:nvPicPr>
          <p:cNvPr id="57" name="Image 1" descr="preencoded.png"/>
          <p:cNvPicPr>
            <a:picLocks noChangeAspect="1"/>
          </p:cNvPicPr>
          <p:nvPr/>
        </p:nvPicPr>
        <p:blipFill>
          <a:blip r:embed="rId6"/>
          <a:srcRect t="12000" b="-12000"/>
          <a:stretch/>
        </p:blipFill>
        <p:spPr>
          <a:xfrm>
            <a:off x="6400800" y="3794760"/>
            <a:ext cx="2542032" cy="914400"/>
          </a:xfrm>
          <a:prstGeom prst="rect">
            <a:avLst/>
          </a:prstGeom>
        </p:spPr>
      </p:pic>
      <p:sp>
        <p:nvSpPr>
          <p:cNvPr id="58" name="Text 54"/>
          <p:cNvSpPr txBox="1"/>
          <p:nvPr/>
        </p:nvSpPr>
        <p:spPr>
          <a:xfrm>
            <a:off x="6400800" y="473659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GIS dashboard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0" y="48097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82880" y="868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PROCESS OF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078992" y="2039112"/>
            <a:ext cx="1316736" cy="1316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545336" y="1847088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45336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4356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1600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data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2115499" y="2176272"/>
            <a:ext cx="384048" cy="38404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15499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563555" y="2185416"/>
            <a:ext cx="7282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2563555" y="2350008"/>
            <a:ext cx="7282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 sources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2115499" y="2834640"/>
            <a:ext cx="384048" cy="38404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115499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563555" y="2843784"/>
            <a:ext cx="7282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2563555" y="3008376"/>
            <a:ext cx="7282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baseline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1545336" y="3163824"/>
            <a:ext cx="384048" cy="38404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545336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35844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097280" y="37490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and land use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975173" y="2834640"/>
            <a:ext cx="384048" cy="3840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75173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82880" y="2843784"/>
            <a:ext cx="7282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82880" y="3008376"/>
            <a:ext cx="7282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and GBM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975173" y="217627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5173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82880" y="2185416"/>
            <a:ext cx="7282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82880" y="2350008"/>
            <a:ext cx="7282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and alerts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37160" y="4041648"/>
            <a:ext cx="1463040" cy="758952"/>
          </a:xfrm>
          <a:prstGeom prst="cloud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71246" y="4193438"/>
            <a:ext cx="994867" cy="455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214884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 flipV="1">
            <a:off x="1645920" y="4315968"/>
            <a:ext cx="457200" cy="914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3429000" y="896112"/>
            <a:ext cx="2834640" cy="17830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648456" y="1024128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648456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3465576" y="14813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VIIRS 375 m,</a:t>
            </a:r>
            <a:endParaRPr lang="en-US" sz="580" dirty="0"/>
          </a:p>
          <a:p>
            <a:pPr marL="0" indent="0" algn="ctr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MODIS 1 km</a:t>
            </a:r>
            <a:endParaRPr lang="en-US" sz="580" dirty="0"/>
          </a:p>
        </p:txBody>
      </p:sp>
      <p:sp>
        <p:nvSpPr>
          <p:cNvPr id="41" name="Shape 38"/>
          <p:cNvSpPr/>
          <p:nvPr/>
        </p:nvSpPr>
        <p:spPr>
          <a:xfrm>
            <a:off x="4069080" y="1216152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4343400" y="1024128"/>
            <a:ext cx="384048" cy="38404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34340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4160520" y="14813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 API,</a:t>
            </a:r>
            <a:endParaRPr lang="en-US" sz="580" dirty="0"/>
          </a:p>
          <a:p>
            <a:pPr marL="0" indent="0" algn="ctr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3 h latency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4764024" y="1216152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5038344" y="1024128"/>
            <a:ext cx="384048" cy="3840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038344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4855464" y="14813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ThermalSentinel</a:t>
            </a:r>
            <a:endParaRPr lang="en-US" sz="580" dirty="0"/>
          </a:p>
          <a:p>
            <a:pPr marL="0" indent="0" algn="ctr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580" dirty="0"/>
          </a:p>
        </p:txBody>
      </p:sp>
      <p:sp>
        <p:nvSpPr>
          <p:cNvPr id="49" name="Shape 46"/>
          <p:cNvSpPr/>
          <p:nvPr/>
        </p:nvSpPr>
        <p:spPr>
          <a:xfrm>
            <a:off x="5458968" y="1216152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5733288" y="1024128"/>
            <a:ext cx="384048" cy="38404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733288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5550408" y="14813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GIS, registry,</a:t>
            </a:r>
            <a:endParaRPr lang="en-US" sz="580" dirty="0"/>
          </a:p>
          <a:p>
            <a:pPr marL="0" indent="0" algn="ctr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580" dirty="0"/>
          </a:p>
        </p:txBody>
      </p:sp>
      <p:sp>
        <p:nvSpPr>
          <p:cNvPr id="53" name="Shape 50"/>
          <p:cNvSpPr/>
          <p:nvPr/>
        </p:nvSpPr>
        <p:spPr>
          <a:xfrm>
            <a:off x="3520440" y="2011680"/>
            <a:ext cx="2651760" cy="603504"/>
          </a:xfrm>
          <a:prstGeom prst="roundRect">
            <a:avLst>
              <a:gd name="adj" fmla="val 6061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584448" y="2011680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core: </a:t>
            </a:r>
            <a:r>
              <a:rPr lang="en-US" sz="6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features, haversine DBSCAN at 750 m, per-source FRP mean and standard deviation, OSM facility type and distance, land cover, Indian burn-season priors. Explainable rules vote with gradient-boosted trees; an anomaly is raised when FRP reaches 2.5 times the source mean and z-score 3.</a:t>
            </a:r>
            <a:endParaRPr lang="en-US" sz="630" dirty="0"/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761488"/>
            <a:ext cx="2834640" cy="1591056"/>
          </a:xfrm>
          <a:prstGeom prst="rect">
            <a:avLst/>
          </a:prstGeom>
        </p:spPr>
      </p:pic>
      <p:sp>
        <p:nvSpPr>
          <p:cNvPr id="56" name="Text 52"/>
          <p:cNvSpPr txBox="1"/>
          <p:nvPr/>
        </p:nvSpPr>
        <p:spPr>
          <a:xfrm>
            <a:off x="3429000" y="44074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Prototype: 22,179 detections classified, 114 persistent sources, 138 incident alerts, GeoJSON export</a:t>
            </a:r>
            <a:endParaRPr lang="en-US" sz="650" dirty="0"/>
          </a:p>
        </p:txBody>
      </p:sp>
      <p:sp>
        <p:nvSpPr>
          <p:cNvPr id="57" name="Text 53"/>
          <p:cNvSpPr txBox="1"/>
          <p:nvPr/>
        </p:nvSpPr>
        <p:spPr>
          <a:xfrm>
            <a:off x="640080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6629400" y="1261872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6B7A1E"/>
          </a:solidFill>
          <a:ln w="12700">
            <a:solidFill>
              <a:srgbClr val="6B7A1E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9" name="Shape 55"/>
          <p:cNvSpPr/>
          <p:nvPr/>
        </p:nvSpPr>
        <p:spPr>
          <a:xfrm>
            <a:off x="6382512" y="13716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638251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1" name="Shape 57"/>
          <p:cNvSpPr/>
          <p:nvPr/>
        </p:nvSpPr>
        <p:spPr>
          <a:xfrm>
            <a:off x="6382512" y="1371600"/>
            <a:ext cx="384048" cy="384048"/>
          </a:xfrm>
          <a:prstGeom prst="ellipse">
            <a:avLst/>
          </a:prstGeom>
          <a:ln w="19050">
            <a:solidFill>
              <a:srgbClr val="6B7A1E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6903720" y="1307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50" dirty="0"/>
          </a:p>
        </p:txBody>
      </p:sp>
      <p:sp>
        <p:nvSpPr>
          <p:cNvPr id="63" name="Text 59"/>
          <p:cNvSpPr txBox="1"/>
          <p:nvPr/>
        </p:nvSpPr>
        <p:spPr>
          <a:xfrm>
            <a:off x="6903720" y="1508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 (VIIRS 375 m, MODIS), OpenStreetMap Overpass, Copernicus Sentinel-2, NASA Worldview</a:t>
            </a:r>
            <a:endParaRPr lang="en-US" sz="650" dirty="0"/>
          </a:p>
        </p:txBody>
      </p:sp>
      <p:sp>
        <p:nvSpPr>
          <p:cNvPr id="64" name="Shape 60"/>
          <p:cNvSpPr/>
          <p:nvPr/>
        </p:nvSpPr>
        <p:spPr>
          <a:xfrm>
            <a:off x="6629400" y="1975104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6382512" y="20848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638251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7" name="Shape 63"/>
          <p:cNvSpPr/>
          <p:nvPr/>
        </p:nvSpPr>
        <p:spPr>
          <a:xfrm>
            <a:off x="6382512" y="2084832"/>
            <a:ext cx="384048" cy="384048"/>
          </a:xfrm>
          <a:prstGeom prst="ellipse">
            <a:avLst/>
          </a:prstGeom>
          <a:ln w="19050">
            <a:solidFill>
              <a:srgbClr val="8B5A2B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6903720" y="2020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ML</a:t>
            </a:r>
            <a:endParaRPr lang="en-US" sz="950" dirty="0"/>
          </a:p>
        </p:txBody>
      </p:sp>
      <p:sp>
        <p:nvSpPr>
          <p:cNvPr id="69" name="Text 65"/>
          <p:cNvSpPr txBox="1"/>
          <p:nvPr/>
        </p:nvSpPr>
        <p:spPr>
          <a:xfrm>
            <a:off x="6903720" y="2221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scikit-learn (DBSCAN, HistGradientBoosting), rule engine, shapely STRtree</a:t>
            </a:r>
            <a:endParaRPr lang="en-US" sz="650" dirty="0"/>
          </a:p>
        </p:txBody>
      </p:sp>
      <p:sp>
        <p:nvSpPr>
          <p:cNvPr id="70" name="Shape 66"/>
          <p:cNvSpPr/>
          <p:nvPr/>
        </p:nvSpPr>
        <p:spPr>
          <a:xfrm>
            <a:off x="6629400" y="2688336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1" name="Shape 67"/>
          <p:cNvSpPr/>
          <p:nvPr/>
        </p:nvSpPr>
        <p:spPr>
          <a:xfrm>
            <a:off x="6382512" y="279806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6382512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3" name="Shape 69"/>
          <p:cNvSpPr/>
          <p:nvPr/>
        </p:nvSpPr>
        <p:spPr>
          <a:xfrm>
            <a:off x="6382512" y="2798064"/>
            <a:ext cx="384048" cy="384048"/>
          </a:xfrm>
          <a:prstGeom prst="ellipse">
            <a:avLst/>
          </a:prstGeom>
          <a:ln w="19050">
            <a:solidFill>
              <a:srgbClr val="7B2D26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6903720" y="2734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50" dirty="0"/>
          </a:p>
        </p:txBody>
      </p:sp>
      <p:sp>
        <p:nvSpPr>
          <p:cNvPr id="75" name="Text 71"/>
          <p:cNvSpPr txBox="1"/>
          <p:nvPr/>
        </p:nvSpPr>
        <p:spPr>
          <a:xfrm>
            <a:off x="6903720" y="29352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REST with GeoJSON, SQLite moving to PostGIS, OGC-standard exports</a:t>
            </a:r>
            <a:endParaRPr lang="en-US" sz="650" dirty="0"/>
          </a:p>
        </p:txBody>
      </p:sp>
      <p:sp>
        <p:nvSpPr>
          <p:cNvPr id="76" name="Shape 72"/>
          <p:cNvSpPr/>
          <p:nvPr/>
        </p:nvSpPr>
        <p:spPr>
          <a:xfrm>
            <a:off x="6629400" y="3401568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7" name="Shape 73"/>
          <p:cNvSpPr/>
          <p:nvPr/>
        </p:nvSpPr>
        <p:spPr>
          <a:xfrm>
            <a:off x="6382512" y="35112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6382512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79" name="Shape 75"/>
          <p:cNvSpPr/>
          <p:nvPr/>
        </p:nvSpPr>
        <p:spPr>
          <a:xfrm>
            <a:off x="6382512" y="3511296"/>
            <a:ext cx="384048" cy="384048"/>
          </a:xfrm>
          <a:prstGeom prst="ellipse">
            <a:avLst/>
          </a:prstGeom>
          <a:ln w="19050">
            <a:solidFill>
              <a:srgbClr val="6D28D9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6903720" y="3447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50" dirty="0"/>
          </a:p>
        </p:txBody>
      </p:sp>
      <p:sp>
        <p:nvSpPr>
          <p:cNvPr id="81" name="Text 77"/>
          <p:cNvSpPr txBox="1"/>
          <p:nvPr/>
        </p:nvSpPr>
        <p:spPr>
          <a:xfrm>
            <a:off x="6903720" y="36484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with Vite, Leaflet canvas renderer for 40,000+ points, deep-link views</a:t>
            </a:r>
            <a:endParaRPr lang="en-US" sz="650" dirty="0"/>
          </a:p>
        </p:txBody>
      </p:sp>
      <p:sp>
        <p:nvSpPr>
          <p:cNvPr id="82" name="Shape 78"/>
          <p:cNvSpPr/>
          <p:nvPr/>
        </p:nvSpPr>
        <p:spPr>
          <a:xfrm>
            <a:off x="6629400" y="4114800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3" name="Shape 79"/>
          <p:cNvSpPr/>
          <p:nvPr/>
        </p:nvSpPr>
        <p:spPr>
          <a:xfrm>
            <a:off x="6382512" y="42245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0"/>
          <p:cNvSpPr txBox="1"/>
          <p:nvPr/>
        </p:nvSpPr>
        <p:spPr>
          <a:xfrm>
            <a:off x="6382512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85" name="Shape 81"/>
          <p:cNvSpPr/>
          <p:nvPr/>
        </p:nvSpPr>
        <p:spPr>
          <a:xfrm>
            <a:off x="6382512" y="4224528"/>
            <a:ext cx="384048" cy="384048"/>
          </a:xfrm>
          <a:prstGeom prst="ellipse">
            <a:avLst/>
          </a:prstGeom>
          <a:ln w="19050">
            <a:solidFill>
              <a:srgbClr val="0F766E"/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6903720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87" name="Text 83"/>
          <p:cNvSpPr txBox="1"/>
          <p:nvPr/>
        </p:nvSpPr>
        <p:spPr>
          <a:xfrm>
            <a:off x="6903720" y="4361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 demo, single Linux VM, NIC cloud or air-gapped server, Docker-ready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0" y="48097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65176" y="932688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896112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15768" y="914400"/>
            <a:ext cx="109728" cy="2743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60904" y="786384"/>
            <a:ext cx="219456" cy="219456"/>
          </a:xfrm>
          <a:prstGeom prst="ellipse">
            <a:avLst/>
          </a:prstGeom>
          <a:solidFill>
            <a:srgbClr val="DC2626"/>
          </a:solidFill>
          <a:ln w="9525">
            <a:solidFill>
              <a:srgbClr val="7F1D1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" y="987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ANALYSIS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56616" y="137160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prototype: </a:t>
            </a:r>
            <a:r>
              <a:rPr lang="en-US" sz="8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full 90-day archive of 22,179 detections is classified in about 7 seconds on a laptop, and the demo is public.</a:t>
            </a:r>
            <a:endParaRPr lang="en-US" sz="880" dirty="0"/>
          </a:p>
        </p:txBody>
      </p:sp>
      <p:sp>
        <p:nvSpPr>
          <p:cNvPr id="13" name="Text 10"/>
          <p:cNvSpPr txBox="1"/>
          <p:nvPr/>
        </p:nvSpPr>
        <p:spPr>
          <a:xfrm>
            <a:off x="356616" y="2029968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data only: </a:t>
            </a:r>
            <a:r>
              <a:rPr lang="en-US" sz="8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FIRMS key is issued instantly, OSM Overpass and Copernicus are free. No licences, no procurement.</a:t>
            </a:r>
            <a:endParaRPr lang="en-US" sz="880" dirty="0"/>
          </a:p>
        </p:txBody>
      </p:sp>
      <p:sp>
        <p:nvSpPr>
          <p:cNvPr id="14" name="Text 11"/>
          <p:cNvSpPr txBox="1"/>
          <p:nvPr/>
        </p:nvSpPr>
        <p:spPr>
          <a:xfrm>
            <a:off x="356616" y="2688336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 footprint: </a:t>
            </a:r>
            <a:r>
              <a:rPr lang="en-US" sz="8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FastAPI, SQLite and React run on a single VM, NIC cloud or an air-gapped NTRO server.</a:t>
            </a:r>
            <a:endParaRPr lang="en-US" sz="880" dirty="0"/>
          </a:p>
        </p:txBody>
      </p:sp>
      <p:sp>
        <p:nvSpPr>
          <p:cNvPr id="15" name="Text 12"/>
          <p:cNvSpPr txBox="1"/>
          <p:nvPr/>
        </p:nvSpPr>
        <p:spPr>
          <a:xfrm>
            <a:off x="356616" y="3346704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switch to live: </a:t>
            </a:r>
            <a:r>
              <a:rPr lang="en-US" sz="8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single environment variable moves the same pipeline from the archive to near-real-time FIRMS.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3191256" y="932688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54680" y="896112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41848" y="914400"/>
            <a:ext cx="109728" cy="2743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86984" y="786384"/>
            <a:ext cx="219456" cy="219456"/>
          </a:xfrm>
          <a:prstGeom prst="ellipse">
            <a:avLst/>
          </a:prstGeom>
          <a:solidFill>
            <a:srgbClr val="B91C1C"/>
          </a:solidFill>
          <a:ln w="9525">
            <a:solidFill>
              <a:srgbClr val="7F1D1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46120" y="987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VIABILITY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3282696" y="137160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Signals that work: </a:t>
            </a:r>
            <a:r>
              <a:rPr lang="en-US" sz="8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persistence, OSM context and physical signature separate the classes. Accuracy on the labelled 90-day archive is 99.9 % hybrid and 98.4 % rules-only.</a:t>
            </a:r>
            <a:endParaRPr lang="en-US" sz="880" dirty="0"/>
          </a:p>
        </p:txBody>
      </p:sp>
      <p:sp>
        <p:nvSpPr>
          <p:cNvPr id="22" name="Text 19"/>
          <p:cNvSpPr txBox="1"/>
          <p:nvPr/>
        </p:nvSpPr>
        <p:spPr>
          <a:xfrm>
            <a:off x="3282696" y="2029968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Designed for trust: </a:t>
            </a:r>
            <a:r>
              <a:rPr lang="en-US" sz="8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label shows its reasons. Analysts confirm or override, and their labels retrain the model.</a:t>
            </a:r>
            <a:endParaRPr lang="en-US" sz="880" dirty="0"/>
          </a:p>
        </p:txBody>
      </p:sp>
      <p:sp>
        <p:nvSpPr>
          <p:cNvPr id="23" name="Text 20"/>
          <p:cNvSpPr txBox="1"/>
          <p:nvPr/>
        </p:nvSpPr>
        <p:spPr>
          <a:xfrm>
            <a:off x="3282696" y="2688336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Scales: </a:t>
            </a:r>
            <a:r>
              <a:rPr lang="en-US" sz="8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OSM is queried only around hotspot cells, with a PostGIS and tile path for national, multi-year archives.</a:t>
            </a:r>
            <a:endParaRPr lang="en-US" sz="880" dirty="0"/>
          </a:p>
        </p:txBody>
      </p:sp>
      <p:sp>
        <p:nvSpPr>
          <p:cNvPr id="24" name="Text 21"/>
          <p:cNvSpPr txBox="1"/>
          <p:nvPr/>
        </p:nvSpPr>
        <p:spPr>
          <a:xfrm>
            <a:off x="3282696" y="3346704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Risks handled: </a:t>
            </a:r>
            <a:r>
              <a:rPr lang="en-US" sz="8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OSM gaps use a curated list and WorldCover, clouds are covered by a 90-day window across 3 satellites, false alarms by baseline-relative thresholds.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6117336" y="932688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80760" y="896112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567928" y="914400"/>
            <a:ext cx="109728" cy="2743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513064" y="786384"/>
            <a:ext cx="219456" cy="219456"/>
          </a:xfrm>
          <a:prstGeom prst="ellipse">
            <a:avLst/>
          </a:prstGeom>
          <a:solidFill>
            <a:srgbClr val="DC2626"/>
          </a:solidFill>
          <a:ln w="9525">
            <a:solidFill>
              <a:srgbClr val="7F1D1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172200" y="987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AND DEPLOYMENT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208776" y="137160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Government: </a:t>
            </a:r>
            <a:r>
              <a:rPr lang="en-US" sz="8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SDMA control rooms, an NTRO source registry and CPCB fire attribution, at roughly Rs 3,000 to 5,000 per month per deployment.</a:t>
            </a:r>
            <a:endParaRPr lang="en-US" sz="880" dirty="0"/>
          </a:p>
        </p:txBody>
      </p:sp>
      <p:sp>
        <p:nvSpPr>
          <p:cNvPr id="31" name="Text 28"/>
          <p:cNvSpPr txBox="1"/>
          <p:nvPr/>
        </p:nvSpPr>
        <p:spPr>
          <a:xfrm>
            <a:off x="6208776" y="2029968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 and insurers: </a:t>
            </a:r>
            <a:r>
              <a:rPr lang="en-US" sz="8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site-monitoring subscriptions and verified incident evidence for claims and compliance.</a:t>
            </a:r>
            <a:endParaRPr lang="en-US" sz="880" dirty="0"/>
          </a:p>
        </p:txBody>
      </p:sp>
      <p:sp>
        <p:nvSpPr>
          <p:cNvPr id="32" name="Text 29"/>
          <p:cNvSpPr txBox="1"/>
          <p:nvPr/>
        </p:nvSpPr>
        <p:spPr>
          <a:xfrm>
            <a:off x="6208776" y="2688336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Integration: </a:t>
            </a:r>
            <a:r>
              <a:rPr lang="en-US" sz="8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GeoJSON layers for Bhuvan, NDEM, QGIS and ArcGIS. No new GIS is required.</a:t>
            </a:r>
            <a:endParaRPr lang="en-US" sz="880" dirty="0"/>
          </a:p>
        </p:txBody>
      </p:sp>
      <p:sp>
        <p:nvSpPr>
          <p:cNvPr id="33" name="Text 30"/>
          <p:cNvSpPr txBox="1"/>
          <p:nvPr/>
        </p:nvSpPr>
        <p:spPr>
          <a:xfrm>
            <a:off x="6208776" y="3346704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Roadmap: </a:t>
            </a:r>
            <a:r>
              <a:rPr lang="en-US" sz="8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4-week live pilot with validation on real incidents, then alerting and a Sentinel-2 chip classifier, then an agency SOP.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228600" y="4114800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0080" y="4443984"/>
            <a:ext cx="78638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822960" y="4370832"/>
            <a:ext cx="146304" cy="146304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24128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BB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and prototype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1024128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done, public demo live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2880360" y="4370832"/>
            <a:ext cx="146304" cy="146304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081528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4 weeks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3081528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FIRMS pilot, validation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4937760" y="4370832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138928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finale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5138928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alerting, Sentinel-2 classifier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6995160" y="4370832"/>
            <a:ext cx="146304" cy="146304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196328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7196328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Bhuvan and NDEM, SDMA SOP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0" y="48097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56232" y="1810512"/>
            <a:ext cx="2048256" cy="20482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2404872" y="2359152"/>
            <a:ext cx="950976" cy="9509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80360" y="2423160"/>
            <a:ext cx="0" cy="82296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23160" y="272491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2898648" y="27249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2225825" y="1756653"/>
            <a:ext cx="347472" cy="347472"/>
          </a:xfrm>
          <a:prstGeom prst="ellipse">
            <a:avLst/>
          </a:prstGeom>
          <a:solidFill>
            <a:srgbClr val="D9C7A6"/>
          </a:solidFill>
          <a:ln w="12700">
            <a:solidFill>
              <a:srgbClr val="D9C7A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25825" y="175665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25825" y="1756653"/>
            <a:ext cx="347472" cy="347472"/>
          </a:xfrm>
          <a:prstGeom prst="ellipse">
            <a:avLst/>
          </a:prstGeom>
          <a:ln w="12700">
            <a:solidFill>
              <a:srgbClr val="8B73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9728" y="1674357"/>
            <a:ext cx="19972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u="sng" dirty="0">
                <a:solidFill>
                  <a:srgbClr val="1E5A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Faster response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" y="1866381"/>
            <a:ext cx="19972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Alerts only on abnormal industrial heat.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1750518" y="2293889"/>
            <a:ext cx="347472" cy="347472"/>
          </a:xfrm>
          <a:prstGeom prst="ellipse">
            <a:avLst/>
          </a:prstGeom>
          <a:solidFill>
            <a:srgbClr val="D9C7A6"/>
          </a:solidFill>
          <a:ln w="12700">
            <a:solidFill>
              <a:srgbClr val="D9C7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750518" y="229388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750518" y="2293889"/>
            <a:ext cx="347472" cy="347472"/>
          </a:xfrm>
          <a:prstGeom prst="ellipse">
            <a:avLst/>
          </a:prstGeom>
          <a:ln w="12700">
            <a:solidFill>
              <a:srgbClr val="8B735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9728" y="2211593"/>
            <a:ext cx="15219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u="sng" dirty="0">
                <a:solidFill>
                  <a:srgbClr val="1E5A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99 % less triage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" y="2403617"/>
            <a:ext cx="15219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138 of 22,179 reach an operator.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1750518" y="3027919"/>
            <a:ext cx="347472" cy="347472"/>
          </a:xfrm>
          <a:prstGeom prst="ellipse">
            <a:avLst/>
          </a:prstGeom>
          <a:solidFill>
            <a:srgbClr val="D9C7A6"/>
          </a:solidFill>
          <a:ln w="12700">
            <a:solidFill>
              <a:srgbClr val="D9C7A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750518" y="302791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750518" y="3027919"/>
            <a:ext cx="347472" cy="347472"/>
          </a:xfrm>
          <a:prstGeom prst="ellipse">
            <a:avLst/>
          </a:prstGeom>
          <a:ln w="12700">
            <a:solidFill>
              <a:srgbClr val="8B735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9728" y="2945623"/>
            <a:ext cx="15219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u="sng" dirty="0">
                <a:solidFill>
                  <a:srgbClr val="1E5A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registry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9728" y="3137647"/>
            <a:ext cx="15219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 days of activity history per site.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2225825" y="3565155"/>
            <a:ext cx="347472" cy="347472"/>
          </a:xfrm>
          <a:prstGeom prst="ellipse">
            <a:avLst/>
          </a:prstGeom>
          <a:solidFill>
            <a:srgbClr val="D9C7A6"/>
          </a:solidFill>
          <a:ln w="12700">
            <a:solidFill>
              <a:srgbClr val="D9C7A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225825" y="356515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225825" y="3565155"/>
            <a:ext cx="347472" cy="347472"/>
          </a:xfrm>
          <a:prstGeom prst="ellipse">
            <a:avLst/>
          </a:prstGeom>
          <a:ln w="12700">
            <a:solidFill>
              <a:srgbClr val="8B735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9728" y="3482859"/>
            <a:ext cx="19972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u="sng" dirty="0">
                <a:solidFill>
                  <a:srgbClr val="1E5A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Standing watch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9728" y="3674883"/>
            <a:ext cx="19972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Jharia and Barmer watched daily.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3187423" y="1756653"/>
            <a:ext cx="347472" cy="3474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187423" y="175665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3635479" y="1674357"/>
            <a:ext cx="13937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u="sng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3635479" y="1866381"/>
            <a:ext cx="13937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Communities near refineries and chemical plants warned earlier.</a:t>
            </a:r>
            <a:endParaRPr lang="en-US" sz="680" dirty="0"/>
          </a:p>
        </p:txBody>
      </p:sp>
      <p:sp>
        <p:nvSpPr>
          <p:cNvPr id="36" name="Shape 33"/>
          <p:cNvSpPr/>
          <p:nvPr/>
        </p:nvSpPr>
        <p:spPr>
          <a:xfrm>
            <a:off x="3662730" y="2293889"/>
            <a:ext cx="347472" cy="3474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662730" y="229388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4110786" y="2211593"/>
            <a:ext cx="9184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u="sng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4110786" y="2403617"/>
            <a:ext cx="9184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data cost, one VM, losses cut by early detection.</a:t>
            </a:r>
            <a:endParaRPr lang="en-US" sz="680" dirty="0"/>
          </a:p>
        </p:txBody>
      </p:sp>
      <p:sp>
        <p:nvSpPr>
          <p:cNvPr id="40" name="Shape 37"/>
          <p:cNvSpPr/>
          <p:nvPr/>
        </p:nvSpPr>
        <p:spPr>
          <a:xfrm>
            <a:off x="3662730" y="3027919"/>
            <a:ext cx="347472" cy="3474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662730" y="302791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4110786" y="2945623"/>
            <a:ext cx="9184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u="sng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Environmental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4110786" y="3137647"/>
            <a:ext cx="9184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Stubble burning separated from industrial emissions and flaring.</a:t>
            </a:r>
            <a:endParaRPr lang="en-US" sz="680" dirty="0"/>
          </a:p>
        </p:txBody>
      </p:sp>
      <p:sp>
        <p:nvSpPr>
          <p:cNvPr id="44" name="Shape 41"/>
          <p:cNvSpPr/>
          <p:nvPr/>
        </p:nvSpPr>
        <p:spPr>
          <a:xfrm>
            <a:off x="3187423" y="3565155"/>
            <a:ext cx="347472" cy="3474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187423" y="356515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3635479" y="3482859"/>
            <a:ext cx="13937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u="sng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3635479" y="3674883"/>
            <a:ext cx="13937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Explainable, sovereign, ready for Bhuvan or NDEM.</a:t>
            </a:r>
            <a:endParaRPr lang="en-US" sz="680" dirty="0"/>
          </a:p>
        </p:txBody>
      </p:sp>
      <p:sp>
        <p:nvSpPr>
          <p:cNvPr id="48" name="Shape 45"/>
          <p:cNvSpPr/>
          <p:nvPr/>
        </p:nvSpPr>
        <p:spPr>
          <a:xfrm>
            <a:off x="5138928" y="896112"/>
            <a:ext cx="73152" cy="3886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349240" y="8961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Control-room workload: FIRMS today versus ThermalSentinel</a:t>
            </a:r>
            <a:endParaRPr lang="en-US" sz="850" dirty="0"/>
          </a:p>
        </p:txBody>
      </p:sp>
      <p:graphicFrame>
        <p:nvGraphicFramePr>
          <p:cNvPr id="50" name="Chart 0"/>
          <p:cNvGraphicFramePr/>
          <p:nvPr/>
        </p:nvGraphicFramePr>
        <p:xfrm>
          <a:off x="5303520" y="1115568"/>
          <a:ext cx="361188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1" name="Text 47"/>
          <p:cNvSpPr txBox="1"/>
          <p:nvPr/>
        </p:nvSpPr>
        <p:spPr>
          <a:xfrm>
            <a:off x="5349240" y="299008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the labelled 90-day archive of 22,179 detections.</a:t>
            </a:r>
            <a:endParaRPr lang="en-US" sz="600" dirty="0"/>
          </a:p>
        </p:txBody>
      </p:sp>
      <p:sp>
        <p:nvSpPr>
          <p:cNvPr id="52" name="Text 48"/>
          <p:cNvSpPr txBox="1"/>
          <p:nvPr/>
        </p:nvSpPr>
        <p:spPr>
          <a:xfrm>
            <a:off x="5349240" y="3246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hot pixels to actionable alerts</a:t>
            </a:r>
            <a:endParaRPr lang="en-US" sz="1000" dirty="0"/>
          </a:p>
        </p:txBody>
      </p:sp>
      <p:pic>
        <p:nvPicPr>
          <p:cNvPr id="5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520440"/>
            <a:ext cx="1737360" cy="978408"/>
          </a:xfrm>
          <a:prstGeom prst="rect">
            <a:avLst/>
          </a:prstGeom>
        </p:spPr>
      </p:pic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6"/>
          <a:srcRect l="61000" t="7117" r="1000" b="54804"/>
          <a:stretch/>
        </p:blipFill>
        <p:spPr>
          <a:xfrm>
            <a:off x="7178040" y="3520440"/>
            <a:ext cx="1737360" cy="978408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5349240" y="45262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crop-burn season, Punjab</a:t>
            </a:r>
            <a:endParaRPr lang="en-US" sz="600" dirty="0"/>
          </a:p>
        </p:txBody>
      </p:sp>
      <p:sp>
        <p:nvSpPr>
          <p:cNvPr id="56" name="Text 50"/>
          <p:cNvSpPr txBox="1"/>
          <p:nvPr/>
        </p:nvSpPr>
        <p:spPr>
          <a:xfrm>
            <a:off x="7178040" y="45262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Jamnagar: 86 active days, 207 MW spike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0" y="48097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8595360" cy="0"/>
          </a:xfrm>
          <a:prstGeom prst="line">
            <a:avLst/>
          </a:prstGeom>
          <a:noFill/>
          <a:ln w="12700">
            <a:solidFill>
              <a:srgbClr val="C9A97C"/>
            </a:solidFill>
            <a:prstDash val="dash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22860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and problem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27432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NTRO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SIH26162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40233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data source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150876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58191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Active-fire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API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163677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269748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science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274320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1635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Schroeder 2014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VIIRS 375 m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product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287121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93192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flare signatures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397764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05079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Elvidge 2013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VIIRS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Nightfire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410565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16636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heat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521208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28523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2018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heat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(RSE)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534009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data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644652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1967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Overpass API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tags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657453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763524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768096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5411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Copernicus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SWIR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WorldCover</a:t>
            </a:r>
            <a:endParaRPr lang="en-US" sz="750" dirty="0"/>
          </a:p>
        </p:txBody>
      </p:sp>
      <p:sp>
        <p:nvSpPr>
          <p:cNvPr id="35" name="Text 32"/>
          <p:cNvSpPr txBox="1"/>
          <p:nvPr/>
        </p:nvSpPr>
        <p:spPr>
          <a:xfrm>
            <a:off x="780897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4320" y="2487168"/>
            <a:ext cx="8595360" cy="0"/>
          </a:xfrm>
          <a:prstGeom prst="line">
            <a:avLst/>
          </a:prstGeom>
          <a:noFill/>
          <a:ln w="12700">
            <a:solidFill>
              <a:srgbClr val="C9A97C"/>
            </a:solidFill>
            <a:prstDash val="dash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0" y="2606040"/>
            <a:ext cx="9144000" cy="22402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74320" y="2633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screens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3200400" y="263347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all-India classification, Punjab crop-burn season, Jharia coal-seam fires</a:t>
            </a:r>
            <a:endParaRPr lang="en-US" sz="750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11"/>
          <a:srcRect t="3086" b="-3086"/>
          <a:stretch/>
        </p:blipFill>
        <p:spPr>
          <a:xfrm>
            <a:off x="274320" y="2852928"/>
            <a:ext cx="2788920" cy="1481328"/>
          </a:xfrm>
          <a:prstGeom prst="rect">
            <a:avLst/>
          </a:prstGeom>
        </p:spPr>
      </p:pic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12"/>
          <a:srcRect t="3086" b="-3086"/>
          <a:stretch/>
        </p:blipFill>
        <p:spPr>
          <a:xfrm>
            <a:off x="3182112" y="2852928"/>
            <a:ext cx="2788920" cy="1481328"/>
          </a:xfrm>
          <a:prstGeom prst="rect">
            <a:avLst/>
          </a:prstGeom>
        </p:spPr>
      </p:pic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13"/>
          <a:srcRect t="3086" b="-3086"/>
          <a:stretch/>
        </p:blipFill>
        <p:spPr>
          <a:xfrm>
            <a:off x="6089904" y="2852928"/>
            <a:ext cx="2788920" cy="1481328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274320" y="4553712"/>
            <a:ext cx="859536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prototype: </a:t>
            </a:r>
            <a:r>
              <a:rPr lang="en-US" sz="800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https://rahulskandagal.github.io/thermal-sentinel/</a:t>
            </a: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Source code: </a:t>
            </a:r>
            <a:r>
              <a:rPr lang="en-US" sz="800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https://github.com/rahulskandagal/thermal-sentinel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1103</Words>
  <Application>Microsoft Office PowerPoint</Application>
  <PresentationFormat>On-screen Show (16:9)</PresentationFormat>
  <Paragraphs>204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Team Fire Orbit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SIH26162 ThermalSentinel - Team Fire Orbit</dc:title>
  <dc:subject>Smart India Hackathon 2026 idea submission (PS SIH26162, NTRO)</dc:subject>
  <dc:creator>Team Fire Orbit</dc:creator>
  <cp:keywords>SIH 2026; SIH26162; NTRO; thermal anomalies; NASA FIRMS</cp:keywords>
  <dc:description/>
  <cp:lastModifiedBy>Team Fire Orbit</cp:lastModifiedBy>
  <cp:revision>1</cp:revision>
  <dcterms:created xsi:type="dcterms:W3CDTF">2026-09-22T09:00:00Z</dcterms:created>
  <dcterms:modified xsi:type="dcterms:W3CDTF">2026-09-22T09:00:00Z</dcterms:modified>
</cp:coreProperties>
</file>